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ai-rd-plan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ai-rd-plan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8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9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0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1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2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3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4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5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6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_rels/slide17.xml.rels><?xml version="1.0" encoding="UTF-8" standalone="yes"?>
<Relationships xmlns="http://schemas.openxmlformats.org/package/2006/relationships">
  <Relationship Id="rId1"
                Type="http://schemas.openxmlformats.org/officeDocument/2006/relationships/slideLayout"
                Target="../slideLayouts/slideLayout7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382000" y="0"/>
            <a:ext cx="3810000" cy="685800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0" y="0"/>
                </a:moveTo>
                <a:lnTo>
                  <a:pt x="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0" y="1143000"/>
                </a:moveTo>
                <a:lnTo>
                  <a:pt x="3810000" y="1143000"/>
                </a:lnTo>
                <a:moveTo>
                  <a:pt x="0" y="2286000"/>
                </a:moveTo>
                <a:lnTo>
                  <a:pt x="3810000" y="2286000"/>
                </a:lnTo>
                <a:moveTo>
                  <a:pt x="0" y="3429000"/>
                </a:moveTo>
                <a:lnTo>
                  <a:pt x="3810000" y="3429000"/>
                </a:lnTo>
                <a:moveTo>
                  <a:pt x="0" y="4572000"/>
                </a:moveTo>
                <a:lnTo>
                  <a:pt x="3810000" y="4572000"/>
                </a:lnTo>
                <a:moveTo>
                  <a:pt x="0" y="5715000"/>
                </a:moveTo>
                <a:lnTo>
                  <a:pt x="3810000" y="5715000"/>
                </a:lnTo>
              </a:path>
            </a:pathLst>
          </a:custGeom>
          <a:noFill/>
          <a:ln w="9525">
            <a:solidFill>
              <a:srgbClr val="FFFFFF">
                <a:alpha val="5000"/>
              </a:srgb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8858250" y="476250"/>
            <a:ext cx="2857500" cy="2857500"/>
          </a:xfrm>
          <a:prstGeom prst="ellipse">
            <a:avLst/>
          </a:prstGeom>
          <a:noFill/>
          <a:ln w="14288">
            <a:solidFill>
              <a:srgbClr val="E8600A">
                <a:alpha val="35000"/>
              </a:srgbClr>
            </a:solidFill>
            <a:custDash>
              <a:ds d="400000" sp="400000"/>
            </a:custDash>
          </a:ln>
        </p:spPr>
      </p:sp>
      <p:sp>
        <p:nvSpPr>
          <p:cNvPr id="4" name="Ellipse 4"/>
          <p:cNvSpPr/>
          <p:nvPr/>
        </p:nvSpPr>
        <p:spPr>
          <a:xfrm>
            <a:off x="10220325" y="1838325"/>
            <a:ext cx="133350" cy="133350"/>
          </a:xfrm>
          <a:prstGeom prst="ellipse">
            <a:avLst/>
          </a:prstGeom>
          <a:solidFill>
            <a:srgbClr val="E8600A"/>
          </a:solidFill>
          <a:ln>
            <a:noFill/>
          </a:ln>
        </p:spPr>
      </p:sp>
      <p:grpSp>
        <p:nvGrpSpPr>
          <p:cNvPr id="10" name="Group 10"/>
          <p:cNvGrpSpPr/>
          <p:nvPr/>
        </p:nvGrpSpPr>
        <p:grpSpPr>
          <a:xfrm>
            <a:off x="914400" y="1829752"/>
            <a:ext cx="6354892" cy="2078832"/>
            <a:chOff x="914400" y="1829752"/>
            <a:chExt cx="6354892" cy="2078832"/>
          </a:xfrm>
        </p:grpSpPr>
        <p:sp>
          <p:nvSpPr>
            <p:cNvPr id="5" name="Rectangle 5"/>
            <p:cNvSpPr/>
            <p:nvPr/>
          </p:nvSpPr>
          <p:spPr>
            <a:xfrm>
              <a:off x="914400" y="2057400"/>
              <a:ext cx="57150" cy="9525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1156716" y="1829752"/>
              <a:ext cx="202900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spc="225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研发组织变革 · 方案汇报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1123950" y="2226945"/>
              <a:ext cx="5367726" cy="762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9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AI 辅助研发变革方案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152906" y="2967990"/>
              <a:ext cx="2683764" cy="35204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8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从三段接力，到人机共线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156335" y="3688556"/>
              <a:ext cx="611295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8FA1B8"/>
                  </a:solidFill>
                  <a:latin typeface="Microsoft YaHei"/>
                  <a:ea typeface="Microsoft YaHei"/>
                  <a:cs typeface="Microsoft YaHei"/>
                </a:rPr>
                <a:t>设计、开发、测试全流程 AI 产线建设，兼容 IPD 与车领域流程（ASPICE / ISO 26262）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43000" y="4629150"/>
            <a:ext cx="7277100" cy="1219200"/>
            <a:chOff x="1143000" y="4629150"/>
            <a:chExt cx="7277100" cy="1219200"/>
          </a:xfrm>
        </p:grpSpPr>
        <p:sp>
          <p:nvSpPr>
            <p:cNvPr id="11" name="Rectangle 11"/>
            <p:cNvSpPr/>
            <p:nvPr/>
          </p:nvSpPr>
          <p:spPr>
            <a:xfrm>
              <a:off x="1143000" y="4629150"/>
              <a:ext cx="2095500" cy="609600"/>
            </a:xfrm>
            <a:prstGeom prst="roundRect">
              <a:avLst>
                <a:gd name="adj" fmla="val 12500"/>
              </a:avLst>
            </a:prstGeom>
            <a:solidFill>
              <a:srgbClr val="FFFFFF">
                <a:alpha val="8000"/>
              </a:srgbClr>
            </a:solidFill>
            <a:ln w="9525">
              <a:solidFill>
                <a:srgbClr val="FFFFFF">
                  <a:alpha val="30000"/>
                </a:srgbClr>
              </a:solidFill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1947565" y="4755356"/>
              <a:ext cx="486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设计段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1696326" y="4989195"/>
              <a:ext cx="9888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9FB0C4"/>
                  </a:solidFill>
                  <a:latin typeface="Microsoft YaHei"/>
                  <a:ea typeface="Microsoft YaHei"/>
                  <a:cs typeface="Microsoft YaHei"/>
                </a:rPr>
                <a:t>IR → SR → AR 分解</a:t>
              </a:r>
            </a:p>
          </p:txBody>
        </p:sp>
        <p:sp>
          <p:nvSpPr>
            <p:cNvPr id="14" name="Line 14"/>
            <p:cNvSpPr/>
            <p:nvPr/>
          </p:nvSpPr>
          <p:spPr>
            <a:xfrm>
              <a:off x="3295650" y="493395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F08A3C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3562350" y="48768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</p:sp>
        <p:sp>
          <p:nvSpPr>
            <p:cNvPr id="16" name="Rectangle 16"/>
            <p:cNvSpPr/>
            <p:nvPr/>
          </p:nvSpPr>
          <p:spPr>
            <a:xfrm>
              <a:off x="3733800" y="4629150"/>
              <a:ext cx="2095500" cy="609600"/>
            </a:xfrm>
            <a:prstGeom prst="roundRect">
              <a:avLst>
                <a:gd name="adj" fmla="val 12500"/>
              </a:avLst>
            </a:prstGeom>
            <a:solidFill>
              <a:srgbClr val="FFFFFF">
                <a:alpha val="8000"/>
              </a:srgbClr>
            </a:solidFill>
            <a:ln w="9525">
              <a:solidFill>
                <a:srgbClr val="FFFFFF">
                  <a:alpha val="30000"/>
                </a:srgbClr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38365" y="4755356"/>
              <a:ext cx="486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开发段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273982" y="4989195"/>
              <a:ext cx="10151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9FB0C4"/>
                  </a:solidFill>
                  <a:latin typeface="Microsoft YaHei"/>
                  <a:ea typeface="Microsoft YaHei"/>
                  <a:cs typeface="Microsoft YaHei"/>
                </a:rPr>
                <a:t>规格 → 设计 → 代码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5886450" y="4933950"/>
              <a:ext cx="285750" cy="9525"/>
            </a:xfrm>
            <a:custGeom>
              <a:avLst/>
              <a:gdLst/>
              <a:ahLst/>
              <a:cxnLst/>
              <a:rect l="l" t="t" r="r" b="b"/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9050">
              <a:solidFill>
                <a:srgbClr val="F08A3C"/>
              </a:solidFill>
            </a:ln>
          </p:spPr>
        </p:sp>
        <p:sp>
          <p:nvSpPr>
            <p:cNvPr id="20" name="Polygon 20"/>
            <p:cNvSpPr/>
            <p:nvPr/>
          </p:nvSpPr>
          <p:spPr>
            <a:xfrm>
              <a:off x="6153150" y="4876800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114300" y="57150"/>
                  </a:moveTo>
                  <a:lnTo>
                    <a:pt x="0" y="0"/>
                  </a:lnTo>
                  <a:lnTo>
                    <a:pt x="0" y="114300"/>
                  </a:lnTo>
                  <a:close/>
                </a:path>
              </a:pathLst>
            </a:custGeom>
            <a:solidFill>
              <a:srgbClr val="F08A3C"/>
            </a:solidFill>
            <a:ln>
              <a:noFill/>
            </a:ln>
          </p:spPr>
        </p:sp>
        <p:sp>
          <p:nvSpPr>
            <p:cNvPr id="21" name="Rectangle 21"/>
            <p:cNvSpPr/>
            <p:nvPr/>
          </p:nvSpPr>
          <p:spPr>
            <a:xfrm>
              <a:off x="6324600" y="4629150"/>
              <a:ext cx="2095500" cy="609600"/>
            </a:xfrm>
            <a:prstGeom prst="roundRect">
              <a:avLst>
                <a:gd name="adj" fmla="val 12500"/>
              </a:avLst>
            </a:prstGeom>
            <a:solidFill>
              <a:srgbClr val="FFFFFF">
                <a:alpha val="8000"/>
              </a:srgbClr>
            </a:solidFill>
            <a:ln w="9525">
              <a:solidFill>
                <a:srgbClr val="FFFFFF">
                  <a:alpha val="30000"/>
                </a:srgbClr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7129165" y="4755356"/>
              <a:ext cx="486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测试段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6864782" y="4989195"/>
              <a:ext cx="10151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9FB0C4"/>
                  </a:solidFill>
                  <a:latin typeface="Microsoft YaHei"/>
                  <a:ea typeface="Microsoft YaHei"/>
                  <a:cs typeface="Microsoft YaHei"/>
                </a:rPr>
                <a:t>规格 → 用例 → 验收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1143000" y="5467350"/>
              <a:ext cx="7277100" cy="381000"/>
            </a:xfrm>
            <a:prstGeom prst="roundRect">
              <a:avLst>
                <a:gd name="adj" fmla="val 20000"/>
              </a:avLst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2813381" y="5592128"/>
              <a:ext cx="39363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知识底座：需求模式库 · 设计模式库 · 缺陷模式库 · 技能包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38238" y="6246495"/>
            <a:ext cx="5891746" cy="176212"/>
            <a:chOff x="1138238" y="6246495"/>
            <a:chExt cx="5891746" cy="176212"/>
          </a:xfrm>
        </p:grpSpPr>
        <p:sp>
          <p:nvSpPr>
            <p:cNvPr id="27" name="TextBox 27"/>
            <p:cNvSpPr txBox="1"/>
            <p:nvPr/>
          </p:nvSpPr>
          <p:spPr>
            <a:xfrm>
              <a:off x="1138238" y="6246495"/>
              <a:ext cx="589174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7A8BA0"/>
                  </a:solidFill>
                  <a:latin typeface="Microsoft YaHei"/>
                  <a:ea typeface="Microsoft YaHei"/>
                  <a:cs typeface="Microsoft YaHei"/>
                </a:rPr>
                <a:t>汇报对象：设计 / 开发 / 测试团队与管理层 · 2026.08 · 方案全文见 docs/ai-rd-transformation-plan.md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6493147" cy="638746"/>
            <a:chOff x="598551" y="504349"/>
            <a:chExt cx="6493147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037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01 · 现状诊断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6493147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钱花在哪儿，效率就漏在哪儿：四次翻译的损耗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609600" y="1428750"/>
            <a:ext cx="2571750" cy="2571750"/>
            <a:chOff x="609600" y="1428750"/>
            <a:chExt cx="2571750" cy="257175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2571750" cy="2571750"/>
            </a:xfrm>
            <a:prstGeom prst="roundRect">
              <a:avLst>
                <a:gd name="adj" fmla="val 3704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800100" y="161925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F8E9E7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956955" y="1674495"/>
              <a:ext cx="3720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断点 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93623" y="2015014"/>
              <a:ext cx="1045275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IR → SR 分解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95338" y="23302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现象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95147" y="2504599"/>
              <a:ext cx="1466088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分解逻辑存在 SE 脑子里，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说明书只写结论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800100" y="31432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95338" y="32827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代价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95147" y="3457099"/>
              <a:ext cx="1640332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下游看不到"为什么这么分"，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变更影响靠人肉分析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3409950" y="1428750"/>
            <a:ext cx="2571750" cy="2571750"/>
            <a:chOff x="3409950" y="1428750"/>
            <a:chExt cx="2571750" cy="2571750"/>
          </a:xfrm>
        </p:grpSpPr>
        <p:sp>
          <p:nvSpPr>
            <p:cNvPr id="16" name="Rectangle 16"/>
            <p:cNvSpPr/>
            <p:nvPr/>
          </p:nvSpPr>
          <p:spPr>
            <a:xfrm>
              <a:off x="3409950" y="1428750"/>
              <a:ext cx="2571750" cy="2571750"/>
            </a:xfrm>
            <a:prstGeom prst="roundRect">
              <a:avLst>
                <a:gd name="adj" fmla="val 3704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3600450" y="161925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F8E9E7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3757305" y="1674495"/>
              <a:ext cx="3720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断点 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3593973" y="2015014"/>
              <a:ext cx="1093068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SR → AR 分解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3595688" y="23302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现象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595497" y="2504599"/>
              <a:ext cx="1752346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说明书面向人读，接口、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状态机、异常路径散落在文字里</a:t>
              </a:r>
            </a:p>
          </p:txBody>
        </p:sp>
        <p:sp>
          <p:nvSpPr>
            <p:cNvPr id="22" name="Line 22"/>
            <p:cNvSpPr/>
            <p:nvPr/>
          </p:nvSpPr>
          <p:spPr>
            <a:xfrm>
              <a:off x="3600450" y="31432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3595688" y="32827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代价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3595497" y="3457099"/>
              <a:ext cx="1130046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开发二次提取契约，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提错、提全是常态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210300" y="1428750"/>
            <a:ext cx="2571750" cy="2571750"/>
            <a:chOff x="6210300" y="1428750"/>
            <a:chExt cx="2571750" cy="2571750"/>
          </a:xfrm>
        </p:grpSpPr>
        <p:sp>
          <p:nvSpPr>
            <p:cNvPr id="26" name="Rectangle 26"/>
            <p:cNvSpPr/>
            <p:nvPr/>
          </p:nvSpPr>
          <p:spPr>
            <a:xfrm>
              <a:off x="6210300" y="1428750"/>
              <a:ext cx="2571750" cy="2571750"/>
            </a:xfrm>
            <a:prstGeom prst="roundRect">
              <a:avLst>
                <a:gd name="adj" fmla="val 3704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6400800" y="161925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F8E9E7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557655" y="1674495"/>
              <a:ext cx="3720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断点 3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394323" y="2015014"/>
              <a:ext cx="12077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SE → 开发串讲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396038" y="23302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现象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395847" y="2504599"/>
              <a:ext cx="1553210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两小时会议覆盖几十个 AR，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听懂多少凭个人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6400800" y="31432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6396038" y="32827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代价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6395847" y="3457099"/>
              <a:ext cx="1378966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理解偏差到联调才暴露，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返工成本高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9010650" y="1428750"/>
            <a:ext cx="2571750" cy="2571750"/>
            <a:chOff x="9010650" y="1428750"/>
            <a:chExt cx="2571750" cy="2571750"/>
          </a:xfrm>
        </p:grpSpPr>
        <p:sp>
          <p:nvSpPr>
            <p:cNvPr id="36" name="Rectangle 36"/>
            <p:cNvSpPr/>
            <p:nvPr/>
          </p:nvSpPr>
          <p:spPr>
            <a:xfrm>
              <a:off x="9010650" y="1428750"/>
              <a:ext cx="2571750" cy="2571750"/>
            </a:xfrm>
            <a:prstGeom prst="roundRect">
              <a:avLst>
                <a:gd name="adj" fmla="val 3704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9201150" y="1619250"/>
              <a:ext cx="685800" cy="228600"/>
            </a:xfrm>
            <a:prstGeom prst="roundRect">
              <a:avLst>
                <a:gd name="adj" fmla="val 50000"/>
              </a:avLst>
            </a:prstGeom>
            <a:solidFill>
              <a:srgbClr val="F8E9E7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9358005" y="1674495"/>
              <a:ext cx="3720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断点 4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9194673" y="2015014"/>
              <a:ext cx="1207770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SE → 测试串讲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9196388" y="23302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现象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9196197" y="2504599"/>
              <a:ext cx="1005586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测试对需求的理解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滞后开发一个身位</a:t>
              </a:r>
            </a:p>
          </p:txBody>
        </p:sp>
        <p:sp>
          <p:nvSpPr>
            <p:cNvPr id="42" name="Line 42"/>
            <p:cNvSpPr/>
            <p:nvPr/>
          </p:nvSpPr>
          <p:spPr>
            <a:xfrm>
              <a:off x="9201150" y="3143250"/>
              <a:ext cx="2190750" cy="9525"/>
            </a:xfrm>
            <a:custGeom>
              <a:avLst/>
              <a:gdLst/>
              <a:ahLst/>
              <a:cxnLst/>
              <a:rect l="l" t="t" r="r" b="b"/>
              <a:pathLst>
                <a:path w="2190750" h="9525">
                  <a:moveTo>
                    <a:pt x="0" y="0"/>
                  </a:moveTo>
                  <a:lnTo>
                    <a:pt x="219075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196388" y="32827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代价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9196197" y="3457099"/>
              <a:ext cx="1254506" cy="381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500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验收标准晚期才明确，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问题发现已是晚期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9600" y="4286250"/>
            <a:ext cx="10972800" cy="1238250"/>
            <a:chOff x="609600" y="4286250"/>
            <a:chExt cx="10972800" cy="1238250"/>
          </a:xfrm>
        </p:grpSpPr>
        <p:sp>
          <p:nvSpPr>
            <p:cNvPr id="46" name="Rectangle 46"/>
            <p:cNvSpPr/>
            <p:nvPr/>
          </p:nvSpPr>
          <p:spPr>
            <a:xfrm>
              <a:off x="609600" y="4286250"/>
              <a:ext cx="10972800" cy="1238250"/>
            </a:xfrm>
            <a:prstGeom prst="roundRect">
              <a:avLst>
                <a:gd name="adj" fmla="val 7692"/>
              </a:avLst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909447" y="4504849"/>
              <a:ext cx="5640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隐性断点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908685" y="4774406"/>
              <a:ext cx="498698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评审意见、问题单根因、串讲问答，留在邮件、会议纪要和个人的脑子里，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908685" y="5022056"/>
              <a:ext cx="19111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下一个项目，再从零开始。</a:t>
              </a:r>
            </a:p>
          </p:txBody>
        </p:sp>
        <p:sp>
          <p:nvSpPr>
            <p:cNvPr id="50" name="Line 50"/>
            <p:cNvSpPr/>
            <p:nvPr/>
          </p:nvSpPr>
          <p:spPr>
            <a:xfrm>
              <a:off x="7620000" y="4514850"/>
              <a:ext cx="9525" cy="781050"/>
            </a:xfrm>
            <a:custGeom>
              <a:avLst/>
              <a:gdLst/>
              <a:ahLst/>
              <a:cxnLst/>
              <a:rect l="l" t="t" r="r" b="b"/>
              <a:pathLst>
                <a:path w="9525" h="781050">
                  <a:moveTo>
                    <a:pt x="0" y="0"/>
                  </a:moveTo>
                  <a:lnTo>
                    <a:pt x="0" y="781050"/>
                  </a:lnTo>
                </a:path>
              </a:pathLst>
            </a:custGeom>
            <a:noFill/>
            <a:ln w="9525">
              <a:solidFill>
                <a:srgbClr val="FFFFFF">
                  <a:alpha val="25000"/>
                </a:srgbClr>
              </a:solidFill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7919847" y="4523899"/>
              <a:ext cx="2443099" cy="6478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变革的靶心：把四次翻译交给机器可读的</a:t>
              </a:r>
              <a:br/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工件与 AI 产线，把人从"传话"里解放出来，</a:t>
              </a:r>
              <a:br/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去做机器做不了的判断。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53" name="TextBox 53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02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7109437" cy="638746"/>
            <a:chOff x="598551" y="504349"/>
            <a:chExt cx="7109437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037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02 · 总体框架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7109437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一条产线、两类工件、三个闭环，知识底座贯穿其中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6" name="Group 16"/>
          <p:cNvGrpSpPr/>
          <p:nvPr/>
        </p:nvGrpSpPr>
        <p:grpSpPr>
          <a:xfrm>
            <a:off x="609600" y="1428750"/>
            <a:ext cx="3238500" cy="1809750"/>
            <a:chOff x="609600" y="1428750"/>
            <a:chExt cx="3238500" cy="180975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3238500" cy="1809750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93623" y="1595914"/>
              <a:ext cx="555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设计段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800100" y="188595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766430" y="1969770"/>
              <a:ext cx="9248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IR 结构化与澄清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800100" y="220980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590408" y="2293620"/>
              <a:ext cx="127688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IR→SR 需求分析（R1）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800100" y="253365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1574406" y="2617470"/>
              <a:ext cx="130888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SR→AR 功能设计（R2）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00100" y="285750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739456" y="2941320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追溯矩阵自动生成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3886200" y="2286000"/>
            <a:ext cx="552450" cy="95250"/>
            <a:chOff x="3886200" y="2286000"/>
            <a:chExt cx="552450" cy="95250"/>
          </a:xfrm>
        </p:grpSpPr>
        <p:sp>
          <p:nvSpPr>
            <p:cNvPr id="17" name="Line 17"/>
            <p:cNvSpPr/>
            <p:nvPr/>
          </p:nvSpPr>
          <p:spPr>
            <a:xfrm>
              <a:off x="3886200" y="233362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rgbClr val="6B7484"/>
              </a:solidFill>
            </a:ln>
          </p:spPr>
        </p:sp>
        <p:sp>
          <p:nvSpPr>
            <p:cNvPr id="18" name="Polygon 18"/>
            <p:cNvSpPr/>
            <p:nvPr/>
          </p:nvSpPr>
          <p:spPr>
            <a:xfrm>
              <a:off x="4343400" y="22860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</p:grpSp>
      <p:grpSp>
        <p:nvGrpSpPr>
          <p:cNvPr id="30" name="Group 30"/>
          <p:cNvGrpSpPr/>
          <p:nvPr/>
        </p:nvGrpSpPr>
        <p:grpSpPr>
          <a:xfrm>
            <a:off x="4476750" y="1428750"/>
            <a:ext cx="3238500" cy="1809750"/>
            <a:chOff x="4476750" y="1428750"/>
            <a:chExt cx="3238500" cy="1809750"/>
          </a:xfrm>
        </p:grpSpPr>
        <p:sp>
          <p:nvSpPr>
            <p:cNvPr id="20" name="Rectangle 20"/>
            <p:cNvSpPr/>
            <p:nvPr/>
          </p:nvSpPr>
          <p:spPr>
            <a:xfrm>
              <a:off x="4476750" y="1428750"/>
              <a:ext cx="3238500" cy="1809750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660773" y="1595914"/>
              <a:ext cx="555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开发段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4667250" y="188595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5281536" y="1969770"/>
              <a:ext cx="16289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AR 规格化（S1 · 新增阀门）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4667250" y="220980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5636781" y="2293620"/>
              <a:ext cx="9184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实现设计（R3）</a:t>
              </a:r>
            </a:p>
          </p:txBody>
        </p:sp>
        <p:sp>
          <p:nvSpPr>
            <p:cNvPr id="26" name="Rectangle 26"/>
            <p:cNvSpPr/>
            <p:nvPr/>
          </p:nvSpPr>
          <p:spPr>
            <a:xfrm>
              <a:off x="4667250" y="253365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5585574" y="2617470"/>
              <a:ext cx="102085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编码 + UT（TDD）</a:t>
              </a:r>
            </a:p>
          </p:txBody>
        </p:sp>
        <p:sp>
          <p:nvSpPr>
            <p:cNvPr id="28" name="Rectangle 28"/>
            <p:cNvSpPr/>
            <p:nvPr/>
          </p:nvSpPr>
          <p:spPr>
            <a:xfrm>
              <a:off x="4667250" y="285750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5466045" y="2941320"/>
              <a:ext cx="12599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评审合入（R4 + DoD）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7753350" y="2286000"/>
            <a:ext cx="552450" cy="95250"/>
            <a:chOff x="7753350" y="2286000"/>
            <a:chExt cx="552450" cy="95250"/>
          </a:xfrm>
        </p:grpSpPr>
        <p:sp>
          <p:nvSpPr>
            <p:cNvPr id="31" name="Line 31"/>
            <p:cNvSpPr/>
            <p:nvPr/>
          </p:nvSpPr>
          <p:spPr>
            <a:xfrm>
              <a:off x="7753350" y="2333625"/>
              <a:ext cx="457200" cy="9525"/>
            </a:xfrm>
            <a:custGeom>
              <a:avLst/>
              <a:gdLst/>
              <a:ahLst/>
              <a:cxnLst/>
              <a:rect l="l" t="t" r="r" b="b"/>
              <a:pathLst>
                <a:path w="457200" h="9525">
                  <a:moveTo>
                    <a:pt x="0" y="0"/>
                  </a:moveTo>
                  <a:lnTo>
                    <a:pt x="457200" y="0"/>
                  </a:lnTo>
                </a:path>
              </a:pathLst>
            </a:custGeom>
            <a:noFill/>
            <a:ln w="19050">
              <a:solidFill>
                <a:srgbClr val="6B7484"/>
              </a:solidFill>
            </a:ln>
          </p:spPr>
        </p:sp>
        <p:sp>
          <p:nvSpPr>
            <p:cNvPr id="32" name="Polygon 32"/>
            <p:cNvSpPr/>
            <p:nvPr/>
          </p:nvSpPr>
          <p:spPr>
            <a:xfrm>
              <a:off x="8210550" y="228600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</p:grpSp>
      <p:grpSp>
        <p:nvGrpSpPr>
          <p:cNvPr id="44" name="Group 44"/>
          <p:cNvGrpSpPr/>
          <p:nvPr/>
        </p:nvGrpSpPr>
        <p:grpSpPr>
          <a:xfrm>
            <a:off x="8343900" y="1428750"/>
            <a:ext cx="3238500" cy="1809750"/>
            <a:chOff x="8343900" y="1428750"/>
            <a:chExt cx="3238500" cy="1809750"/>
          </a:xfrm>
        </p:grpSpPr>
        <p:sp>
          <p:nvSpPr>
            <p:cNvPr id="34" name="Rectangle 34"/>
            <p:cNvSpPr/>
            <p:nvPr/>
          </p:nvSpPr>
          <p:spPr>
            <a:xfrm>
              <a:off x="8343900" y="1428750"/>
              <a:ext cx="3238500" cy="1809750"/>
            </a:xfrm>
            <a:prstGeom prst="roundRect">
              <a:avLst>
                <a:gd name="adj" fmla="val 526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527923" y="1595914"/>
              <a:ext cx="555742" cy="24936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80" b="1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测试段</a:t>
              </a:r>
            </a:p>
          </p:txBody>
        </p:sp>
        <p:sp>
          <p:nvSpPr>
            <p:cNvPr id="36" name="Rectangle 36"/>
            <p:cNvSpPr/>
            <p:nvPr/>
          </p:nvSpPr>
          <p:spPr>
            <a:xfrm>
              <a:off x="8534400" y="188595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E4F0E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9503931" y="1969770"/>
              <a:ext cx="91843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测试规格（T1）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8534400" y="220980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E4F0EC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9473756" y="2293620"/>
              <a:ext cx="9787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用例与自动化脚本</a:t>
              </a:r>
            </a:p>
          </p:txBody>
        </p:sp>
        <p:sp>
          <p:nvSpPr>
            <p:cNvPr id="40" name="Rectangle 40"/>
            <p:cNvSpPr/>
            <p:nvPr/>
          </p:nvSpPr>
          <p:spPr>
            <a:xfrm>
              <a:off x="8534400" y="253365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E4F0EC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9311907" y="2617470"/>
              <a:ext cx="130248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执行与失败分诊（T2）</a:t>
              </a:r>
            </a:p>
          </p:txBody>
        </p:sp>
        <p:sp>
          <p:nvSpPr>
            <p:cNvPr id="42" name="Rectangle 42"/>
            <p:cNvSpPr/>
            <p:nvPr/>
          </p:nvSpPr>
          <p:spPr>
            <a:xfrm>
              <a:off x="8534400" y="2857500"/>
              <a:ext cx="2857500" cy="266700"/>
            </a:xfrm>
            <a:prstGeom prst="roundRect">
              <a:avLst>
                <a:gd name="adj" fmla="val 21429"/>
              </a:avLst>
            </a:prstGeom>
            <a:solidFill>
              <a:srgbClr val="E4F0E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9414320" y="2941320"/>
              <a:ext cx="109766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SR 验收签认（G7）</a:t>
              </a:r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2800350" y="3314700"/>
            <a:ext cx="728155" cy="457200"/>
            <a:chOff x="2800350" y="3314700"/>
            <a:chExt cx="728155" cy="457200"/>
          </a:xfrm>
        </p:grpSpPr>
        <p:sp>
          <p:nvSpPr>
            <p:cNvPr id="45" name="Line 45"/>
            <p:cNvSpPr/>
            <p:nvPr/>
          </p:nvSpPr>
          <p:spPr>
            <a:xfrm>
              <a:off x="2857500" y="3314700"/>
              <a:ext cx="9525" cy="342900"/>
            </a:xfrm>
            <a:custGeom>
              <a:avLst/>
              <a:gdLst/>
              <a:ahLst/>
              <a:cxnLst/>
              <a:rect l="l" t="t" r="r" b="b"/>
              <a:pathLst>
                <a:path w="9525" h="342900">
                  <a:moveTo>
                    <a:pt x="0" y="0"/>
                  </a:moveTo>
                  <a:lnTo>
                    <a:pt x="0" y="342900"/>
                  </a:lnTo>
                </a:path>
              </a:pathLst>
            </a:custGeom>
            <a:noFill/>
            <a:ln w="19050">
              <a:solidFill>
                <a:srgbClr val="2E7D6B"/>
              </a:solidFill>
            </a:ln>
          </p:spPr>
        </p:sp>
        <p:sp>
          <p:nvSpPr>
            <p:cNvPr id="46" name="Polygon 46"/>
            <p:cNvSpPr/>
            <p:nvPr/>
          </p:nvSpPr>
          <p:spPr>
            <a:xfrm>
              <a:off x="2800350" y="36385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57150" y="133350"/>
                  </a:moveTo>
                  <a:lnTo>
                    <a:pt x="0" y="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2E7D6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2967038" y="3473291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供给上下文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8301038" y="3295650"/>
            <a:ext cx="1090612" cy="438150"/>
            <a:chOff x="8301038" y="3295650"/>
            <a:chExt cx="1090612" cy="438150"/>
          </a:xfrm>
        </p:grpSpPr>
        <p:sp>
          <p:nvSpPr>
            <p:cNvPr id="49" name="Line 49"/>
            <p:cNvSpPr/>
            <p:nvPr/>
          </p:nvSpPr>
          <p:spPr>
            <a:xfrm>
              <a:off x="9334500" y="3429000"/>
              <a:ext cx="9525" cy="304800"/>
            </a:xfrm>
            <a:custGeom>
              <a:avLst/>
              <a:gdLst/>
              <a:ahLst/>
              <a:cxnLst/>
              <a:rect l="l" t="t" r="r" b="b"/>
              <a:pathLst>
                <a:path w="9525" h="304800">
                  <a:moveTo>
                    <a:pt x="0" y="304800"/>
                  </a:moveTo>
                  <a:lnTo>
                    <a:pt x="0" y="0"/>
                  </a:lnTo>
                </a:path>
              </a:pathLst>
            </a:custGeom>
            <a:noFill/>
            <a:ln w="19050">
              <a:solidFill>
                <a:srgbClr val="B3392E"/>
              </a:solidFill>
            </a:ln>
          </p:spPr>
        </p:sp>
        <p:sp>
          <p:nvSpPr>
            <p:cNvPr id="50" name="Polygon 50"/>
            <p:cNvSpPr/>
            <p:nvPr/>
          </p:nvSpPr>
          <p:spPr>
            <a:xfrm>
              <a:off x="9277350" y="3295650"/>
              <a:ext cx="114300" cy="133350"/>
            </a:xfrm>
            <a:custGeom>
              <a:avLst/>
              <a:gdLst/>
              <a:ahLst/>
              <a:cxnLst/>
              <a:rect l="l" t="t" r="r" b="b"/>
              <a:pathLst>
                <a:path w="114300" h="133350">
                  <a:moveTo>
                    <a:pt x="57150" y="0"/>
                  </a:moveTo>
                  <a:lnTo>
                    <a:pt x="0" y="133350"/>
                  </a:lnTo>
                  <a:lnTo>
                    <a:pt x="114300" y="133350"/>
                  </a:lnTo>
                  <a:close/>
                </a:path>
              </a:pathLst>
            </a:custGeom>
            <a:solidFill>
              <a:srgbClr val="B3392E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8301038" y="34732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经验回流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09600" y="3810000"/>
            <a:ext cx="10972800" cy="571500"/>
            <a:chOff x="609600" y="3810000"/>
            <a:chExt cx="10972800" cy="571500"/>
          </a:xfrm>
        </p:grpSpPr>
        <p:sp>
          <p:nvSpPr>
            <p:cNvPr id="53" name="Rectangle 53"/>
            <p:cNvSpPr/>
            <p:nvPr/>
          </p:nvSpPr>
          <p:spPr>
            <a:xfrm>
              <a:off x="609600" y="3810000"/>
              <a:ext cx="10972800" cy="571500"/>
            </a:xfrm>
            <a:prstGeom prst="roundRect">
              <a:avLst>
                <a:gd name="adj" fmla="val 16667"/>
              </a:avLst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2706342" y="4031456"/>
              <a:ext cx="67793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知识底座：需求模式库 · 设计模式库 · 缺陷模式库 · 技能包（流程技能 / 编码规范 / 领域红线）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604647" y="4581049"/>
            <a:ext cx="4251378" cy="190690"/>
            <a:chOff x="604647" y="4581049"/>
            <a:chExt cx="4251378" cy="190690"/>
          </a:xfrm>
        </p:grpSpPr>
        <p:sp>
          <p:nvSpPr>
            <p:cNvPr id="56" name="TextBox 56"/>
            <p:cNvSpPr txBox="1"/>
            <p:nvPr/>
          </p:nvSpPr>
          <p:spPr>
            <a:xfrm>
              <a:off x="604647" y="4581049"/>
              <a:ext cx="425137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三条主线同时建设，缺一不可；知识线（飞轮）贯穿其中，详见第 4 节。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09600" y="4819650"/>
            <a:ext cx="3505200" cy="1238250"/>
            <a:chOff x="609600" y="4819650"/>
            <a:chExt cx="3505200" cy="1238250"/>
          </a:xfrm>
        </p:grpSpPr>
        <p:sp>
          <p:nvSpPr>
            <p:cNvPr id="58" name="Rectangle 58"/>
            <p:cNvSpPr/>
            <p:nvPr/>
          </p:nvSpPr>
          <p:spPr>
            <a:xfrm>
              <a:off x="609600" y="4819650"/>
              <a:ext cx="3505200" cy="1238250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59" name="Rectangle 59"/>
            <p:cNvSpPr/>
            <p:nvPr/>
          </p:nvSpPr>
          <p:spPr>
            <a:xfrm>
              <a:off x="609600" y="4819650"/>
              <a:ext cx="47625" cy="123825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832485" y="5003006"/>
              <a:ext cx="123253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流程线 · AI 产线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833438" y="5274945"/>
              <a:ext cx="1741170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每个节点定义清楚：AI 做什么、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人审什么、门禁是什么（第 2 节）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4343400" y="4819650"/>
            <a:ext cx="3505200" cy="1238250"/>
            <a:chOff x="4343400" y="4819650"/>
            <a:chExt cx="3505200" cy="1238250"/>
          </a:xfrm>
        </p:grpSpPr>
        <p:sp>
          <p:nvSpPr>
            <p:cNvPr id="63" name="Rectangle 63"/>
            <p:cNvSpPr/>
            <p:nvPr/>
          </p:nvSpPr>
          <p:spPr>
            <a:xfrm>
              <a:off x="4343400" y="4819650"/>
              <a:ext cx="3505200" cy="1238250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64" name="Rectangle 64"/>
            <p:cNvSpPr/>
            <p:nvPr/>
          </p:nvSpPr>
          <p:spPr>
            <a:xfrm>
              <a:off x="4343400" y="4819650"/>
              <a:ext cx="47625" cy="123825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65" name="TextBox 65"/>
            <p:cNvSpPr txBox="1"/>
            <p:nvPr/>
          </p:nvSpPr>
          <p:spPr>
            <a:xfrm>
              <a:off x="4566285" y="5003006"/>
              <a:ext cx="1618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文档线 · 人机共读工件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4567238" y="5274945"/>
              <a:ext cx="1609725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结构化、机器可校验、可追溯、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可检索（第 3 节）</a:t>
              </a:r>
            </a:p>
          </p:txBody>
        </p:sp>
      </p:grpSp>
      <p:grpSp>
        <p:nvGrpSpPr>
          <p:cNvPr id="72" name="Group 72"/>
          <p:cNvGrpSpPr/>
          <p:nvPr/>
        </p:nvGrpSpPr>
        <p:grpSpPr>
          <a:xfrm>
            <a:off x="8077200" y="4819650"/>
            <a:ext cx="3505200" cy="1238250"/>
            <a:chOff x="8077200" y="4819650"/>
            <a:chExt cx="3505200" cy="1238250"/>
          </a:xfrm>
        </p:grpSpPr>
        <p:sp>
          <p:nvSpPr>
            <p:cNvPr id="68" name="Rectangle 68"/>
            <p:cNvSpPr/>
            <p:nvPr/>
          </p:nvSpPr>
          <p:spPr>
            <a:xfrm>
              <a:off x="8077200" y="4819650"/>
              <a:ext cx="3505200" cy="1238250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69" name="Rectangle 69"/>
            <p:cNvSpPr/>
            <p:nvPr/>
          </p:nvSpPr>
          <p:spPr>
            <a:xfrm>
              <a:off x="8077200" y="4819650"/>
              <a:ext cx="47625" cy="1238250"/>
            </a:xfrm>
            <a:prstGeom prst="rect">
              <a:avLst/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70" name="TextBox 70"/>
            <p:cNvSpPr txBox="1"/>
            <p:nvPr/>
          </p:nvSpPr>
          <p:spPr>
            <a:xfrm>
              <a:off x="8300085" y="5003006"/>
              <a:ext cx="1459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组织线 · 交付小分队</a:t>
              </a:r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8301038" y="5274945"/>
              <a:ext cx="1283970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三条主线跑在重新设计的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交付小分队上（第 5 节）</a:t>
              </a:r>
            </a:p>
          </p:txBody>
        </p:sp>
      </p:grpSp>
      <p:grpSp>
        <p:nvGrpSpPr>
          <p:cNvPr id="75" name="Group 75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73" name="TextBox 73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74" name="TextBox 74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03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6257096" cy="638746"/>
            <a:chOff x="598551" y="504349"/>
            <a:chExt cx="6257096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35465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03 · 任务分级模型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6257096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先分级，再谈自动化：AI 做什么，人审什么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5" name="Group 15"/>
          <p:cNvGrpSpPr/>
          <p:nvPr/>
        </p:nvGrpSpPr>
        <p:grpSpPr>
          <a:xfrm>
            <a:off x="604647" y="1428750"/>
            <a:ext cx="7129653" cy="285750"/>
            <a:chOff x="604647" y="1428750"/>
            <a:chExt cx="7129653" cy="285750"/>
          </a:xfrm>
        </p:grpSpPr>
        <p:sp>
          <p:nvSpPr>
            <p:cNvPr id="6" name="TextBox 6"/>
            <p:cNvSpPr txBox="1"/>
            <p:nvPr/>
          </p:nvSpPr>
          <p:spPr>
            <a:xfrm>
              <a:off x="604647" y="1504474"/>
              <a:ext cx="7025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定级四维度</a:t>
              </a:r>
            </a:p>
          </p:txBody>
        </p:sp>
        <p:sp>
          <p:nvSpPr>
            <p:cNvPr id="7" name="Rectangle 7"/>
            <p:cNvSpPr/>
            <p:nvPr/>
          </p:nvSpPr>
          <p:spPr>
            <a:xfrm>
              <a:off x="1619250" y="1428750"/>
              <a:ext cx="1428750" cy="2857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932889" y="151399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产出可验证性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3181350" y="1428750"/>
              <a:ext cx="1428750" cy="2857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3494989" y="151399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出错风险等级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4743450" y="1428750"/>
              <a:ext cx="1428750" cy="2857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5057089" y="151399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有无先例模式</a:t>
              </a:r>
            </a:p>
          </p:txBody>
        </p:sp>
        <p:sp>
          <p:nvSpPr>
            <p:cNvPr id="13" name="Rectangle 13"/>
            <p:cNvSpPr/>
            <p:nvPr/>
          </p:nvSpPr>
          <p:spPr>
            <a:xfrm>
              <a:off x="6305550" y="1428750"/>
              <a:ext cx="1428750" cy="2857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6619189" y="1513999"/>
              <a:ext cx="80147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出错谁担责任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609600" y="1962150"/>
            <a:ext cx="3505200" cy="2460307"/>
            <a:chOff x="609600" y="1962150"/>
            <a:chExt cx="3505200" cy="2460307"/>
          </a:xfrm>
        </p:grpSpPr>
        <p:sp>
          <p:nvSpPr>
            <p:cNvPr id="16" name="Rectangle 16"/>
            <p:cNvSpPr/>
            <p:nvPr/>
          </p:nvSpPr>
          <p:spPr>
            <a:xfrm>
              <a:off x="609600" y="1962150"/>
              <a:ext cx="3505200" cy="2419350"/>
            </a:xfrm>
            <a:prstGeom prst="roundRect">
              <a:avLst>
                <a:gd name="adj" fmla="val 3937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17" name="Rectangle 17"/>
            <p:cNvSpPr/>
            <p:nvPr/>
          </p:nvSpPr>
          <p:spPr>
            <a:xfrm>
              <a:off x="609600" y="1962150"/>
              <a:ext cx="3505200" cy="438150"/>
            </a:xfrm>
            <a:prstGeom prst="roundRect">
              <a:avLst>
                <a:gd name="adj" fmla="val 21739"/>
              </a:avLst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794004" y="2118360"/>
              <a:ext cx="1338438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L1 · AI 自主执行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795338" y="25969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定义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795147" y="2771299"/>
              <a:ext cx="1254506" cy="371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25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机器可验证、风险低，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有自动校验兜底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795338" y="326374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人的位置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795147" y="343804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事后抽检、看度量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795338" y="37399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典型任务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795338" y="3922395"/>
              <a:ext cx="1512570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追溯矩阵生成 · 文档合规检查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UT 生成与执行 · 回归执行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测试报告 · 问题单初判分诊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4343400" y="1962150"/>
            <a:ext cx="3505200" cy="2460307"/>
            <a:chOff x="4343400" y="1962150"/>
            <a:chExt cx="3505200" cy="2460307"/>
          </a:xfrm>
        </p:grpSpPr>
        <p:sp>
          <p:nvSpPr>
            <p:cNvPr id="26" name="Rectangle 26"/>
            <p:cNvSpPr/>
            <p:nvPr/>
          </p:nvSpPr>
          <p:spPr>
            <a:xfrm>
              <a:off x="4343400" y="1962150"/>
              <a:ext cx="3505200" cy="2419350"/>
            </a:xfrm>
            <a:prstGeom prst="roundRect">
              <a:avLst>
                <a:gd name="adj" fmla="val 3937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7" name="Rectangle 27"/>
            <p:cNvSpPr/>
            <p:nvPr/>
          </p:nvSpPr>
          <p:spPr>
            <a:xfrm>
              <a:off x="4343400" y="1962150"/>
              <a:ext cx="3505200" cy="438150"/>
            </a:xfrm>
            <a:prstGeom prst="roundRect">
              <a:avLst>
                <a:gd name="adj" fmla="val 21739"/>
              </a:avLst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527804" y="2118360"/>
              <a:ext cx="1132332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L2 · 人机协同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29138" y="25969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定义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4528947" y="2771299"/>
              <a:ext cx="1167384" cy="371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25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起草 + 人评审修订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+ 人裁决放行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4529138" y="326374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人的位置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4528947" y="3438049"/>
              <a:ext cx="106532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人在环，逐件评审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29138" y="37399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典型任务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29138" y="3922395"/>
              <a:ext cx="1644015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需求分解（IR→SR→AR）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功能设计 · 实现设计 · 代码实现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测试规格 · 用例设计 · 根因分析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077200" y="1962150"/>
            <a:ext cx="3505200" cy="2460307"/>
            <a:chOff x="8077200" y="1962150"/>
            <a:chExt cx="3505200" cy="2460307"/>
          </a:xfrm>
        </p:grpSpPr>
        <p:sp>
          <p:nvSpPr>
            <p:cNvPr id="36" name="Rectangle 36"/>
            <p:cNvSpPr/>
            <p:nvPr/>
          </p:nvSpPr>
          <p:spPr>
            <a:xfrm>
              <a:off x="8077200" y="1962150"/>
              <a:ext cx="3505200" cy="2419350"/>
            </a:xfrm>
            <a:prstGeom prst="roundRect">
              <a:avLst>
                <a:gd name="adj" fmla="val 3937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7" name="Rectangle 37"/>
            <p:cNvSpPr/>
            <p:nvPr/>
          </p:nvSpPr>
          <p:spPr>
            <a:xfrm>
              <a:off x="8077200" y="1962150"/>
              <a:ext cx="3505200" cy="438150"/>
            </a:xfrm>
            <a:prstGeom prst="roundRect">
              <a:avLst>
                <a:gd name="adj" fmla="val 21739"/>
              </a:avLst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261604" y="2118360"/>
              <a:ext cx="95311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L3 · 人主导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262938" y="25969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定义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8262747" y="2771299"/>
              <a:ext cx="1005586" cy="37166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425"/>
                </a:lnSpc>
              </a:pPr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判断本身即责任，</a:t>
              </a:r>
              <a:br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只做信息支持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262938" y="326374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人的位置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62747" y="3438049"/>
              <a:ext cx="198234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人决策，AI 提供选项与影响分析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62938" y="3739991"/>
              <a:ext cx="4510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典型任务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262938" y="3922395"/>
              <a:ext cx="1638300" cy="5000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275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需求优先级 · 架构关键决策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ASIL / 安全相关裁决 · 基线变更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SR 验收签认 · 冲突仲裁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4667250"/>
            <a:ext cx="5372100" cy="1181100"/>
            <a:chOff x="609600" y="4667250"/>
            <a:chExt cx="5372100" cy="1181100"/>
          </a:xfrm>
        </p:grpSpPr>
        <p:sp>
          <p:nvSpPr>
            <p:cNvPr id="46" name="Rectangle 46"/>
            <p:cNvSpPr/>
            <p:nvPr/>
          </p:nvSpPr>
          <p:spPr>
            <a:xfrm>
              <a:off x="609600" y="4667250"/>
              <a:ext cx="5372100" cy="1181100"/>
            </a:xfrm>
            <a:prstGeom prst="roundRect">
              <a:avLst>
                <a:gd name="adj" fmla="val 8065"/>
              </a:avLst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33247" y="4866799"/>
              <a:ext cx="127740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铁律一 · 升级不降级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3247" y="5114449"/>
              <a:ext cx="2797810" cy="6097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任务定级后只能往人更多的方向调（L1→L2→L3），</a:t>
              </a:r>
              <a:br/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反向调整需变革负责人与质量负责人双签；</a:t>
              </a:r>
              <a:br/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安全相关任务直接 L3，不因 AI 表现好而降级。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210300" y="4667250"/>
            <a:ext cx="5372100" cy="1181100"/>
            <a:chOff x="6210300" y="4667250"/>
            <a:chExt cx="5372100" cy="1181100"/>
          </a:xfrm>
        </p:grpSpPr>
        <p:sp>
          <p:nvSpPr>
            <p:cNvPr id="50" name="Rectangle 50"/>
            <p:cNvSpPr/>
            <p:nvPr/>
          </p:nvSpPr>
          <p:spPr>
            <a:xfrm>
              <a:off x="6210300" y="4667250"/>
              <a:ext cx="5372100" cy="1181100"/>
            </a:xfrm>
            <a:prstGeom prst="roundRect">
              <a:avLst>
                <a:gd name="adj" fmla="val 8065"/>
              </a:avLst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433947" y="4866799"/>
              <a:ext cx="170774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铁律二 · AI 产出 ≠ AI 责任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433947" y="5114449"/>
              <a:ext cx="2580005" cy="6097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L1 / L2 产出物放行后，签字人对结果负全责，</a:t>
              </a:r>
              <a:br/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与是否 AI 起草无关。这一条写进流程文件，</a:t>
              </a:r>
              <a:br/>
              <a:r>
                <a:rPr lang="zh-CN" sz="98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否则评审会流于形式。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54" name="TextBox 54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04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4089614" cy="638746"/>
            <a:chOff x="598551" y="504349"/>
            <a:chExt cx="4089614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8785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04 · 设计段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4089614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从"写文档"到"运营需求资产"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7" name="Group 17"/>
          <p:cNvGrpSpPr/>
          <p:nvPr/>
        </p:nvGrpSpPr>
        <p:grpSpPr>
          <a:xfrm>
            <a:off x="609600" y="1428750"/>
            <a:ext cx="10972800" cy="876300"/>
            <a:chOff x="609600" y="1428750"/>
            <a:chExt cx="10972800" cy="8763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10972800" cy="87630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2104" y="1642110"/>
              <a:ext cx="755965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IR 结构化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838200" y="1905000"/>
              <a:ext cx="609600" cy="20955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74087" y="1958816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L2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1524000" y="1905000"/>
              <a:ext cx="9525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1664322" y="1958816"/>
              <a:ext cx="67185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歧义闭环放行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852738" y="162544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传统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2852738" y="1807845"/>
              <a:ext cx="118087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人读 IR，靠经验理解</a:t>
              </a:r>
            </a:p>
          </p:txBody>
        </p:sp>
        <p:sp>
          <p:nvSpPr>
            <p:cNvPr id="14" name="Polygon 14"/>
            <p:cNvSpPr/>
            <p:nvPr/>
          </p:nvSpPr>
          <p:spPr>
            <a:xfrm>
              <a:off x="5867400" y="17811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6186488" y="1625441"/>
              <a:ext cx="3769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产线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6186488" y="1807845"/>
              <a:ext cx="437487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逐条转成 EARS 结构化条目，做歧义 / 冲突 / 完整性检查，输出澄清问题清单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09600" y="2419350"/>
            <a:ext cx="10972800" cy="876300"/>
            <a:chOff x="609600" y="2419350"/>
            <a:chExt cx="10972800" cy="876300"/>
          </a:xfrm>
        </p:grpSpPr>
        <p:sp>
          <p:nvSpPr>
            <p:cNvPr id="18" name="Rectangle 18"/>
            <p:cNvSpPr/>
            <p:nvPr/>
          </p:nvSpPr>
          <p:spPr>
            <a:xfrm>
              <a:off x="609600" y="2419350"/>
              <a:ext cx="10972800" cy="87630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832104" y="2632710"/>
              <a:ext cx="87246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IR→SR 分解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38200" y="2895600"/>
              <a:ext cx="609600" cy="20955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74087" y="2949416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L2</a:t>
              </a:r>
            </a:p>
          </p:txBody>
        </p:sp>
        <p:sp>
          <p:nvSpPr>
            <p:cNvPr id="22" name="Rectangle 22"/>
            <p:cNvSpPr/>
            <p:nvPr/>
          </p:nvSpPr>
          <p:spPr>
            <a:xfrm>
              <a:off x="1524000" y="2895600"/>
              <a:ext cx="9525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1680568" y="2949416"/>
              <a:ext cx="63936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R1 评审签字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852738" y="261604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传统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852738" y="2798445"/>
              <a:ext cx="12128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SE 写需求分析说明书</a:t>
              </a:r>
            </a:p>
          </p:txBody>
        </p:sp>
        <p:sp>
          <p:nvSpPr>
            <p:cNvPr id="26" name="Polygon 26"/>
            <p:cNvSpPr/>
            <p:nvPr/>
          </p:nvSpPr>
          <p:spPr>
            <a:xfrm>
              <a:off x="5867400" y="27717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6186488" y="2616041"/>
              <a:ext cx="3769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产线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186488" y="2798445"/>
              <a:ext cx="45604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基于需求模式库与历史范例起草分解方案 + 双向追溯矩阵；SE 修订、裁决分歧点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09600" y="3409950"/>
            <a:ext cx="10972800" cy="876300"/>
            <a:chOff x="609600" y="3409950"/>
            <a:chExt cx="10972800" cy="876300"/>
          </a:xfrm>
        </p:grpSpPr>
        <p:sp>
          <p:nvSpPr>
            <p:cNvPr id="30" name="Rectangle 30"/>
            <p:cNvSpPr/>
            <p:nvPr/>
          </p:nvSpPr>
          <p:spPr>
            <a:xfrm>
              <a:off x="609600" y="3409950"/>
              <a:ext cx="10972800" cy="87630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32104" y="3623310"/>
              <a:ext cx="142804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SR→AR + 功能设计</a:t>
              </a:r>
            </a:p>
          </p:txBody>
        </p:sp>
        <p:sp>
          <p:nvSpPr>
            <p:cNvPr id="32" name="Rectangle 32"/>
            <p:cNvSpPr/>
            <p:nvPr/>
          </p:nvSpPr>
          <p:spPr>
            <a:xfrm>
              <a:off x="838200" y="3886200"/>
              <a:ext cx="609600" cy="20955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1074087" y="3940016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L2</a:t>
              </a:r>
            </a:p>
          </p:txBody>
        </p:sp>
        <p:sp>
          <p:nvSpPr>
            <p:cNvPr id="34" name="Rectangle 34"/>
            <p:cNvSpPr/>
            <p:nvPr/>
          </p:nvSpPr>
          <p:spPr>
            <a:xfrm>
              <a:off x="1524000" y="3886200"/>
              <a:ext cx="9525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1680568" y="3940016"/>
              <a:ext cx="63936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R2 评审签字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2852738" y="360664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传统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2852738" y="3789045"/>
              <a:ext cx="12128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SE 写功能设计说明书</a:t>
              </a:r>
            </a:p>
          </p:txBody>
        </p:sp>
        <p:sp>
          <p:nvSpPr>
            <p:cNvPr id="38" name="Polygon 38"/>
            <p:cNvSpPr/>
            <p:nvPr/>
          </p:nvSpPr>
          <p:spPr>
            <a:xfrm>
              <a:off x="5867400" y="37623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186488" y="3606641"/>
              <a:ext cx="3769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产线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6186488" y="3789045"/>
              <a:ext cx="42500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起草接口契约、状态机、错误模型、异常路径与依赖；颗粒度止于系统视角契约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609600" y="4400550"/>
            <a:ext cx="10972800" cy="876300"/>
            <a:chOff x="609600" y="4400550"/>
            <a:chExt cx="10972800" cy="876300"/>
          </a:xfrm>
        </p:grpSpPr>
        <p:sp>
          <p:nvSpPr>
            <p:cNvPr id="42" name="Rectangle 42"/>
            <p:cNvSpPr/>
            <p:nvPr/>
          </p:nvSpPr>
          <p:spPr>
            <a:xfrm>
              <a:off x="609600" y="4400550"/>
              <a:ext cx="10972800" cy="876300"/>
            </a:xfrm>
            <a:prstGeom prst="roundRect">
              <a:avLst>
                <a:gd name="adj" fmla="val 1087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32104" y="461391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需求串讲</a:t>
              </a:r>
            </a:p>
          </p:txBody>
        </p:sp>
        <p:sp>
          <p:nvSpPr>
            <p:cNvPr id="44" name="Rectangle 44"/>
            <p:cNvSpPr/>
            <p:nvPr/>
          </p:nvSpPr>
          <p:spPr>
            <a:xfrm>
              <a:off x="838200" y="4876800"/>
              <a:ext cx="609600" cy="209550"/>
            </a:xfrm>
            <a:prstGeom prst="roundRect">
              <a:avLst>
                <a:gd name="adj" fmla="val 50000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1074087" y="4930616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L3</a:t>
              </a:r>
            </a:p>
          </p:txBody>
        </p:sp>
        <p:sp>
          <p:nvSpPr>
            <p:cNvPr id="46" name="Rectangle 46"/>
            <p:cNvSpPr/>
            <p:nvPr/>
          </p:nvSpPr>
          <p:spPr>
            <a:xfrm>
              <a:off x="1524000" y="4876800"/>
              <a:ext cx="9525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1719516" y="4930616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例外会保留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2852738" y="459724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传统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2852738" y="4779645"/>
              <a:ext cx="857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全员会议两小时</a:t>
              </a:r>
            </a:p>
          </p:txBody>
        </p:sp>
        <p:sp>
          <p:nvSpPr>
            <p:cNvPr id="50" name="Polygon 50"/>
            <p:cNvSpPr/>
            <p:nvPr/>
          </p:nvSpPr>
          <p:spPr>
            <a:xfrm>
              <a:off x="5867400" y="475297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51" name="TextBox 51"/>
            <p:cNvSpPr txBox="1"/>
            <p:nvPr/>
          </p:nvSpPr>
          <p:spPr>
            <a:xfrm>
              <a:off x="6186488" y="4597241"/>
              <a:ext cx="3769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产线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186488" y="4779645"/>
              <a:ext cx="42852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取消大串讲：AR 包机器可读 + AI 答疑；理解对齐由开发段 S1 规格评审兜底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609600" y="5505450"/>
            <a:ext cx="10972800" cy="552450"/>
            <a:chOff x="609600" y="5505450"/>
            <a:chExt cx="10972800" cy="552450"/>
          </a:xfrm>
        </p:grpSpPr>
        <p:sp>
          <p:nvSpPr>
            <p:cNvPr id="54" name="Rectangle 54"/>
            <p:cNvSpPr/>
            <p:nvPr/>
          </p:nvSpPr>
          <p:spPr>
            <a:xfrm>
              <a:off x="609600" y="5505450"/>
              <a:ext cx="10972800" cy="552450"/>
            </a:xfrm>
            <a:prstGeom prst="roundRect">
              <a:avLst>
                <a:gd name="adj" fmla="val 17241"/>
              </a:avLst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909066" y="5725478"/>
              <a:ext cx="64776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SE 的新角色：需求资产的运营者 —— 判断分解、裁决冲突、运营模式库；瓶颈从"写"移到"判断"。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57" name="TextBox 57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05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6338493" cy="638746"/>
            <a:chOff x="598551" y="504349"/>
            <a:chExt cx="6338493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8785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05 · 开发段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6338493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AR 先规格化，再实现设计，代码由测试证明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3" name="Group 13"/>
          <p:cNvGrpSpPr/>
          <p:nvPr/>
        </p:nvGrpSpPr>
        <p:grpSpPr>
          <a:xfrm>
            <a:off x="609600" y="1485900"/>
            <a:ext cx="1676400" cy="2190750"/>
            <a:chOff x="609600" y="1485900"/>
            <a:chExt cx="1676400" cy="2190750"/>
          </a:xfrm>
        </p:grpSpPr>
        <p:sp>
          <p:nvSpPr>
            <p:cNvPr id="6" name="Rectangle 6"/>
            <p:cNvSpPr/>
            <p:nvPr/>
          </p:nvSpPr>
          <p:spPr>
            <a:xfrm>
              <a:off x="609600" y="1485900"/>
              <a:ext cx="1676400" cy="2190750"/>
            </a:xfrm>
            <a:prstGeom prst="roundRect">
              <a:avLst>
                <a:gd name="adj" fmla="val 5682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Ellipse 7"/>
            <p:cNvSpPr/>
            <p:nvPr/>
          </p:nvSpPr>
          <p:spPr>
            <a:xfrm>
              <a:off x="742950" y="1657350"/>
              <a:ext cx="266700" cy="266700"/>
            </a:xfrm>
            <a:prstGeom prst="ellipse">
              <a:avLst/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33253" y="17330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94385" y="2088356"/>
              <a:ext cx="58016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AR 理解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95338" y="2360295"/>
              <a:ext cx="695325" cy="5191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条目机器可读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答疑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影响面分析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800100" y="32956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976566" y="3349466"/>
              <a:ext cx="56146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入规格材料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2352675" y="2533650"/>
            <a:ext cx="7524750" cy="95250"/>
            <a:chOff x="2352675" y="2533650"/>
            <a:chExt cx="7524750" cy="95250"/>
          </a:xfrm>
        </p:grpSpPr>
        <p:sp>
          <p:nvSpPr>
            <p:cNvPr id="14" name="Polygon 14"/>
            <p:cNvSpPr/>
            <p:nvPr/>
          </p:nvSpPr>
          <p:spPr>
            <a:xfrm>
              <a:off x="2352675" y="25336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15" name="Polygon 15"/>
            <p:cNvSpPr/>
            <p:nvPr/>
          </p:nvSpPr>
          <p:spPr>
            <a:xfrm>
              <a:off x="4210050" y="25336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16" name="Polygon 16"/>
            <p:cNvSpPr/>
            <p:nvPr/>
          </p:nvSpPr>
          <p:spPr>
            <a:xfrm>
              <a:off x="6067425" y="25336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17" name="Polygon 17"/>
            <p:cNvSpPr/>
            <p:nvPr/>
          </p:nvSpPr>
          <p:spPr>
            <a:xfrm>
              <a:off x="7924800" y="25336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18" name="Polygon 18"/>
            <p:cNvSpPr/>
            <p:nvPr/>
          </p:nvSpPr>
          <p:spPr>
            <a:xfrm>
              <a:off x="9782175" y="2533650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</p:grpSp>
      <p:grpSp>
        <p:nvGrpSpPr>
          <p:cNvPr id="29" name="Group 29"/>
          <p:cNvGrpSpPr/>
          <p:nvPr/>
        </p:nvGrpSpPr>
        <p:grpSpPr>
          <a:xfrm>
            <a:off x="2466975" y="1485900"/>
            <a:ext cx="1676400" cy="2190750"/>
            <a:chOff x="2466975" y="1485900"/>
            <a:chExt cx="1676400" cy="2190750"/>
          </a:xfrm>
        </p:grpSpPr>
        <p:sp>
          <p:nvSpPr>
            <p:cNvPr id="20" name="Rectangle 20"/>
            <p:cNvSpPr/>
            <p:nvPr/>
          </p:nvSpPr>
          <p:spPr>
            <a:xfrm>
              <a:off x="2466975" y="1485900"/>
              <a:ext cx="1676400" cy="2190750"/>
            </a:xfrm>
            <a:prstGeom prst="roundRect">
              <a:avLst>
                <a:gd name="adj" fmla="val 5682"/>
              </a:avLst>
            </a:prstGeom>
            <a:solidFill>
              <a:srgbClr val="FFFFFF"/>
            </a:solidFill>
            <a:ln w="19050">
              <a:solidFill>
                <a:srgbClr val="E8600A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3305175" y="1581150"/>
              <a:ext cx="723900" cy="209550"/>
            </a:xfrm>
            <a:prstGeom prst="roundRect">
              <a:avLst>
                <a:gd name="adj" fmla="val 50000"/>
              </a:avLst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3430547" y="1634966"/>
              <a:ext cx="47315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新增阀门</a:t>
              </a:r>
            </a:p>
          </p:txBody>
        </p:sp>
        <p:sp>
          <p:nvSpPr>
            <p:cNvPr id="23" name="Ellipse 23"/>
            <p:cNvSpPr/>
            <p:nvPr/>
          </p:nvSpPr>
          <p:spPr>
            <a:xfrm>
              <a:off x="2600325" y="1657350"/>
              <a:ext cx="266700" cy="266700"/>
            </a:xfrm>
            <a:prstGeom prst="ellipse">
              <a:avLst/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2690628" y="17330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2651760" y="2088356"/>
              <a:ext cx="74743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AR 规格化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2652712" y="2360295"/>
              <a:ext cx="918210" cy="8620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EARS 需求条目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BDD 验收准则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NFR 场景 + delta</a:t>
              </a:r>
              <a:br/>
              <a:r>
                <a:rPr lang="en-US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Open Questions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开发修订·SE 会签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2657475" y="32956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2901716" y="3349466"/>
              <a:ext cx="42591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S1 门禁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4324350" y="1485900"/>
            <a:ext cx="1676400" cy="2190750"/>
            <a:chOff x="4324350" y="1485900"/>
            <a:chExt cx="1676400" cy="2190750"/>
          </a:xfrm>
        </p:grpSpPr>
        <p:sp>
          <p:nvSpPr>
            <p:cNvPr id="30" name="Rectangle 30"/>
            <p:cNvSpPr/>
            <p:nvPr/>
          </p:nvSpPr>
          <p:spPr>
            <a:xfrm>
              <a:off x="4324350" y="1485900"/>
              <a:ext cx="1676400" cy="2190750"/>
            </a:xfrm>
            <a:prstGeom prst="roundRect">
              <a:avLst>
                <a:gd name="adj" fmla="val 5682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1" name="Ellipse 31"/>
            <p:cNvSpPr/>
            <p:nvPr/>
          </p:nvSpPr>
          <p:spPr>
            <a:xfrm>
              <a:off x="4457700" y="1657350"/>
              <a:ext cx="266700" cy="266700"/>
            </a:xfrm>
            <a:prstGeom prst="ellipse">
              <a:avLst/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548003" y="17330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3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4509135" y="2088356"/>
              <a:ext cx="644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实现设计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4510088" y="2360295"/>
              <a:ext cx="986790" cy="5191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时序图·类图源码化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UT 用例清单先行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安全项自动上抛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4514850" y="32956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4652368" y="3349466"/>
              <a:ext cx="63936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R3 设计评审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181725" y="1485900"/>
            <a:ext cx="1676400" cy="2190750"/>
            <a:chOff x="6181725" y="1485900"/>
            <a:chExt cx="1676400" cy="2190750"/>
          </a:xfrm>
        </p:grpSpPr>
        <p:sp>
          <p:nvSpPr>
            <p:cNvPr id="38" name="Rectangle 38"/>
            <p:cNvSpPr/>
            <p:nvPr/>
          </p:nvSpPr>
          <p:spPr>
            <a:xfrm>
              <a:off x="6181725" y="1485900"/>
              <a:ext cx="1676400" cy="2190750"/>
            </a:xfrm>
            <a:prstGeom prst="roundRect">
              <a:avLst>
                <a:gd name="adj" fmla="val 5682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9" name="Ellipse 39"/>
            <p:cNvSpPr/>
            <p:nvPr/>
          </p:nvSpPr>
          <p:spPr>
            <a:xfrm>
              <a:off x="6315075" y="1657350"/>
              <a:ext cx="266700" cy="266700"/>
            </a:xfrm>
            <a:prstGeom prst="ellipse">
              <a:avLst/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05378" y="17330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4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6366510" y="2088356"/>
              <a:ext cx="72234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编码 + UT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367462" y="2360295"/>
              <a:ext cx="1038225" cy="5191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先失败测试后实现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叠加规范与车载约束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证据落盘</a:t>
              </a:r>
            </a:p>
          </p:txBody>
        </p:sp>
        <p:sp>
          <p:nvSpPr>
            <p:cNvPr id="43" name="Rectangle 43"/>
            <p:cNvSpPr/>
            <p:nvPr/>
          </p:nvSpPr>
          <p:spPr>
            <a:xfrm>
              <a:off x="6372225" y="32956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640960" y="3349466"/>
              <a:ext cx="37693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CI 全绿</a:t>
              </a:r>
            </a:p>
          </p:txBody>
        </p:sp>
      </p:grpSp>
      <p:grpSp>
        <p:nvGrpSpPr>
          <p:cNvPr id="53" name="Group 53"/>
          <p:cNvGrpSpPr/>
          <p:nvPr/>
        </p:nvGrpSpPr>
        <p:grpSpPr>
          <a:xfrm>
            <a:off x="8039100" y="1485900"/>
            <a:ext cx="1676400" cy="2190750"/>
            <a:chOff x="8039100" y="1485900"/>
            <a:chExt cx="1676400" cy="2190750"/>
          </a:xfrm>
        </p:grpSpPr>
        <p:sp>
          <p:nvSpPr>
            <p:cNvPr id="46" name="Rectangle 46"/>
            <p:cNvSpPr/>
            <p:nvPr/>
          </p:nvSpPr>
          <p:spPr>
            <a:xfrm>
              <a:off x="8039100" y="1485900"/>
              <a:ext cx="1676400" cy="2190750"/>
            </a:xfrm>
            <a:prstGeom prst="roundRect">
              <a:avLst>
                <a:gd name="adj" fmla="val 5682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47" name="Ellipse 47"/>
            <p:cNvSpPr/>
            <p:nvPr/>
          </p:nvSpPr>
          <p:spPr>
            <a:xfrm>
              <a:off x="8172450" y="1657350"/>
              <a:ext cx="266700" cy="266700"/>
            </a:xfrm>
            <a:prstGeom prst="ellipse">
              <a:avLst/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8262753" y="17330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5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8223885" y="2088356"/>
              <a:ext cx="644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代码审查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8224838" y="2360295"/>
              <a:ext cx="952500" cy="5191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独立初审全量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人终审 critical 项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作者隔离</a:t>
              </a:r>
            </a:p>
          </p:txBody>
        </p:sp>
        <p:sp>
          <p:nvSpPr>
            <p:cNvPr id="51" name="Rectangle 51"/>
            <p:cNvSpPr/>
            <p:nvPr/>
          </p:nvSpPr>
          <p:spPr>
            <a:xfrm>
              <a:off x="8229600" y="32956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52" name="TextBox 52"/>
            <p:cNvSpPr txBox="1"/>
            <p:nvPr/>
          </p:nvSpPr>
          <p:spPr>
            <a:xfrm>
              <a:off x="8483755" y="3349466"/>
              <a:ext cx="4060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R4 评审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9896475" y="1485900"/>
            <a:ext cx="1676400" cy="2190750"/>
            <a:chOff x="9896475" y="1485900"/>
            <a:chExt cx="1676400" cy="2190750"/>
          </a:xfrm>
        </p:grpSpPr>
        <p:sp>
          <p:nvSpPr>
            <p:cNvPr id="54" name="Rectangle 54"/>
            <p:cNvSpPr/>
            <p:nvPr/>
          </p:nvSpPr>
          <p:spPr>
            <a:xfrm>
              <a:off x="9896475" y="1485900"/>
              <a:ext cx="1676400" cy="2190750"/>
            </a:xfrm>
            <a:prstGeom prst="roundRect">
              <a:avLst>
                <a:gd name="adj" fmla="val 5682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55" name="Ellipse 55"/>
            <p:cNvSpPr/>
            <p:nvPr/>
          </p:nvSpPr>
          <p:spPr>
            <a:xfrm>
              <a:off x="10029825" y="1657350"/>
              <a:ext cx="266700" cy="266700"/>
            </a:xfrm>
            <a:prstGeom prst="ellipse">
              <a:avLst/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56" name="TextBox 56"/>
            <p:cNvSpPr txBox="1"/>
            <p:nvPr/>
          </p:nvSpPr>
          <p:spPr>
            <a:xfrm>
              <a:off x="10120128" y="1733074"/>
              <a:ext cx="860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980" b="1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6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0081260" y="2088356"/>
              <a:ext cx="32805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合入</a:t>
              </a:r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10082212" y="2360295"/>
              <a:ext cx="466725" cy="5191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追溯更新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测试证据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文档同步</a:t>
              </a:r>
            </a:p>
          </p:txBody>
        </p:sp>
        <p:sp>
          <p:nvSpPr>
            <p:cNvPr id="59" name="Rectangle 59"/>
            <p:cNvSpPr/>
            <p:nvPr/>
          </p:nvSpPr>
          <p:spPr>
            <a:xfrm>
              <a:off x="10086975" y="3295650"/>
              <a:ext cx="914400" cy="2095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60" name="TextBox 60"/>
            <p:cNvSpPr txBox="1"/>
            <p:nvPr/>
          </p:nvSpPr>
          <p:spPr>
            <a:xfrm>
              <a:off x="10313168" y="3349466"/>
              <a:ext cx="46201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DoD 核验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609600" y="4000500"/>
            <a:ext cx="10972800" cy="876300"/>
            <a:chOff x="609600" y="4000500"/>
            <a:chExt cx="10972800" cy="876300"/>
          </a:xfrm>
        </p:grpSpPr>
        <p:sp>
          <p:nvSpPr>
            <p:cNvPr id="62" name="Rectangle 62"/>
            <p:cNvSpPr/>
            <p:nvPr/>
          </p:nvSpPr>
          <p:spPr>
            <a:xfrm>
              <a:off x="609600" y="4000500"/>
              <a:ext cx="10972800" cy="876300"/>
            </a:xfrm>
            <a:prstGeom prst="roundRect">
              <a:avLst>
                <a:gd name="adj" fmla="val 10870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63" name="Rectangle 63"/>
            <p:cNvSpPr/>
            <p:nvPr/>
          </p:nvSpPr>
          <p:spPr>
            <a:xfrm>
              <a:off x="609600" y="4000500"/>
              <a:ext cx="47625" cy="8763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870966" y="4172902"/>
              <a:ext cx="469173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AR 规格化：把理解显式写成可测试规格，是 AI 代码生成的前置条件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871347" y="4428649"/>
              <a:ext cx="61709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传统模式没有这一步，理解靠串讲和开发自行补齐。规格评审就是新形态的串讲 —— 从宣讲式变成确认式。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871347" y="4638199"/>
              <a:ext cx="581472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规格同时是下游公共输入：实现设计推导结构，测试规格继承验收准则，追溯锚点挂在规格条目上。</a:t>
              </a:r>
            </a:p>
          </p:txBody>
        </p:sp>
      </p:grpSp>
      <p:grpSp>
        <p:nvGrpSpPr>
          <p:cNvPr id="71" name="Group 71"/>
          <p:cNvGrpSpPr/>
          <p:nvPr/>
        </p:nvGrpSpPr>
        <p:grpSpPr>
          <a:xfrm>
            <a:off x="609600" y="5105400"/>
            <a:ext cx="10972800" cy="685800"/>
            <a:chOff x="609600" y="5105400"/>
            <a:chExt cx="10972800" cy="685800"/>
          </a:xfrm>
        </p:grpSpPr>
        <p:sp>
          <p:nvSpPr>
            <p:cNvPr id="68" name="Rectangle 68"/>
            <p:cNvSpPr/>
            <p:nvPr/>
          </p:nvSpPr>
          <p:spPr>
            <a:xfrm>
              <a:off x="609600" y="5105400"/>
              <a:ext cx="10972800" cy="685800"/>
            </a:xfrm>
            <a:prstGeom prst="roundRect">
              <a:avLst>
                <a:gd name="adj" fmla="val 13889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871347" y="5285899"/>
              <a:ext cx="139514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代码审查为什么改双轨</a:t>
              </a:r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871347" y="5514499"/>
              <a:ext cx="610058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辅助下代码量会上一个量级，人逐行审必然崩盘；人审的对象从代码行变为 findings 与设计符合性。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72" name="TextBox 72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06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4644276" cy="638746"/>
            <a:chOff x="598551" y="504349"/>
            <a:chExt cx="4644276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037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06 · 文档边界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4644276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三份文档，三种问题，三个签字人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4" name="Group 14"/>
          <p:cNvGrpSpPr/>
          <p:nvPr/>
        </p:nvGrpSpPr>
        <p:grpSpPr>
          <a:xfrm>
            <a:off x="609600" y="1428750"/>
            <a:ext cx="3505200" cy="3143250"/>
            <a:chOff x="609600" y="1428750"/>
            <a:chExt cx="3505200" cy="314325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3505200" cy="314325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428750"/>
              <a:ext cx="3505200" cy="457200"/>
            </a:xfrm>
            <a:prstGeom prst="roundRect">
              <a:avLst>
                <a:gd name="adj" fmla="val 20833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94385" y="1593056"/>
              <a:ext cx="2085631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功能设计说明书（AR 条目）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94004" y="2080260"/>
              <a:ext cx="1725366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"系统在整体上要什么"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95338" y="2444591"/>
              <a:ext cx="111340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颗粒度：系统视角契约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95338" y="2684145"/>
              <a:ext cx="1363980" cy="10144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职责定位与对外接口契约</a:t>
              </a:r>
            </a:p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状态机与跨组件错误模型</a:t>
              </a:r>
            </a:p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异常路径与依赖清单</a:t>
              </a:r>
            </a:p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高层验收标准</a:t>
              </a:r>
            </a:p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组件内细节留给 AR 规格</a:t>
              </a:r>
            </a:p>
          </p:txBody>
        </p:sp>
        <p:sp>
          <p:nvSpPr>
            <p:cNvPr id="12" name="Line 12"/>
            <p:cNvSpPr/>
            <p:nvPr/>
          </p:nvSpPr>
          <p:spPr>
            <a:xfrm>
              <a:off x="800100" y="40005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95147" y="4180999"/>
              <a:ext cx="140037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作者：SE（R2 签字）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4343400" y="1428750"/>
            <a:ext cx="3505200" cy="3143250"/>
            <a:chOff x="4343400" y="1428750"/>
            <a:chExt cx="3505200" cy="3143250"/>
          </a:xfrm>
        </p:grpSpPr>
        <p:sp>
          <p:nvSpPr>
            <p:cNvPr id="15" name="Rectangle 15"/>
            <p:cNvSpPr/>
            <p:nvPr/>
          </p:nvSpPr>
          <p:spPr>
            <a:xfrm>
              <a:off x="4343400" y="1428750"/>
              <a:ext cx="3505200" cy="314325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19050">
              <a:solidFill>
                <a:srgbClr val="E8600A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343400" y="1428750"/>
              <a:ext cx="3505200" cy="457200"/>
            </a:xfrm>
            <a:prstGeom prst="roundRect">
              <a:avLst>
                <a:gd name="adj" fmla="val 20833"/>
              </a:avLst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4528185" y="1593056"/>
              <a:ext cx="160889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AR 规格说明书 · 新增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4527804" y="2042160"/>
              <a:ext cx="1860423" cy="4632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12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"本组件在什么条件下，</a:t>
              </a:r>
              <a:br/>
              <a:r>
                <a:rPr lang="zh-CN" sz="12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必须表现什么行为才算对"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529138" y="2577941"/>
              <a:ext cx="100302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颗粒度：可测试规格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4529138" y="2798445"/>
              <a:ext cx="2101215" cy="9763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lnSpc>
                  <a:spcPts val="157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EARS 需求条目</a:t>
              </a:r>
            </a:p>
            <a:p>
              <a:pPr algn="l" marL="97155" indent="-97155">
                <a:lnSpc>
                  <a:spcPts val="157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场景清单（正常 / 异常 / 边界 / 并发）</a:t>
              </a:r>
            </a:p>
            <a:p>
              <a:pPr algn="l" marL="97155" indent="-97155">
                <a:lnSpc>
                  <a:spcPts val="157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BDD 验收准则 + NFR 质量场景</a:t>
              </a:r>
            </a:p>
            <a:p>
              <a:pPr algn="l" marL="97155" indent="-97155">
                <a:lnSpc>
                  <a:spcPts val="157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与组件现状行为的 delta</a:t>
              </a:r>
            </a:p>
            <a:p>
              <a:pPr algn="l" marL="97155" indent="-97155">
                <a:lnSpc>
                  <a:spcPts val="157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Open Questions 闭环记录</a:t>
              </a:r>
            </a:p>
          </p:txBody>
        </p:sp>
        <p:sp>
          <p:nvSpPr>
            <p:cNvPr id="21" name="Line 21"/>
            <p:cNvSpPr/>
            <p:nvPr/>
          </p:nvSpPr>
          <p:spPr>
            <a:xfrm>
              <a:off x="4533900" y="40005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4528947" y="4180999"/>
              <a:ext cx="2154153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作者：开发负责 · SE 会签（S1）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8077200" y="1428750"/>
            <a:ext cx="3505200" cy="3143250"/>
            <a:chOff x="8077200" y="1428750"/>
            <a:chExt cx="3505200" cy="3143250"/>
          </a:xfrm>
        </p:grpSpPr>
        <p:sp>
          <p:nvSpPr>
            <p:cNvPr id="24" name="Rectangle 24"/>
            <p:cNvSpPr/>
            <p:nvPr/>
          </p:nvSpPr>
          <p:spPr>
            <a:xfrm>
              <a:off x="8077200" y="1428750"/>
              <a:ext cx="3505200" cy="3143250"/>
            </a:xfrm>
            <a:prstGeom prst="roundRect">
              <a:avLst>
                <a:gd name="adj" fmla="val 303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8077200" y="1428750"/>
              <a:ext cx="3505200" cy="457200"/>
            </a:xfrm>
            <a:prstGeom prst="roundRect">
              <a:avLst>
                <a:gd name="adj" fmla="val 20833"/>
              </a:avLst>
            </a:prstGeom>
            <a:solidFill>
              <a:srgbClr val="E4F0EC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8261985" y="1593056"/>
              <a:ext cx="141653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AR 实现设计说明书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8261604" y="2080260"/>
              <a:ext cx="70763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"怎么做"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8262938" y="2444591"/>
              <a:ext cx="89263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颗粒度：内部结构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8262938" y="2684145"/>
              <a:ext cx="1478280" cy="10144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时序图、类图（源码化）</a:t>
              </a:r>
            </a:p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模块划分与接口契约</a:t>
              </a:r>
            </a:p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错误模型与处理实现</a:t>
              </a:r>
            </a:p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UT 用例清单（先于代码）</a:t>
              </a:r>
            </a:p>
            <a:p>
              <a:pPr algn="l" marL="97155" indent="-97155">
                <a:lnSpc>
                  <a:spcPts val="1650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安全相关决策标注上抛记录</a:t>
              </a:r>
            </a:p>
          </p:txBody>
        </p:sp>
        <p:sp>
          <p:nvSpPr>
            <p:cNvPr id="30" name="Line 30"/>
            <p:cNvSpPr/>
            <p:nvPr/>
          </p:nvSpPr>
          <p:spPr>
            <a:xfrm>
              <a:off x="8267700" y="400050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8262747" y="4180999"/>
              <a:ext cx="15321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作者：开发（R3 签字）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09600" y="4857750"/>
            <a:ext cx="10972800" cy="609600"/>
            <a:chOff x="609600" y="4857750"/>
            <a:chExt cx="10972800" cy="609600"/>
          </a:xfrm>
        </p:grpSpPr>
        <p:sp>
          <p:nvSpPr>
            <p:cNvPr id="33" name="Rectangle 33"/>
            <p:cNvSpPr/>
            <p:nvPr/>
          </p:nvSpPr>
          <p:spPr>
            <a:xfrm>
              <a:off x="609600" y="4857750"/>
              <a:ext cx="10972800" cy="609600"/>
            </a:xfrm>
            <a:prstGeom prst="roundRect">
              <a:avLst>
                <a:gd name="adj" fmla="val 15625"/>
              </a:avLst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908685" y="5098256"/>
              <a:ext cx="143624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规格是下游公共输入</a:t>
              </a:r>
            </a:p>
          </p:txBody>
        </p:sp>
        <p:sp>
          <p:nvSpPr>
            <p:cNvPr id="35" name="Rectangle 35"/>
            <p:cNvSpPr/>
            <p:nvPr/>
          </p:nvSpPr>
          <p:spPr>
            <a:xfrm>
              <a:off x="3238500" y="4972050"/>
              <a:ext cx="2571750" cy="381000"/>
            </a:xfrm>
            <a:prstGeom prst="roundRect">
              <a:avLst>
                <a:gd name="adj" fmla="val 20000"/>
              </a:avLst>
            </a:prstGeom>
            <a:solidFill>
              <a:srgbClr val="FFFFFF">
                <a:alpha val="10000"/>
              </a:srgbClr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3913822" y="5113020"/>
              <a:ext cx="12211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实现设计从它推导结构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6000750" y="4972050"/>
              <a:ext cx="2571750" cy="381000"/>
            </a:xfrm>
            <a:prstGeom prst="roundRect">
              <a:avLst>
                <a:gd name="adj" fmla="val 20000"/>
              </a:avLst>
            </a:prstGeom>
            <a:solidFill>
              <a:srgbClr val="FFFFFF">
                <a:alpha val="10000"/>
              </a:srgbClr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6497764" y="5113020"/>
              <a:ext cx="157772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测试规格继承 BDD 验收准则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8763000" y="4972050"/>
              <a:ext cx="2571750" cy="381000"/>
            </a:xfrm>
            <a:prstGeom prst="roundRect">
              <a:avLst>
                <a:gd name="adj" fmla="val 20000"/>
              </a:avLst>
            </a:prstGeom>
            <a:solidFill>
              <a:srgbClr val="FFFFFF">
                <a:alpha val="10000"/>
              </a:srgbClr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9250413" y="5113020"/>
              <a:ext cx="159692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代码 / UT / 测试的追溯锚点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42" name="TextBox 42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07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4397760" cy="638746"/>
            <a:chOff x="598551" y="504349"/>
            <a:chExt cx="4397760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8785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07 · 测试段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4397760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从"验收者"到"质量体系设计者"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1" name="Group 11"/>
          <p:cNvGrpSpPr/>
          <p:nvPr/>
        </p:nvGrpSpPr>
        <p:grpSpPr>
          <a:xfrm>
            <a:off x="609600" y="1428750"/>
            <a:ext cx="6591300" cy="571500"/>
            <a:chOff x="609600" y="1428750"/>
            <a:chExt cx="6591300" cy="5715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65913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794766" y="1658302"/>
              <a:ext cx="604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测试规格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1900238" y="1674495"/>
              <a:ext cx="309471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起草覆盖维度与场景，继承 AR 规格的 BDD 验收准则</a:t>
              </a:r>
            </a:p>
          </p:txBody>
        </p:sp>
        <p:sp>
          <p:nvSpPr>
            <p:cNvPr id="9" name="Rectangle 9"/>
            <p:cNvSpPr/>
            <p:nvPr/>
          </p:nvSpPr>
          <p:spPr>
            <a:xfrm>
              <a:off x="6248400" y="1609725"/>
              <a:ext cx="800100" cy="20955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0" name="TextBox 10"/>
            <p:cNvSpPr txBox="1"/>
            <p:nvPr/>
          </p:nvSpPr>
          <p:spPr>
            <a:xfrm>
              <a:off x="6448321" y="1663541"/>
              <a:ext cx="40025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L2 · T1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609600" y="2076450"/>
            <a:ext cx="6591300" cy="571500"/>
            <a:chOff x="609600" y="2076450"/>
            <a:chExt cx="6591300" cy="571500"/>
          </a:xfrm>
        </p:grpSpPr>
        <p:sp>
          <p:nvSpPr>
            <p:cNvPr id="12" name="Rectangle 12"/>
            <p:cNvSpPr/>
            <p:nvPr/>
          </p:nvSpPr>
          <p:spPr>
            <a:xfrm>
              <a:off x="609600" y="2076450"/>
              <a:ext cx="65913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794766" y="2306002"/>
              <a:ext cx="604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用例设计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900238" y="2322195"/>
              <a:ext cx="295366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场景法 / 边界值 / 状态迁移自动生成，人补探索性场景</a:t>
              </a:r>
            </a:p>
          </p:txBody>
        </p:sp>
        <p:sp>
          <p:nvSpPr>
            <p:cNvPr id="15" name="Rectangle 15"/>
            <p:cNvSpPr/>
            <p:nvPr/>
          </p:nvSpPr>
          <p:spPr>
            <a:xfrm>
              <a:off x="6248400" y="2257425"/>
              <a:ext cx="800100" cy="20955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6579537" y="2311241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L2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09600" y="2724150"/>
            <a:ext cx="6591300" cy="571500"/>
            <a:chOff x="609600" y="2724150"/>
            <a:chExt cx="6591300" cy="571500"/>
          </a:xfrm>
        </p:grpSpPr>
        <p:sp>
          <p:nvSpPr>
            <p:cNvPr id="18" name="Rectangle 18"/>
            <p:cNvSpPr/>
            <p:nvPr/>
          </p:nvSpPr>
          <p:spPr>
            <a:xfrm>
              <a:off x="609600" y="2724150"/>
              <a:ext cx="65913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19" name="TextBox 19"/>
            <p:cNvSpPr txBox="1"/>
            <p:nvPr/>
          </p:nvSpPr>
          <p:spPr>
            <a:xfrm>
              <a:off x="794766" y="2953702"/>
              <a:ext cx="7527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自动化脚本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1900238" y="2969895"/>
              <a:ext cx="2204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生成并读日志自修复，人评审后入库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6248400" y="2905125"/>
              <a:ext cx="800100" cy="20955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6579537" y="2958941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L2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609600" y="3371850"/>
            <a:ext cx="6591300" cy="571500"/>
            <a:chOff x="609600" y="3371850"/>
            <a:chExt cx="6591300" cy="571500"/>
          </a:xfrm>
        </p:grpSpPr>
        <p:sp>
          <p:nvSpPr>
            <p:cNvPr id="24" name="Rectangle 24"/>
            <p:cNvSpPr/>
            <p:nvPr/>
          </p:nvSpPr>
          <p:spPr>
            <a:xfrm>
              <a:off x="609600" y="3371850"/>
              <a:ext cx="65913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794766" y="3601402"/>
              <a:ext cx="604342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测试执行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900238" y="3617595"/>
              <a:ext cx="28325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版本构建自动触发，失败初判环境 / 脚本 / 产品缺陷</a:t>
              </a:r>
            </a:p>
          </p:txBody>
        </p:sp>
        <p:sp>
          <p:nvSpPr>
            <p:cNvPr id="27" name="Rectangle 27"/>
            <p:cNvSpPr/>
            <p:nvPr/>
          </p:nvSpPr>
          <p:spPr>
            <a:xfrm>
              <a:off x="6248400" y="3552825"/>
              <a:ext cx="800100" cy="209550"/>
            </a:xfrm>
            <a:prstGeom prst="roundRect">
              <a:avLst>
                <a:gd name="adj" fmla="val 50000"/>
              </a:avLst>
            </a:prstGeom>
            <a:solidFill>
              <a:srgbClr val="E4F0EC"/>
            </a:solidFill>
            <a:ln>
              <a:noFill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6445405" y="3606641"/>
              <a:ext cx="4060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L1 自主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609600" y="4019550"/>
            <a:ext cx="6591300" cy="571500"/>
            <a:chOff x="609600" y="4019550"/>
            <a:chExt cx="6591300" cy="571500"/>
          </a:xfrm>
        </p:grpSpPr>
        <p:sp>
          <p:nvSpPr>
            <p:cNvPr id="30" name="Rectangle 30"/>
            <p:cNvSpPr/>
            <p:nvPr/>
          </p:nvSpPr>
          <p:spPr>
            <a:xfrm>
              <a:off x="609600" y="4019550"/>
              <a:ext cx="65913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94766" y="4249102"/>
              <a:ext cx="45592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问题单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900238" y="4265295"/>
              <a:ext cx="267500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结构化单据：复现步骤、证据、疑似根因、影响面</a:t>
              </a:r>
            </a:p>
          </p:txBody>
        </p:sp>
        <p:sp>
          <p:nvSpPr>
            <p:cNvPr id="33" name="Rectangle 33"/>
            <p:cNvSpPr/>
            <p:nvPr/>
          </p:nvSpPr>
          <p:spPr>
            <a:xfrm>
              <a:off x="6248400" y="4200525"/>
              <a:ext cx="800100" cy="20955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6579537" y="4254341"/>
              <a:ext cx="137825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L2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609600" y="4667250"/>
            <a:ext cx="6591300" cy="571500"/>
            <a:chOff x="609600" y="4667250"/>
            <a:chExt cx="6591300" cy="571500"/>
          </a:xfrm>
        </p:grpSpPr>
        <p:sp>
          <p:nvSpPr>
            <p:cNvPr id="36" name="Rectangle 36"/>
            <p:cNvSpPr/>
            <p:nvPr/>
          </p:nvSpPr>
          <p:spPr>
            <a:xfrm>
              <a:off x="609600" y="4667250"/>
              <a:ext cx="6591300" cy="571500"/>
            </a:xfrm>
            <a:prstGeom prst="roundRect">
              <a:avLst>
                <a:gd name="adj" fmla="val 1333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94766" y="4896802"/>
              <a:ext cx="543855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SR 验收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1900238" y="4912995"/>
              <a:ext cx="29730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汇总验收报告：覆盖、通过率、遗留风险；人签认</a:t>
              </a:r>
            </a:p>
          </p:txBody>
        </p:sp>
        <p:sp>
          <p:nvSpPr>
            <p:cNvPr id="39" name="Rectangle 39"/>
            <p:cNvSpPr/>
            <p:nvPr/>
          </p:nvSpPr>
          <p:spPr>
            <a:xfrm>
              <a:off x="6248400" y="4848225"/>
              <a:ext cx="800100" cy="209550"/>
            </a:xfrm>
            <a:prstGeom prst="roundRect">
              <a:avLst>
                <a:gd name="adj" fmla="val 50000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40" name="TextBox 40"/>
            <p:cNvSpPr txBox="1"/>
            <p:nvPr/>
          </p:nvSpPr>
          <p:spPr>
            <a:xfrm>
              <a:off x="6448321" y="4902041"/>
              <a:ext cx="40025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82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L3 · G7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429500" y="1428750"/>
            <a:ext cx="4152900" cy="1047750"/>
            <a:chOff x="7429500" y="1428750"/>
            <a:chExt cx="4152900" cy="1047750"/>
          </a:xfrm>
        </p:grpSpPr>
        <p:sp>
          <p:nvSpPr>
            <p:cNvPr id="42" name="Rectangle 42"/>
            <p:cNvSpPr/>
            <p:nvPr/>
          </p:nvSpPr>
          <p:spPr>
            <a:xfrm>
              <a:off x="7429500" y="1428750"/>
              <a:ext cx="4152900" cy="10477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7646670" y="1624012"/>
              <a:ext cx="611234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30%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653338" y="2017395"/>
              <a:ext cx="13262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回归测试被 agent 替代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653338" y="2215991"/>
              <a:ext cx="243807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腾讯某团队实践；探索性与兼容性测试替代率更高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7429500" y="2590800"/>
            <a:ext cx="4152900" cy="1047750"/>
            <a:chOff x="7429500" y="2590800"/>
            <a:chExt cx="4152900" cy="1047750"/>
          </a:xfrm>
        </p:grpSpPr>
        <p:sp>
          <p:nvSpPr>
            <p:cNvPr id="47" name="Rectangle 47"/>
            <p:cNvSpPr/>
            <p:nvPr/>
          </p:nvSpPr>
          <p:spPr>
            <a:xfrm>
              <a:off x="7429500" y="2590800"/>
              <a:ext cx="4152900" cy="10477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7648194" y="2818448"/>
              <a:ext cx="1632274" cy="38138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95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3 天 → 8 小时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7653338" y="3179445"/>
              <a:ext cx="7728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回归周期压缩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653338" y="3378041"/>
              <a:ext cx="232768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版本构建后自动触发分层执行，失败带日志切片</a:t>
              </a:r>
            </a:p>
          </p:txBody>
        </p:sp>
      </p:grpSp>
      <p:grpSp>
        <p:nvGrpSpPr>
          <p:cNvPr id="56" name="Group 56"/>
          <p:cNvGrpSpPr/>
          <p:nvPr/>
        </p:nvGrpSpPr>
        <p:grpSpPr>
          <a:xfrm>
            <a:off x="7429500" y="3752850"/>
            <a:ext cx="4152900" cy="1047750"/>
            <a:chOff x="7429500" y="3752850"/>
            <a:chExt cx="4152900" cy="1047750"/>
          </a:xfrm>
        </p:grpSpPr>
        <p:sp>
          <p:nvSpPr>
            <p:cNvPr id="52" name="Rectangle 52"/>
            <p:cNvSpPr/>
            <p:nvPr/>
          </p:nvSpPr>
          <p:spPr>
            <a:xfrm>
              <a:off x="7429500" y="3752850"/>
              <a:ext cx="4152900" cy="1047750"/>
            </a:xfrm>
            <a:prstGeom prst="roundRect">
              <a:avLst>
                <a:gd name="adj" fmla="val 9091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7646670" y="3948112"/>
              <a:ext cx="786155" cy="44005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2250" b="1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60%+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653338" y="4341495"/>
              <a:ext cx="90003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用例自动生成率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7653338" y="4540091"/>
              <a:ext cx="193028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前提是建好"生成 — 评审 — 自进化"闭环</a:t>
              </a:r>
            </a:p>
          </p:txBody>
        </p:sp>
      </p:grpSp>
      <p:grpSp>
        <p:nvGrpSpPr>
          <p:cNvPr id="59" name="Group 59"/>
          <p:cNvGrpSpPr/>
          <p:nvPr/>
        </p:nvGrpSpPr>
        <p:grpSpPr>
          <a:xfrm>
            <a:off x="7429500" y="4914900"/>
            <a:ext cx="4152900" cy="381000"/>
            <a:chOff x="7429500" y="4914900"/>
            <a:chExt cx="4152900" cy="381000"/>
          </a:xfrm>
        </p:grpSpPr>
        <p:sp>
          <p:nvSpPr>
            <p:cNvPr id="57" name="Rectangle 57"/>
            <p:cNvSpPr/>
            <p:nvPr/>
          </p:nvSpPr>
          <p:spPr>
            <a:xfrm>
              <a:off x="7429500" y="4914900"/>
              <a:ext cx="4152900" cy="381000"/>
            </a:xfrm>
            <a:prstGeom prst="roundRect">
              <a:avLst>
                <a:gd name="adj" fmla="val 2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58" name="TextBox 58"/>
            <p:cNvSpPr txBox="1"/>
            <p:nvPr/>
          </p:nvSpPr>
          <p:spPr>
            <a:xfrm>
              <a:off x="8256289" y="5055870"/>
              <a:ext cx="249932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30%–60% 是现实起步区间，不追求一步全自动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609600" y="5524500"/>
            <a:ext cx="10972800" cy="533400"/>
            <a:chOff x="609600" y="5524500"/>
            <a:chExt cx="10972800" cy="533400"/>
          </a:xfrm>
        </p:grpSpPr>
        <p:sp>
          <p:nvSpPr>
            <p:cNvPr id="60" name="Rectangle 60"/>
            <p:cNvSpPr/>
            <p:nvPr/>
          </p:nvSpPr>
          <p:spPr>
            <a:xfrm>
              <a:off x="609600" y="5524500"/>
              <a:ext cx="10972800" cy="533400"/>
            </a:xfrm>
            <a:prstGeom prst="roundRect">
              <a:avLst>
                <a:gd name="adj" fmla="val 17857"/>
              </a:avLst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61" name="TextBox 61"/>
            <p:cNvSpPr txBox="1"/>
            <p:nvPr/>
          </p:nvSpPr>
          <p:spPr>
            <a:xfrm>
              <a:off x="2760116" y="5735002"/>
              <a:ext cx="667176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测试工程师的新四件事：测试策略与风险地图 · AI 生成资产评审与缺陷标注 · 探索性测试 · 验收签认</a:t>
              </a:r>
            </a:p>
          </p:txBody>
        </p:sp>
      </p:grpSp>
      <p:grpSp>
        <p:nvGrpSpPr>
          <p:cNvPr id="65" name="Group 65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63" name="TextBox 63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64" name="TextBox 64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08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5568711" cy="638746"/>
            <a:chOff x="598551" y="504349"/>
            <a:chExt cx="5568711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1959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08 · 端到端门禁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5568711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九道门禁：前序问题不收敛，后续不启动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1466850" y="2524125"/>
            <a:ext cx="9296400" cy="95250"/>
            <a:chOff x="1466850" y="2524125"/>
            <a:chExt cx="9296400" cy="95250"/>
          </a:xfrm>
        </p:grpSpPr>
        <p:sp>
          <p:nvSpPr>
            <p:cNvPr id="6" name="Line 6"/>
            <p:cNvSpPr/>
            <p:nvPr/>
          </p:nvSpPr>
          <p:spPr>
            <a:xfrm>
              <a:off x="1466850" y="25717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rgbClr val="8A93A3"/>
              </a:solidFill>
            </a:ln>
          </p:spPr>
        </p:sp>
        <p:sp>
          <p:nvSpPr>
            <p:cNvPr id="7" name="Polygon 7"/>
            <p:cNvSpPr/>
            <p:nvPr/>
          </p:nvSpPr>
          <p:spPr>
            <a:xfrm>
              <a:off x="2133600" y="2524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8A93A3"/>
            </a:solidFill>
            <a:ln>
              <a:noFill/>
            </a:ln>
          </p:spPr>
        </p:sp>
        <p:sp>
          <p:nvSpPr>
            <p:cNvPr id="8" name="Line 8"/>
            <p:cNvSpPr/>
            <p:nvPr/>
          </p:nvSpPr>
          <p:spPr>
            <a:xfrm>
              <a:off x="2686050" y="25717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rgbClr val="8A93A3"/>
              </a:solidFill>
            </a:ln>
          </p:spPr>
        </p:sp>
        <p:sp>
          <p:nvSpPr>
            <p:cNvPr id="9" name="Polygon 9"/>
            <p:cNvSpPr/>
            <p:nvPr/>
          </p:nvSpPr>
          <p:spPr>
            <a:xfrm>
              <a:off x="3352800" y="2524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8A93A3"/>
            </a:solidFill>
            <a:ln>
              <a:noFill/>
            </a:ln>
          </p:spPr>
        </p:sp>
        <p:sp>
          <p:nvSpPr>
            <p:cNvPr id="10" name="Line 10"/>
            <p:cNvSpPr/>
            <p:nvPr/>
          </p:nvSpPr>
          <p:spPr>
            <a:xfrm>
              <a:off x="3905250" y="25717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rgbClr val="8A93A3"/>
              </a:solidFill>
            </a:ln>
          </p:spPr>
        </p:sp>
        <p:sp>
          <p:nvSpPr>
            <p:cNvPr id="11" name="Polygon 11"/>
            <p:cNvSpPr/>
            <p:nvPr/>
          </p:nvSpPr>
          <p:spPr>
            <a:xfrm>
              <a:off x="4572000" y="2524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8A93A3"/>
            </a:solidFill>
            <a:ln>
              <a:noFill/>
            </a:ln>
          </p:spPr>
        </p:sp>
        <p:sp>
          <p:nvSpPr>
            <p:cNvPr id="12" name="Line 12"/>
            <p:cNvSpPr/>
            <p:nvPr/>
          </p:nvSpPr>
          <p:spPr>
            <a:xfrm>
              <a:off x="5124450" y="25717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rgbClr val="8A93A3"/>
              </a:solidFill>
            </a:ln>
          </p:spPr>
        </p:sp>
        <p:sp>
          <p:nvSpPr>
            <p:cNvPr id="13" name="Polygon 13"/>
            <p:cNvSpPr/>
            <p:nvPr/>
          </p:nvSpPr>
          <p:spPr>
            <a:xfrm>
              <a:off x="5791200" y="2524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8A93A3"/>
            </a:solidFill>
            <a:ln>
              <a:noFill/>
            </a:ln>
          </p:spPr>
        </p:sp>
        <p:sp>
          <p:nvSpPr>
            <p:cNvPr id="14" name="Line 14"/>
            <p:cNvSpPr/>
            <p:nvPr/>
          </p:nvSpPr>
          <p:spPr>
            <a:xfrm>
              <a:off x="6343650" y="25717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rgbClr val="8A93A3"/>
              </a:solidFill>
            </a:ln>
          </p:spPr>
        </p:sp>
        <p:sp>
          <p:nvSpPr>
            <p:cNvPr id="15" name="Polygon 15"/>
            <p:cNvSpPr/>
            <p:nvPr/>
          </p:nvSpPr>
          <p:spPr>
            <a:xfrm>
              <a:off x="7010400" y="2524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8A93A3"/>
            </a:solidFill>
            <a:ln>
              <a:noFill/>
            </a:ln>
          </p:spPr>
        </p:sp>
        <p:sp>
          <p:nvSpPr>
            <p:cNvPr id="16" name="Line 16"/>
            <p:cNvSpPr/>
            <p:nvPr/>
          </p:nvSpPr>
          <p:spPr>
            <a:xfrm>
              <a:off x="7562850" y="25717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rgbClr val="8A93A3"/>
              </a:solidFill>
            </a:ln>
          </p:spPr>
        </p:sp>
        <p:sp>
          <p:nvSpPr>
            <p:cNvPr id="17" name="Polygon 17"/>
            <p:cNvSpPr/>
            <p:nvPr/>
          </p:nvSpPr>
          <p:spPr>
            <a:xfrm>
              <a:off x="8229600" y="2524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8A93A3"/>
            </a:solidFill>
            <a:ln>
              <a:noFill/>
            </a:ln>
          </p:spPr>
        </p:sp>
        <p:sp>
          <p:nvSpPr>
            <p:cNvPr id="18" name="Line 18"/>
            <p:cNvSpPr/>
            <p:nvPr/>
          </p:nvSpPr>
          <p:spPr>
            <a:xfrm>
              <a:off x="8782050" y="25717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rgbClr val="8A93A3"/>
              </a:solidFill>
            </a:ln>
          </p:spPr>
        </p:sp>
        <p:sp>
          <p:nvSpPr>
            <p:cNvPr id="19" name="Polygon 19"/>
            <p:cNvSpPr/>
            <p:nvPr/>
          </p:nvSpPr>
          <p:spPr>
            <a:xfrm>
              <a:off x="9448800" y="2524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8A93A3"/>
            </a:solidFill>
            <a:ln>
              <a:noFill/>
            </a:ln>
          </p:spPr>
        </p:sp>
        <p:sp>
          <p:nvSpPr>
            <p:cNvPr id="20" name="Line 20"/>
            <p:cNvSpPr/>
            <p:nvPr/>
          </p:nvSpPr>
          <p:spPr>
            <a:xfrm>
              <a:off x="10001250" y="2571750"/>
              <a:ext cx="685800" cy="9525"/>
            </a:xfrm>
            <a:custGeom>
              <a:avLst/>
              <a:gdLst/>
              <a:ahLst/>
              <a:cxnLst/>
              <a:rect l="l" t="t" r="r" b="b"/>
              <a:pathLst>
                <a:path w="685800" h="9525">
                  <a:moveTo>
                    <a:pt x="0" y="0"/>
                  </a:moveTo>
                  <a:lnTo>
                    <a:pt x="685800" y="0"/>
                  </a:lnTo>
                </a:path>
              </a:pathLst>
            </a:custGeom>
            <a:noFill/>
            <a:ln w="19050">
              <a:solidFill>
                <a:srgbClr val="8A93A3"/>
              </a:solidFill>
            </a:ln>
          </p:spPr>
        </p:sp>
        <p:sp>
          <p:nvSpPr>
            <p:cNvPr id="21" name="Polygon 21"/>
            <p:cNvSpPr/>
            <p:nvPr/>
          </p:nvSpPr>
          <p:spPr>
            <a:xfrm>
              <a:off x="10668000" y="2524125"/>
              <a:ext cx="95250" cy="95250"/>
            </a:xfrm>
            <a:custGeom>
              <a:avLst/>
              <a:gdLst/>
              <a:ahLst/>
              <a:cxnLst/>
              <a:rect l="l" t="t" r="r" b="b"/>
              <a:pathLst>
                <a:path w="95250" h="95250">
                  <a:moveTo>
                    <a:pt x="95250" y="47625"/>
                  </a:moveTo>
                  <a:lnTo>
                    <a:pt x="0" y="0"/>
                  </a:lnTo>
                  <a:lnTo>
                    <a:pt x="0" y="95250"/>
                  </a:lnTo>
                  <a:close/>
                </a:path>
              </a:pathLst>
            </a:custGeom>
            <a:solidFill>
              <a:srgbClr val="8A93A3"/>
            </a:solidFill>
            <a:ln>
              <a:noFill/>
            </a:ln>
          </p:spPr>
        </p:sp>
      </p:grpSp>
      <p:grpSp>
        <p:nvGrpSpPr>
          <p:cNvPr id="27" name="Group 27"/>
          <p:cNvGrpSpPr/>
          <p:nvPr/>
        </p:nvGrpSpPr>
        <p:grpSpPr>
          <a:xfrm>
            <a:off x="960006" y="2324100"/>
            <a:ext cx="518389" cy="981076"/>
            <a:chOff x="960006" y="2324100"/>
            <a:chExt cx="518389" cy="981076"/>
          </a:xfrm>
        </p:grpSpPr>
        <p:sp>
          <p:nvSpPr>
            <p:cNvPr id="23" name="Ellipse 23"/>
            <p:cNvSpPr/>
            <p:nvPr/>
          </p:nvSpPr>
          <p:spPr>
            <a:xfrm>
              <a:off x="971550" y="2324100"/>
              <a:ext cx="495300" cy="49530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11276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G0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960006" y="29698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需求准入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1012508" y="3157538"/>
              <a:ext cx="41338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歧义闭环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2051990" y="2324100"/>
            <a:ext cx="772820" cy="981076"/>
            <a:chOff x="2051990" y="2324100"/>
            <a:chExt cx="772820" cy="981076"/>
          </a:xfrm>
        </p:grpSpPr>
        <p:sp>
          <p:nvSpPr>
            <p:cNvPr id="28" name="Ellipse 28"/>
            <p:cNvSpPr/>
            <p:nvPr/>
          </p:nvSpPr>
          <p:spPr>
            <a:xfrm>
              <a:off x="2190750" y="2324100"/>
              <a:ext cx="495300" cy="49530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23468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R1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051990" y="2969895"/>
              <a:ext cx="7728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需求分析评审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2173653" y="3157538"/>
              <a:ext cx="52949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分解 + 追溯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3271190" y="2324100"/>
            <a:ext cx="772820" cy="981076"/>
            <a:chOff x="3271190" y="2324100"/>
            <a:chExt cx="772820" cy="981076"/>
          </a:xfrm>
        </p:grpSpPr>
        <p:sp>
          <p:nvSpPr>
            <p:cNvPr id="33" name="Ellipse 33"/>
            <p:cNvSpPr/>
            <p:nvPr/>
          </p:nvSpPr>
          <p:spPr>
            <a:xfrm>
              <a:off x="3409950" y="2324100"/>
              <a:ext cx="495300" cy="49530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35660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R2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3271190" y="2969895"/>
              <a:ext cx="7728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功能设计评审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3342370" y="3157538"/>
              <a:ext cx="63046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契约 + 状态机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4461320" y="2324100"/>
            <a:ext cx="830961" cy="981076"/>
            <a:chOff x="4461320" y="2324100"/>
            <a:chExt cx="830961" cy="981076"/>
          </a:xfrm>
        </p:grpSpPr>
        <p:sp>
          <p:nvSpPr>
            <p:cNvPr id="38" name="Ellipse 38"/>
            <p:cNvSpPr/>
            <p:nvPr/>
          </p:nvSpPr>
          <p:spPr>
            <a:xfrm>
              <a:off x="4629150" y="2324100"/>
              <a:ext cx="495300" cy="495300"/>
            </a:xfrm>
            <a:prstGeom prst="ellipse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7852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S1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4509112" y="2969895"/>
              <a:ext cx="73537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AR 规格评审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4461320" y="3157538"/>
              <a:ext cx="830961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开发起草 SE 会签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5709590" y="2324100"/>
            <a:ext cx="772820" cy="981076"/>
            <a:chOff x="5709590" y="2324100"/>
            <a:chExt cx="772820" cy="981076"/>
          </a:xfrm>
        </p:grpSpPr>
        <p:sp>
          <p:nvSpPr>
            <p:cNvPr id="43" name="Ellipse 43"/>
            <p:cNvSpPr/>
            <p:nvPr/>
          </p:nvSpPr>
          <p:spPr>
            <a:xfrm>
              <a:off x="5848350" y="2324100"/>
              <a:ext cx="495300" cy="495300"/>
            </a:xfrm>
            <a:prstGeom prst="ellipse">
              <a:avLst/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60044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R3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5709590" y="2969895"/>
              <a:ext cx="7728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实现设计评审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5838825" y="3157538"/>
              <a:ext cx="51435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安全项上抛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010067" y="2324100"/>
            <a:ext cx="610267" cy="981076"/>
            <a:chOff x="7010067" y="2324100"/>
            <a:chExt cx="610267" cy="981076"/>
          </a:xfrm>
        </p:grpSpPr>
        <p:sp>
          <p:nvSpPr>
            <p:cNvPr id="48" name="Ellipse 48"/>
            <p:cNvSpPr/>
            <p:nvPr/>
          </p:nvSpPr>
          <p:spPr>
            <a:xfrm>
              <a:off x="7067550" y="2324100"/>
              <a:ext cx="495300" cy="495300"/>
            </a:xfrm>
            <a:prstGeom prst="ellipse">
              <a:avLst/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49" name="TextBox 49"/>
            <p:cNvSpPr txBox="1"/>
            <p:nvPr/>
          </p:nvSpPr>
          <p:spPr>
            <a:xfrm>
              <a:off x="72236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R4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7056006" y="29698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代码评审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010067" y="3157538"/>
              <a:ext cx="610267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critical 清零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8147990" y="2324100"/>
            <a:ext cx="772820" cy="981076"/>
            <a:chOff x="8147990" y="2324100"/>
            <a:chExt cx="772820" cy="981076"/>
          </a:xfrm>
        </p:grpSpPr>
        <p:sp>
          <p:nvSpPr>
            <p:cNvPr id="53" name="Ellipse 53"/>
            <p:cNvSpPr/>
            <p:nvPr/>
          </p:nvSpPr>
          <p:spPr>
            <a:xfrm>
              <a:off x="8286750" y="2324100"/>
              <a:ext cx="495300" cy="495300"/>
            </a:xfrm>
            <a:prstGeom prst="ellipse">
              <a:avLst/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54" name="TextBox 54"/>
            <p:cNvSpPr txBox="1"/>
            <p:nvPr/>
          </p:nvSpPr>
          <p:spPr>
            <a:xfrm>
              <a:off x="84428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T1</a:t>
              </a:r>
            </a:p>
          </p:txBody>
        </p:sp>
        <p:sp>
          <p:nvSpPr>
            <p:cNvPr id="55" name="TextBox 55"/>
            <p:cNvSpPr txBox="1"/>
            <p:nvPr/>
          </p:nvSpPr>
          <p:spPr>
            <a:xfrm>
              <a:off x="8147990" y="2969895"/>
              <a:ext cx="77282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测试规格评审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327708" y="3157538"/>
              <a:ext cx="41338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覆盖策略</a:t>
              </a:r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9494406" y="2324100"/>
            <a:ext cx="518389" cy="981076"/>
            <a:chOff x="9494406" y="2324100"/>
            <a:chExt cx="518389" cy="981076"/>
          </a:xfrm>
        </p:grpSpPr>
        <p:sp>
          <p:nvSpPr>
            <p:cNvPr id="58" name="Ellipse 58"/>
            <p:cNvSpPr/>
            <p:nvPr/>
          </p:nvSpPr>
          <p:spPr>
            <a:xfrm>
              <a:off x="9505950" y="2324100"/>
              <a:ext cx="495300" cy="495300"/>
            </a:xfrm>
            <a:prstGeom prst="ellipse">
              <a:avLst/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59" name="TextBox 59"/>
            <p:cNvSpPr txBox="1"/>
            <p:nvPr/>
          </p:nvSpPr>
          <p:spPr>
            <a:xfrm>
              <a:off x="96620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T2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9494406" y="29698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执行门禁</a:t>
              </a:r>
            </a:p>
          </p:txBody>
        </p:sp>
        <p:sp>
          <p:nvSpPr>
            <p:cNvPr id="61" name="TextBox 61"/>
            <p:cNvSpPr txBox="1"/>
            <p:nvPr/>
          </p:nvSpPr>
          <p:spPr>
            <a:xfrm>
              <a:off x="9546908" y="3157538"/>
              <a:ext cx="41338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分层全绿</a:t>
              </a:r>
            </a:p>
          </p:txBody>
        </p:sp>
      </p:grpSp>
      <p:grpSp>
        <p:nvGrpSpPr>
          <p:cNvPr id="67" name="Group 67"/>
          <p:cNvGrpSpPr/>
          <p:nvPr/>
        </p:nvGrpSpPr>
        <p:grpSpPr>
          <a:xfrm>
            <a:off x="10605112" y="2324100"/>
            <a:ext cx="735376" cy="981076"/>
            <a:chOff x="10605112" y="2324100"/>
            <a:chExt cx="735376" cy="981076"/>
          </a:xfrm>
        </p:grpSpPr>
        <p:sp>
          <p:nvSpPr>
            <p:cNvPr id="63" name="Ellipse 63"/>
            <p:cNvSpPr/>
            <p:nvPr/>
          </p:nvSpPr>
          <p:spPr>
            <a:xfrm>
              <a:off x="10725150" y="2324100"/>
              <a:ext cx="495300" cy="49530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64" name="TextBox 64"/>
            <p:cNvSpPr txBox="1"/>
            <p:nvPr/>
          </p:nvSpPr>
          <p:spPr>
            <a:xfrm>
              <a:off x="10881215" y="2506028"/>
              <a:ext cx="18317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en-US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G7</a:t>
              </a:r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10605112" y="2969895"/>
              <a:ext cx="73537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SR 验收签认</a:t>
              </a:r>
            </a:p>
          </p:txBody>
        </p:sp>
        <p:sp>
          <p:nvSpPr>
            <p:cNvPr id="66" name="TextBox 66"/>
            <p:cNvSpPr txBox="1"/>
            <p:nvPr/>
          </p:nvSpPr>
          <p:spPr>
            <a:xfrm>
              <a:off x="10816590" y="3157538"/>
              <a:ext cx="312420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人签认</a:t>
              </a:r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1457325" y="3886200"/>
            <a:ext cx="9290419" cy="193357"/>
            <a:chOff x="1457325" y="3886200"/>
            <a:chExt cx="9290419" cy="193357"/>
          </a:xfrm>
        </p:grpSpPr>
        <p:sp>
          <p:nvSpPr>
            <p:cNvPr id="68" name="Ellipse 68"/>
            <p:cNvSpPr/>
            <p:nvPr/>
          </p:nvSpPr>
          <p:spPr>
            <a:xfrm>
              <a:off x="1457325" y="3886200"/>
              <a:ext cx="133350" cy="133350"/>
            </a:xfrm>
            <a:prstGeom prst="ellipse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69" name="TextBox 69"/>
            <p:cNvSpPr txBox="1"/>
            <p:nvPr/>
          </p:nvSpPr>
          <p:spPr>
            <a:xfrm>
              <a:off x="1671638" y="3903345"/>
              <a:ext cx="15585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人必须到场的签字点（L3）</a:t>
              </a:r>
            </a:p>
          </p:txBody>
        </p:sp>
        <p:sp>
          <p:nvSpPr>
            <p:cNvPr id="70" name="Ellipse 70"/>
            <p:cNvSpPr/>
            <p:nvPr/>
          </p:nvSpPr>
          <p:spPr>
            <a:xfrm>
              <a:off x="4505325" y="3886200"/>
              <a:ext cx="133350" cy="133350"/>
            </a:xfrm>
            <a:prstGeom prst="ellipse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71" name="TextBox 71"/>
            <p:cNvSpPr txBox="1"/>
            <p:nvPr/>
          </p:nvSpPr>
          <p:spPr>
            <a:xfrm>
              <a:off x="4719638" y="3903345"/>
              <a:ext cx="3052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轻量确认门禁：可异步，Open Questions 未闭环不放行</a:t>
              </a:r>
            </a:p>
          </p:txBody>
        </p:sp>
        <p:sp>
          <p:nvSpPr>
            <p:cNvPr id="72" name="Ellipse 72"/>
            <p:cNvSpPr/>
            <p:nvPr/>
          </p:nvSpPr>
          <p:spPr>
            <a:xfrm>
              <a:off x="9077325" y="3886200"/>
              <a:ext cx="133350" cy="133350"/>
            </a:xfrm>
            <a:prstGeom prst="ellipse">
              <a:avLst/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73" name="TextBox 73"/>
            <p:cNvSpPr txBox="1"/>
            <p:nvPr/>
          </p:nvSpPr>
          <p:spPr>
            <a:xfrm>
              <a:off x="9291638" y="3903345"/>
              <a:ext cx="14561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全量检查 + 人聚焦例外</a:t>
              </a:r>
            </a:p>
          </p:txBody>
        </p:sp>
      </p:grpSp>
      <p:grpSp>
        <p:nvGrpSpPr>
          <p:cNvPr id="80" name="Group 80"/>
          <p:cNvGrpSpPr/>
          <p:nvPr/>
        </p:nvGrpSpPr>
        <p:grpSpPr>
          <a:xfrm>
            <a:off x="609600" y="4572000"/>
            <a:ext cx="10972800" cy="952500"/>
            <a:chOff x="609600" y="4572000"/>
            <a:chExt cx="10972800" cy="952500"/>
          </a:xfrm>
        </p:grpSpPr>
        <p:sp>
          <p:nvSpPr>
            <p:cNvPr id="75" name="Rectangle 75"/>
            <p:cNvSpPr/>
            <p:nvPr/>
          </p:nvSpPr>
          <p:spPr>
            <a:xfrm>
              <a:off x="609600" y="4572000"/>
              <a:ext cx="10972800" cy="952500"/>
            </a:xfrm>
            <a:prstGeom prst="roundRect">
              <a:avLst>
                <a:gd name="adj" fmla="val 100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6" name="Rectangle 76"/>
            <p:cNvSpPr/>
            <p:nvPr/>
          </p:nvSpPr>
          <p:spPr>
            <a:xfrm>
              <a:off x="609600" y="4572000"/>
              <a:ext cx="47625" cy="9525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77" name="TextBox 77"/>
            <p:cNvSpPr txBox="1"/>
            <p:nvPr/>
          </p:nvSpPr>
          <p:spPr>
            <a:xfrm>
              <a:off x="870966" y="4763452"/>
              <a:ext cx="259819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门禁记录自动落盘 = ASPICE 审计证据</a:t>
              </a:r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871347" y="5019199"/>
              <a:ext cx="370387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谁、何时、基于什么版本、审了什么、结论是什么，全部留痕。</a:t>
              </a:r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871347" y="5228749"/>
              <a:ext cx="704239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评审会前置 AI 预评审报告（自动检查发现、追溯缺口、高风险变更点），会议时间只讨论判断题，不用来读文档。</a:t>
              </a:r>
            </a:p>
          </p:txBody>
        </p:sp>
      </p:grpSp>
      <p:grpSp>
        <p:nvGrpSpPr>
          <p:cNvPr id="83" name="Group 83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81" name="TextBox 81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82" name="TextBox 82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09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2675635" cy="638746"/>
            <a:chOff x="598551" y="504349"/>
            <a:chExt cx="2675635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037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09 · 平台支撑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2675635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AI 产线的五层架构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2" name="Group 12"/>
          <p:cNvGrpSpPr/>
          <p:nvPr/>
        </p:nvGrpSpPr>
        <p:grpSpPr>
          <a:xfrm>
            <a:off x="609600" y="1428750"/>
            <a:ext cx="7048500" cy="762000"/>
            <a:chOff x="609600" y="1428750"/>
            <a:chExt cx="7048500" cy="7620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7048500" cy="7620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428750"/>
              <a:ext cx="57150" cy="762000"/>
            </a:xfrm>
            <a:prstGeom prst="rect">
              <a:avLst/>
            </a:prstGeom>
            <a:solidFill>
              <a:srgbClr val="B3392E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870585" y="1612106"/>
              <a:ext cx="961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评估与度量层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71538" y="1884045"/>
              <a:ext cx="32227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对 AI 产出建评估基线（EDD），低于基线自动阻断并告警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5715000" y="1695450"/>
              <a:ext cx="1714500" cy="2476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5966808" y="1768316"/>
              <a:ext cx="121088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质量工程师 + AI 平台组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609600" y="2286000"/>
            <a:ext cx="7048500" cy="762000"/>
            <a:chOff x="609600" y="2286000"/>
            <a:chExt cx="7048500" cy="762000"/>
          </a:xfrm>
        </p:grpSpPr>
        <p:sp>
          <p:nvSpPr>
            <p:cNvPr id="13" name="Rectangle 13"/>
            <p:cNvSpPr/>
            <p:nvPr/>
          </p:nvSpPr>
          <p:spPr>
            <a:xfrm>
              <a:off x="609600" y="2286000"/>
              <a:ext cx="7048500" cy="7620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14" name="Rectangle 14"/>
            <p:cNvSpPr/>
            <p:nvPr/>
          </p:nvSpPr>
          <p:spPr>
            <a:xfrm>
              <a:off x="609600" y="2286000"/>
              <a:ext cx="57150" cy="762000"/>
            </a:xfrm>
            <a:prstGeom prst="rect">
              <a:avLst/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870585" y="2469356"/>
              <a:ext cx="48636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治理层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871538" y="2741295"/>
              <a:ext cx="361317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网关：模型路由、权限、成本管控、敏感信息过滤、操作留痕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5715000" y="2552700"/>
              <a:ext cx="1714500" cy="2476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6325466" y="2625566"/>
              <a:ext cx="49356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平台组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09600" y="3143250"/>
            <a:ext cx="7048500" cy="762000"/>
            <a:chOff x="609600" y="3143250"/>
            <a:chExt cx="7048500" cy="762000"/>
          </a:xfrm>
        </p:grpSpPr>
        <p:sp>
          <p:nvSpPr>
            <p:cNvPr id="20" name="Rectangle 20"/>
            <p:cNvSpPr/>
            <p:nvPr/>
          </p:nvSpPr>
          <p:spPr>
            <a:xfrm>
              <a:off x="609600" y="3143250"/>
              <a:ext cx="7048500" cy="7620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1" name="Rectangle 21"/>
            <p:cNvSpPr/>
            <p:nvPr/>
          </p:nvSpPr>
          <p:spPr>
            <a:xfrm>
              <a:off x="609600" y="3143250"/>
              <a:ext cx="57150" cy="7620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870585" y="3326606"/>
              <a:ext cx="98006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Agent 编排层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871538" y="3598545"/>
              <a:ext cx="308088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各节点工作流定义、子 agent 作者隔离、人工确认点配置</a:t>
              </a:r>
            </a:p>
          </p:txBody>
        </p:sp>
        <p:sp>
          <p:nvSpPr>
            <p:cNvPr id="24" name="Rectangle 24"/>
            <p:cNvSpPr/>
            <p:nvPr/>
          </p:nvSpPr>
          <p:spPr>
            <a:xfrm>
              <a:off x="5715000" y="3409950"/>
              <a:ext cx="1714500" cy="2476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6325466" y="3482816"/>
              <a:ext cx="49356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平台组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9600" y="4000500"/>
            <a:ext cx="7048500" cy="762000"/>
            <a:chOff x="609600" y="4000500"/>
            <a:chExt cx="7048500" cy="762000"/>
          </a:xfrm>
        </p:grpSpPr>
        <p:sp>
          <p:nvSpPr>
            <p:cNvPr id="27" name="Rectangle 27"/>
            <p:cNvSpPr/>
            <p:nvPr/>
          </p:nvSpPr>
          <p:spPr>
            <a:xfrm>
              <a:off x="609600" y="4000500"/>
              <a:ext cx="7048500" cy="7620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4000500"/>
              <a:ext cx="57150" cy="7620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70585" y="4183856"/>
              <a:ext cx="961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知识与技能层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71538" y="4455795"/>
              <a:ext cx="38628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知识库（RAG 检索）+ 技能包（流程 / 编码规范 / 车载等领域约束）</a:t>
              </a:r>
            </a:p>
          </p:txBody>
        </p:sp>
        <p:sp>
          <p:nvSpPr>
            <p:cNvPr id="31" name="Rectangle 31"/>
            <p:cNvSpPr/>
            <p:nvPr/>
          </p:nvSpPr>
          <p:spPr>
            <a:xfrm>
              <a:off x="5715000" y="4267200"/>
              <a:ext cx="1714500" cy="2476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6062461" y="4340066"/>
              <a:ext cx="10195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知识工程师 + 各小队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9600" y="4857750"/>
            <a:ext cx="7048500" cy="762000"/>
            <a:chOff x="609600" y="4857750"/>
            <a:chExt cx="7048500" cy="762000"/>
          </a:xfrm>
        </p:grpSpPr>
        <p:sp>
          <p:nvSpPr>
            <p:cNvPr id="34" name="Rectangle 34"/>
            <p:cNvSpPr/>
            <p:nvPr/>
          </p:nvSpPr>
          <p:spPr>
            <a:xfrm>
              <a:off x="609600" y="4857750"/>
              <a:ext cx="7048500" cy="7620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5" name="Rectangle 35"/>
            <p:cNvSpPr/>
            <p:nvPr/>
          </p:nvSpPr>
          <p:spPr>
            <a:xfrm>
              <a:off x="609600" y="4857750"/>
              <a:ext cx="57150" cy="762000"/>
            </a:xfrm>
            <a:prstGeom prst="rect">
              <a:avLst/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70585" y="5041106"/>
              <a:ext cx="80299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工具连接层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71538" y="5313045"/>
              <a:ext cx="344675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需求、代码仓、CI、测试管理、问题单系统全部 API / MCP 化</a:t>
              </a:r>
            </a:p>
          </p:txBody>
        </p:sp>
        <p:sp>
          <p:nvSpPr>
            <p:cNvPr id="38" name="Rectangle 38"/>
            <p:cNvSpPr/>
            <p:nvPr/>
          </p:nvSpPr>
          <p:spPr>
            <a:xfrm>
              <a:off x="5715000" y="5124450"/>
              <a:ext cx="1714500" cy="247650"/>
            </a:xfrm>
            <a:prstGeom prst="roundRect">
              <a:avLst>
                <a:gd name="adj" fmla="val 50000"/>
              </a:avLst>
            </a:prstGeom>
            <a:solidFill>
              <a:srgbClr val="EDEFF3"/>
            </a:solidFill>
            <a:ln>
              <a:noFill/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6325466" y="5197316"/>
              <a:ext cx="493568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82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平台组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7886700" y="1428750"/>
            <a:ext cx="3695700" cy="2667000"/>
            <a:chOff x="7886700" y="1428750"/>
            <a:chExt cx="3695700" cy="2667000"/>
          </a:xfrm>
        </p:grpSpPr>
        <p:sp>
          <p:nvSpPr>
            <p:cNvPr id="41" name="Rectangle 41"/>
            <p:cNvSpPr/>
            <p:nvPr/>
          </p:nvSpPr>
          <p:spPr>
            <a:xfrm>
              <a:off x="7886700" y="1428750"/>
              <a:ext cx="3695700" cy="2667000"/>
            </a:xfrm>
            <a:prstGeom prst="roundRect">
              <a:avLst>
                <a:gd name="adj" fmla="val 3571"/>
              </a:avLst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42" name="TextBox 42"/>
            <p:cNvSpPr txBox="1"/>
            <p:nvPr/>
          </p:nvSpPr>
          <p:spPr>
            <a:xfrm>
              <a:off x="8109585" y="1631156"/>
              <a:ext cx="961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自建还是采购</a:t>
              </a:r>
            </a:p>
          </p:txBody>
        </p:sp>
        <p:sp>
          <p:nvSpPr>
            <p:cNvPr id="43" name="Ellipse 43"/>
            <p:cNvSpPr/>
            <p:nvPr/>
          </p:nvSpPr>
          <p:spPr>
            <a:xfrm>
              <a:off x="8143875" y="2066925"/>
              <a:ext cx="95250" cy="95250"/>
            </a:xfrm>
            <a:prstGeom prst="ellipse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8338947" y="2056924"/>
              <a:ext cx="5640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必须自有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39138" y="2274570"/>
              <a:ext cx="158457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技能包、知识库（核心资产）</a:t>
              </a:r>
            </a:p>
          </p:txBody>
        </p:sp>
        <p:sp>
          <p:nvSpPr>
            <p:cNvPr id="46" name="Ellipse 46"/>
            <p:cNvSpPr/>
            <p:nvPr/>
          </p:nvSpPr>
          <p:spPr>
            <a:xfrm>
              <a:off x="8143875" y="2714625"/>
              <a:ext cx="95250" cy="95250"/>
            </a:xfrm>
            <a:prstGeom prst="ellipse">
              <a:avLst/>
            </a:prstGeom>
            <a:solidFill>
              <a:srgbClr val="2E7D6B"/>
            </a:solidFill>
            <a:ln>
              <a:noFill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8338947" y="2704624"/>
              <a:ext cx="8410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7FC8B2"/>
                  </a:solidFill>
                  <a:latin typeface="Microsoft YaHei"/>
                  <a:ea typeface="Microsoft YaHei"/>
                  <a:cs typeface="Microsoft YaHei"/>
                </a:rPr>
                <a:t>可用成熟平台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8339138" y="2922270"/>
              <a:ext cx="138844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AI 网关、agent 编排底座</a:t>
              </a:r>
            </a:p>
          </p:txBody>
        </p:sp>
        <p:sp>
          <p:nvSpPr>
            <p:cNvPr id="49" name="Ellipse 49"/>
            <p:cNvSpPr/>
            <p:nvPr/>
          </p:nvSpPr>
          <p:spPr>
            <a:xfrm>
              <a:off x="8143875" y="3362325"/>
              <a:ext cx="95250" cy="95250"/>
            </a:xfrm>
            <a:prstGeom prst="ellipse">
              <a:avLst/>
            </a:prstGeom>
            <a:solidFill>
              <a:srgbClr val="B3392E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8338947" y="3352324"/>
              <a:ext cx="5640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E89A8F"/>
                  </a:solidFill>
                  <a:latin typeface="Microsoft YaHei"/>
                  <a:ea typeface="Microsoft YaHei"/>
                  <a:cs typeface="Microsoft YaHei"/>
                </a:rPr>
                <a:t>不要自造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8339138" y="3569970"/>
              <a:ext cx="134226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模型网关（重复造轮子）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7886700" y="4286250"/>
            <a:ext cx="3695700" cy="1333500"/>
            <a:chOff x="7886700" y="4286250"/>
            <a:chExt cx="3695700" cy="1333500"/>
          </a:xfrm>
        </p:grpSpPr>
        <p:sp>
          <p:nvSpPr>
            <p:cNvPr id="53" name="Rectangle 53"/>
            <p:cNvSpPr/>
            <p:nvPr/>
          </p:nvSpPr>
          <p:spPr>
            <a:xfrm>
              <a:off x="7886700" y="4286250"/>
              <a:ext cx="36957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54" name="Rectangle 54"/>
            <p:cNvSpPr/>
            <p:nvPr/>
          </p:nvSpPr>
          <p:spPr>
            <a:xfrm>
              <a:off x="7886700" y="4286250"/>
              <a:ext cx="47625" cy="13335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55" name="TextBox 55"/>
            <p:cNvSpPr txBox="1"/>
            <p:nvPr/>
          </p:nvSpPr>
          <p:spPr>
            <a:xfrm>
              <a:off x="8109966" y="4496752"/>
              <a:ext cx="752761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一个硬标准</a:t>
              </a:r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8110538" y="4779645"/>
              <a:ext cx="2186940" cy="3857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agent 能读写真实系统：查需求、提代码、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跑流水线、提问题单，全程留痕。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8110538" y="5255895"/>
              <a:ext cx="12944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不做"截图式自动化"。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59" name="TextBox 59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10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4644276" cy="638746"/>
            <a:chOff x="598551" y="504349"/>
            <a:chExt cx="4644276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997269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10 · 与 IPD / 车领域兼容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4644276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文档体系：一个转变，三个不动摇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609600" y="1428750"/>
            <a:ext cx="5943600" cy="2571750"/>
            <a:chOff x="609600" y="1428750"/>
            <a:chExt cx="5943600" cy="257175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5943600" cy="2571750"/>
            </a:xfrm>
            <a:prstGeom prst="roundRect">
              <a:avLst>
                <a:gd name="adj" fmla="val 3704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2485" y="1631156"/>
              <a:ext cx="2734416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一个转变：从"写给人看"到"人机共读"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838200" y="1962150"/>
              <a:ext cx="1714500" cy="30480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508950" y="2065020"/>
              <a:ext cx="37299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结构化</a:t>
              </a:r>
            </a:p>
          </p:txBody>
        </p:sp>
        <p:sp>
          <p:nvSpPr>
            <p:cNvPr id="10" name="Rectangle 10"/>
            <p:cNvSpPr/>
            <p:nvPr/>
          </p:nvSpPr>
          <p:spPr>
            <a:xfrm>
              <a:off x="2667000" y="1962150"/>
              <a:ext cx="2095500" cy="30480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2882184" y="2065020"/>
              <a:ext cx="1665132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文本化（Markdown / YAML）</a:t>
              </a:r>
            </a:p>
          </p:txBody>
        </p:sp>
        <p:sp>
          <p:nvSpPr>
            <p:cNvPr id="12" name="Rectangle 12"/>
            <p:cNvSpPr/>
            <p:nvPr/>
          </p:nvSpPr>
          <p:spPr>
            <a:xfrm>
              <a:off x="4876800" y="1962150"/>
              <a:ext cx="1447800" cy="30480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5293042" y="2065020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进库版本化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38200" y="2362200"/>
              <a:ext cx="1714500" cy="30480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425054" y="2465070"/>
              <a:ext cx="54079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条目级 ID</a:t>
              </a:r>
            </a:p>
          </p:txBody>
        </p:sp>
        <p:sp>
          <p:nvSpPr>
            <p:cNvPr id="16" name="Rectangle 16"/>
            <p:cNvSpPr/>
            <p:nvPr/>
          </p:nvSpPr>
          <p:spPr>
            <a:xfrm>
              <a:off x="2667000" y="2362200"/>
              <a:ext cx="2476500" cy="304800"/>
            </a:xfrm>
            <a:prstGeom prst="roundRect">
              <a:avLst>
                <a:gd name="adj" fmla="val 50000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2943796" y="2465070"/>
              <a:ext cx="192290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图源码化（PlantUML / Mermaid）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833438" y="2931795"/>
              <a:ext cx="364426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机器可校验、可追溯、可检索，同时渲染成评审会需要的阅读形态；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33438" y="3141345"/>
              <a:ext cx="189269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Word / Excel 不再作为唯一载体。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33247" y="3552349"/>
              <a:ext cx="22200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文档的第一读者从人变成"人 + AI"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09600" y="4191000"/>
            <a:ext cx="5943600" cy="533400"/>
            <a:chOff x="609600" y="4191000"/>
            <a:chExt cx="5943600" cy="533400"/>
          </a:xfrm>
        </p:grpSpPr>
        <p:sp>
          <p:nvSpPr>
            <p:cNvPr id="22" name="Rectangle 22"/>
            <p:cNvSpPr/>
            <p:nvPr/>
          </p:nvSpPr>
          <p:spPr>
            <a:xfrm>
              <a:off x="609600" y="4191000"/>
              <a:ext cx="5943600" cy="53340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609600" y="4191000"/>
              <a:ext cx="47625" cy="5334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833247" y="4314349"/>
              <a:ext cx="188337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IPD 评审决策点（TR）不动摇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833438" y="4512945"/>
              <a:ext cx="291731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变的只是材料生成方式与评审深度，评审会的权责不变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09600" y="4819650"/>
            <a:ext cx="5943600" cy="533400"/>
            <a:chOff x="609600" y="4819650"/>
            <a:chExt cx="5943600" cy="533400"/>
          </a:xfrm>
        </p:grpSpPr>
        <p:sp>
          <p:nvSpPr>
            <p:cNvPr id="27" name="Rectangle 27"/>
            <p:cNvSpPr/>
            <p:nvPr/>
          </p:nvSpPr>
          <p:spPr>
            <a:xfrm>
              <a:off x="609600" y="4819650"/>
              <a:ext cx="5943600" cy="53340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8" name="Rectangle 28"/>
            <p:cNvSpPr/>
            <p:nvPr/>
          </p:nvSpPr>
          <p:spPr>
            <a:xfrm>
              <a:off x="609600" y="4819650"/>
              <a:ext cx="47625" cy="5334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833247" y="4942999"/>
              <a:ext cx="225660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ASPICE 双向追溯与验证准则不动摇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833438" y="5141595"/>
              <a:ext cx="267500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追溯从人维护的表格，变成系统自动生成的活链接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609600" y="5448300"/>
            <a:ext cx="5943600" cy="533400"/>
            <a:chOff x="609600" y="5448300"/>
            <a:chExt cx="5943600" cy="533400"/>
          </a:xfrm>
        </p:grpSpPr>
        <p:sp>
          <p:nvSpPr>
            <p:cNvPr id="32" name="Rectangle 32"/>
            <p:cNvSpPr/>
            <p:nvPr/>
          </p:nvSpPr>
          <p:spPr>
            <a:xfrm>
              <a:off x="609600" y="5448300"/>
              <a:ext cx="5943600" cy="533400"/>
            </a:xfrm>
            <a:prstGeom prst="roundRect">
              <a:avLst>
                <a:gd name="adj" fmla="val 14286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3" name="Rectangle 33"/>
            <p:cNvSpPr/>
            <p:nvPr/>
          </p:nvSpPr>
          <p:spPr>
            <a:xfrm>
              <a:off x="609600" y="5448300"/>
              <a:ext cx="47625" cy="5334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833247" y="5571649"/>
              <a:ext cx="97957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签字责任不动摇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33438" y="5770245"/>
              <a:ext cx="32291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AI 起草不构成免责理由，任何节点放行必须有具名签字人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781800" y="1428750"/>
            <a:ext cx="4800600" cy="4552950"/>
            <a:chOff x="6781800" y="1428750"/>
            <a:chExt cx="4800600" cy="4552950"/>
          </a:xfrm>
        </p:grpSpPr>
        <p:sp>
          <p:nvSpPr>
            <p:cNvPr id="37" name="Rectangle 37"/>
            <p:cNvSpPr/>
            <p:nvPr/>
          </p:nvSpPr>
          <p:spPr>
            <a:xfrm>
              <a:off x="6781800" y="1428750"/>
              <a:ext cx="4800600" cy="4552950"/>
            </a:xfrm>
            <a:prstGeom prst="roundRect">
              <a:avLst>
                <a:gd name="adj" fmla="val 2092"/>
              </a:avLst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7004685" y="1650206"/>
              <a:ext cx="299727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车领域兼容要点（ASPICE / ISO 26262）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7005447" y="2085499"/>
              <a:ext cx="121506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1 · 双向追溯自动化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005638" y="2303145"/>
              <a:ext cx="2181225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随工件生成、随变更更新，评审先查断链；</a:t>
              </a:r>
              <a:br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建议作为变革早期的速赢点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7005447" y="2904649"/>
              <a:ext cx="10765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2 · 验证准则前置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005638" y="3122295"/>
              <a:ext cx="1569720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SR / AR 分解时即写验收标准，</a:t>
              </a:r>
              <a:br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测试覆盖检查变成机械校验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7005447" y="3723799"/>
              <a:ext cx="10765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3 · 安全决策上抛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005638" y="3941445"/>
              <a:ext cx="2741295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safety goal / ASIL / 看门狗 / DTC 由功能安全负责人</a:t>
              </a:r>
              <a:br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确认，纪律写进 agent 技能，机器强制执行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7005447" y="4542949"/>
              <a:ext cx="938017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4 · 证据链完整</a:t>
              </a:r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7005638" y="4760595"/>
              <a:ext cx="2312670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人审记录、AI 所用上下文、人对草稿的修订，</a:t>
              </a:r>
              <a:br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全部留痕，过程受控、决策可追溯</a:t>
              </a:r>
            </a:p>
          </p:txBody>
        </p:sp>
        <p:sp>
          <p:nvSpPr>
            <p:cNvPr id="47" name="TextBox 47"/>
            <p:cNvSpPr txBox="1"/>
            <p:nvPr/>
          </p:nvSpPr>
          <p:spPr>
            <a:xfrm>
              <a:off x="7005447" y="5362099"/>
              <a:ext cx="1076541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5 · 配置管理同仓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7005638" y="5579745"/>
              <a:ext cx="2066925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文档、代码、用例、知识库同仓版本化，</a:t>
              </a:r>
              <a:br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基线即仓库标签，变更走 PR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50" name="TextBox 50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11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4952421" cy="638746"/>
            <a:chOff x="598551" y="504349"/>
            <a:chExt cx="4952421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037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11 · 知识工程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4952421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生产即沉淀，消费即反馈：知识飞轮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35" name="Group 35"/>
          <p:cNvGrpSpPr/>
          <p:nvPr/>
        </p:nvGrpSpPr>
        <p:grpSpPr>
          <a:xfrm>
            <a:off x="1790700" y="2019300"/>
            <a:ext cx="4610100" cy="3514725"/>
            <a:chOff x="1790700" y="2019300"/>
            <a:chExt cx="4610100" cy="3514725"/>
          </a:xfrm>
        </p:grpSpPr>
        <p:sp>
          <p:nvSpPr>
            <p:cNvPr id="6" name="Ellipse 6"/>
            <p:cNvSpPr/>
            <p:nvPr/>
          </p:nvSpPr>
          <p:spPr>
            <a:xfrm>
              <a:off x="2524125" y="2333625"/>
              <a:ext cx="3143250" cy="3143250"/>
            </a:xfrm>
            <a:prstGeom prst="ellipse">
              <a:avLst/>
            </a:prstGeom>
            <a:noFill/>
            <a:ln w="19050">
              <a:solidFill>
                <a:srgbClr val="1F4E79">
                  <a:alpha val="40000"/>
                </a:srgbClr>
              </a:solidFill>
              <a:custDash>
                <a:ds d="300000" sp="200000"/>
              </a:custDash>
            </a:ln>
          </p:spPr>
        </p:sp>
        <p:sp>
          <p:nvSpPr>
            <p:cNvPr id="7" name="Polygon 7"/>
            <p:cNvSpPr/>
            <p:nvPr/>
          </p:nvSpPr>
          <p:spPr>
            <a:xfrm>
              <a:off x="4986083" y="2587427"/>
              <a:ext cx="126063" cy="113419"/>
            </a:xfrm>
            <a:custGeom>
              <a:avLst/>
              <a:gdLst/>
              <a:ahLst/>
              <a:cxnLst/>
              <a:rect l="l" t="t" r="r" b="b"/>
              <a:pathLst>
                <a:path w="126063" h="113419">
                  <a:moveTo>
                    <a:pt x="67184" y="0"/>
                  </a:moveTo>
                  <a:lnTo>
                    <a:pt x="126063" y="113419"/>
                  </a:lnTo>
                  <a:lnTo>
                    <a:pt x="0" y="92471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</p:sp>
        <p:sp>
          <p:nvSpPr>
            <p:cNvPr id="8" name="Polygon 8"/>
            <p:cNvSpPr/>
            <p:nvPr/>
          </p:nvSpPr>
          <p:spPr>
            <a:xfrm>
              <a:off x="5535870" y="4373365"/>
              <a:ext cx="108706" cy="126366"/>
            </a:xfrm>
            <a:custGeom>
              <a:avLst/>
              <a:gdLst/>
              <a:ahLst/>
              <a:cxnLst/>
              <a:rect l="l" t="t" r="r" b="b"/>
              <a:pathLst>
                <a:path w="108706" h="126366">
                  <a:moveTo>
                    <a:pt x="108706" y="35321"/>
                  </a:moveTo>
                  <a:lnTo>
                    <a:pt x="19032" y="126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</p:sp>
        <p:sp>
          <p:nvSpPr>
            <p:cNvPr id="9" name="Polygon 9"/>
            <p:cNvSpPr/>
            <p:nvPr/>
          </p:nvSpPr>
          <p:spPr>
            <a:xfrm>
              <a:off x="3981450" y="5419725"/>
              <a:ext cx="114300" cy="114300"/>
            </a:xfrm>
            <a:custGeom>
              <a:avLst/>
              <a:gdLst/>
              <a:ahLst/>
              <a:cxnLst/>
              <a:rect l="l" t="t" r="r" b="b"/>
              <a:pathLst>
                <a:path w="114300" h="114300">
                  <a:moveTo>
                    <a:pt x="114300" y="114300"/>
                  </a:moveTo>
                  <a:lnTo>
                    <a:pt x="0" y="57150"/>
                  </a:lnTo>
                  <a:lnTo>
                    <a:pt x="114300" y="0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</p:sp>
        <p:sp>
          <p:nvSpPr>
            <p:cNvPr id="10" name="Polygon 10"/>
            <p:cNvSpPr/>
            <p:nvPr/>
          </p:nvSpPr>
          <p:spPr>
            <a:xfrm>
              <a:off x="2546925" y="4282319"/>
              <a:ext cx="108706" cy="126366"/>
            </a:xfrm>
            <a:custGeom>
              <a:avLst/>
              <a:gdLst/>
              <a:ahLst/>
              <a:cxnLst/>
              <a:rect l="l" t="t" r="r" b="b"/>
              <a:pathLst>
                <a:path w="108706" h="126366">
                  <a:moveTo>
                    <a:pt x="0" y="126366"/>
                  </a:moveTo>
                  <a:lnTo>
                    <a:pt x="19032" y="0"/>
                  </a:lnTo>
                  <a:lnTo>
                    <a:pt x="108706" y="91045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</p:sp>
        <p:sp>
          <p:nvSpPr>
            <p:cNvPr id="11" name="Polygon 11"/>
            <p:cNvSpPr/>
            <p:nvPr/>
          </p:nvSpPr>
          <p:spPr>
            <a:xfrm>
              <a:off x="3138233" y="2566479"/>
              <a:ext cx="126063" cy="113419"/>
            </a:xfrm>
            <a:custGeom>
              <a:avLst/>
              <a:gdLst/>
              <a:ahLst/>
              <a:cxnLst/>
              <a:rect l="l" t="t" r="r" b="b"/>
              <a:pathLst>
                <a:path w="126063" h="113419">
                  <a:moveTo>
                    <a:pt x="0" y="20949"/>
                  </a:moveTo>
                  <a:lnTo>
                    <a:pt x="126063" y="0"/>
                  </a:lnTo>
                  <a:lnTo>
                    <a:pt x="67184" y="113419"/>
                  </a:lnTo>
                  <a:close/>
                </a:path>
              </a:pathLst>
            </a:custGeom>
            <a:solidFill>
              <a:srgbClr val="1F4E79"/>
            </a:solidFill>
            <a:ln>
              <a:noFill/>
            </a:ln>
          </p:spPr>
        </p:sp>
        <p:sp>
          <p:nvSpPr>
            <p:cNvPr id="12" name="Ellipse 12"/>
            <p:cNvSpPr/>
            <p:nvPr/>
          </p:nvSpPr>
          <p:spPr>
            <a:xfrm>
              <a:off x="3600450" y="3409950"/>
              <a:ext cx="990600" cy="990600"/>
            </a:xfrm>
            <a:prstGeom prst="ellipse">
              <a:avLst/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3773409" y="3745706"/>
              <a:ext cx="644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知识底座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3730038" y="3976688"/>
              <a:ext cx="731425" cy="1476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750" dirty="0">
                  <a:solidFill>
                    <a:srgbClr val="8FA1B8"/>
                  </a:solidFill>
                  <a:latin typeface="Microsoft YaHei"/>
                  <a:ea typeface="Microsoft YaHei"/>
                  <a:cs typeface="Microsoft YaHei"/>
                </a:rPr>
                <a:t>技能包 + 知识库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3286125" y="2019300"/>
              <a:ext cx="1619250" cy="628650"/>
              <a:chOff x="3286125" y="2019300"/>
              <a:chExt cx="1619250" cy="628650"/>
            </a:xfrm>
          </p:grpSpPr>
          <p:sp>
            <p:nvSpPr>
              <p:cNvPr id="15" name="Rectangle 15"/>
              <p:cNvSpPr/>
              <p:nvPr/>
            </p:nvSpPr>
            <p:spPr>
              <a:xfrm>
                <a:off x="3286125" y="2019300"/>
                <a:ext cx="1619250" cy="628650"/>
              </a:xfrm>
              <a:prstGeom prst="roundRect">
                <a:avLst>
                  <a:gd name="adj" fmla="val 15152"/>
                </a:avLst>
              </a:prstGeom>
              <a:solidFill>
                <a:srgbClr val="FFFFFF"/>
              </a:solidFill>
              <a:ln w="19050">
                <a:solidFill>
                  <a:srgbClr val="E8600A"/>
                </a:solidFill>
              </a:ln>
            </p:spPr>
          </p:sp>
          <p:sp>
            <p:nvSpPr>
              <p:cNvPr id="16" name="TextBox 16"/>
              <p:cNvSpPr txBox="1"/>
              <p:nvPr/>
            </p:nvSpPr>
            <p:spPr>
              <a:xfrm>
                <a:off x="3815842" y="2172652"/>
                <a:ext cx="55981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E8600A"/>
                    </a:solidFill>
                    <a:latin typeface="Microsoft YaHei"/>
                    <a:ea typeface="Microsoft YaHei"/>
                    <a:cs typeface="Microsoft YaHei"/>
                  </a:rPr>
                  <a:t>1 · 沉淀</a:t>
                </a:r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3412099" y="2406491"/>
                <a:ext cx="136730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0" dirty="0">
                    <a:solidFill>
                      <a:srgbClr val="3D4759"/>
                    </a:solidFill>
                    <a:latin typeface="Microsoft YaHei"/>
                    <a:ea typeface="Microsoft YaHei"/>
                    <a:cs typeface="Microsoft YaHei"/>
                  </a:rPr>
                  <a:t>评审意见 · 根因 · 问答落盘</a:t>
                </a:r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4781550" y="3105150"/>
              <a:ext cx="1619250" cy="628650"/>
              <a:chOff x="4781550" y="3105150"/>
              <a:chExt cx="1619250" cy="628650"/>
            </a:xfrm>
          </p:grpSpPr>
          <p:sp>
            <p:nvSpPr>
              <p:cNvPr id="19" name="Rectangle 19"/>
              <p:cNvSpPr/>
              <p:nvPr/>
            </p:nvSpPr>
            <p:spPr>
              <a:xfrm>
                <a:off x="4781550" y="3105150"/>
                <a:ext cx="1619250" cy="628650"/>
              </a:xfrm>
              <a:prstGeom prst="roundRect">
                <a:avLst>
                  <a:gd name="adj" fmla="val 15152"/>
                </a:avLst>
              </a:prstGeom>
              <a:solidFill>
                <a:srgbClr val="FFFFFF"/>
              </a:solidFill>
              <a:ln w="9525">
                <a:solidFill>
                  <a:srgbClr val="D9DEE6"/>
                </a:solidFill>
              </a:ln>
            </p:spPr>
          </p:sp>
          <p:sp>
            <p:nvSpPr>
              <p:cNvPr id="20" name="TextBox 20"/>
              <p:cNvSpPr txBox="1"/>
              <p:nvPr/>
            </p:nvSpPr>
            <p:spPr>
              <a:xfrm>
                <a:off x="5311267" y="3258502"/>
                <a:ext cx="55981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F4E79"/>
                    </a:solidFill>
                    <a:latin typeface="Microsoft YaHei"/>
                    <a:ea typeface="Microsoft YaHei"/>
                    <a:cs typeface="Microsoft YaHei"/>
                  </a:rPr>
                  <a:t>2 · 萃取</a:t>
                </a:r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4927415" y="3492341"/>
                <a:ext cx="1327521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0" dirty="0">
                    <a:solidFill>
                      <a:srgbClr val="3D4759"/>
                    </a:solidFill>
                    <a:latin typeface="Microsoft YaHei"/>
                    <a:ea typeface="Microsoft YaHei"/>
                    <a:cs typeface="Microsoft YaHei"/>
                  </a:rPr>
                  <a:t>AI 聚类 + 人审核成模式卡</a:t>
                </a:r>
              </a:p>
            </p:txBody>
          </p:sp>
        </p:grpSp>
        <p:grpSp>
          <p:nvGrpSpPr>
            <p:cNvPr id="26" name="Group 26"/>
            <p:cNvGrpSpPr/>
            <p:nvPr/>
          </p:nvGrpSpPr>
          <p:grpSpPr>
            <a:xfrm>
              <a:off x="4210050" y="4857750"/>
              <a:ext cx="1619250" cy="628650"/>
              <a:chOff x="4210050" y="4857750"/>
              <a:chExt cx="1619250" cy="628650"/>
            </a:xfrm>
          </p:grpSpPr>
          <p:sp>
            <p:nvSpPr>
              <p:cNvPr id="23" name="Rectangle 23"/>
              <p:cNvSpPr/>
              <p:nvPr/>
            </p:nvSpPr>
            <p:spPr>
              <a:xfrm>
                <a:off x="4210050" y="4857750"/>
                <a:ext cx="1619250" cy="628650"/>
              </a:xfrm>
              <a:prstGeom prst="roundRect">
                <a:avLst>
                  <a:gd name="adj" fmla="val 15152"/>
                </a:avLst>
              </a:prstGeom>
              <a:solidFill>
                <a:srgbClr val="FFFFFF"/>
              </a:solidFill>
              <a:ln w="9525">
                <a:solidFill>
                  <a:srgbClr val="D9DEE6"/>
                </a:solidFill>
              </a:ln>
            </p:spPr>
          </p:sp>
          <p:sp>
            <p:nvSpPr>
              <p:cNvPr id="24" name="TextBox 24"/>
              <p:cNvSpPr txBox="1"/>
              <p:nvPr/>
            </p:nvSpPr>
            <p:spPr>
              <a:xfrm>
                <a:off x="4739767" y="5011102"/>
                <a:ext cx="55981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F4E79"/>
                    </a:solidFill>
                    <a:latin typeface="Microsoft YaHei"/>
                    <a:ea typeface="Microsoft YaHei"/>
                    <a:cs typeface="Microsoft YaHei"/>
                  </a:rPr>
                  <a:t>3 · 入库</a:t>
                </a:r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4341335" y="5244941"/>
                <a:ext cx="1356680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0" dirty="0">
                    <a:solidFill>
                      <a:srgbClr val="3D4759"/>
                    </a:solidFill>
                    <a:latin typeface="Microsoft YaHei"/>
                    <a:ea typeface="Microsoft YaHei"/>
                    <a:cs typeface="Microsoft YaHei"/>
                  </a:rPr>
                  <a:t>模式卡 + 技能红线，走 PR</a:t>
                </a:r>
              </a:p>
            </p:txBody>
          </p:sp>
        </p:grpSp>
        <p:grpSp>
          <p:nvGrpSpPr>
            <p:cNvPr id="30" name="Group 30"/>
            <p:cNvGrpSpPr/>
            <p:nvPr/>
          </p:nvGrpSpPr>
          <p:grpSpPr>
            <a:xfrm>
              <a:off x="2362200" y="4857750"/>
              <a:ext cx="1619250" cy="628650"/>
              <a:chOff x="2362200" y="4857750"/>
              <a:chExt cx="1619250" cy="628650"/>
            </a:xfrm>
          </p:grpSpPr>
          <p:sp>
            <p:nvSpPr>
              <p:cNvPr id="27" name="Rectangle 27"/>
              <p:cNvSpPr/>
              <p:nvPr/>
            </p:nvSpPr>
            <p:spPr>
              <a:xfrm>
                <a:off x="2362200" y="4857750"/>
                <a:ext cx="1619250" cy="628650"/>
              </a:xfrm>
              <a:prstGeom prst="roundRect">
                <a:avLst>
                  <a:gd name="adj" fmla="val 15152"/>
                </a:avLst>
              </a:prstGeom>
              <a:solidFill>
                <a:srgbClr val="FFFFFF"/>
              </a:solidFill>
              <a:ln w="9525">
                <a:solidFill>
                  <a:srgbClr val="D9DEE6"/>
                </a:solidFill>
              </a:ln>
            </p:spPr>
          </p:sp>
          <p:sp>
            <p:nvSpPr>
              <p:cNvPr id="28" name="TextBox 28"/>
              <p:cNvSpPr txBox="1"/>
              <p:nvPr/>
            </p:nvSpPr>
            <p:spPr>
              <a:xfrm>
                <a:off x="2891917" y="5011102"/>
                <a:ext cx="55981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F4E79"/>
                    </a:solidFill>
                    <a:latin typeface="Microsoft YaHei"/>
                    <a:ea typeface="Microsoft YaHei"/>
                    <a:cs typeface="Microsoft YaHei"/>
                  </a:rPr>
                  <a:t>4 · 消费</a:t>
                </a:r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2513220" y="5244941"/>
                <a:ext cx="1317211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0" dirty="0">
                    <a:solidFill>
                      <a:srgbClr val="3D4759"/>
                    </a:solidFill>
                    <a:latin typeface="Microsoft YaHei"/>
                    <a:ea typeface="Microsoft YaHei"/>
                    <a:cs typeface="Microsoft YaHei"/>
                  </a:rPr>
                  <a:t>各节点 agent 经 RAG 调用</a:t>
                </a:r>
              </a:p>
            </p:txBody>
          </p:sp>
        </p:grpSp>
        <p:grpSp>
          <p:nvGrpSpPr>
            <p:cNvPr id="34" name="Group 34"/>
            <p:cNvGrpSpPr/>
            <p:nvPr/>
          </p:nvGrpSpPr>
          <p:grpSpPr>
            <a:xfrm>
              <a:off x="1790700" y="3105150"/>
              <a:ext cx="1619250" cy="628650"/>
              <a:chOff x="1790700" y="3105150"/>
              <a:chExt cx="1619250" cy="628650"/>
            </a:xfrm>
          </p:grpSpPr>
          <p:sp>
            <p:nvSpPr>
              <p:cNvPr id="31" name="Rectangle 31"/>
              <p:cNvSpPr/>
              <p:nvPr/>
            </p:nvSpPr>
            <p:spPr>
              <a:xfrm>
                <a:off x="1790700" y="3105150"/>
                <a:ext cx="1619250" cy="628650"/>
              </a:xfrm>
              <a:prstGeom prst="roundRect">
                <a:avLst>
                  <a:gd name="adj" fmla="val 15152"/>
                </a:avLst>
              </a:prstGeom>
              <a:solidFill>
                <a:srgbClr val="FFFFFF"/>
              </a:solidFill>
              <a:ln w="9525">
                <a:solidFill>
                  <a:srgbClr val="D9DEE6"/>
                </a:solidFill>
              </a:ln>
            </p:spPr>
          </p:sp>
          <p:sp>
            <p:nvSpPr>
              <p:cNvPr id="32" name="TextBox 32"/>
              <p:cNvSpPr txBox="1"/>
              <p:nvPr/>
            </p:nvSpPr>
            <p:spPr>
              <a:xfrm>
                <a:off x="2320417" y="3258502"/>
                <a:ext cx="559817" cy="20535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1050" b="1" dirty="0">
                    <a:solidFill>
                      <a:srgbClr val="1F4E79"/>
                    </a:solidFill>
                    <a:latin typeface="Microsoft YaHei"/>
                    <a:ea typeface="Microsoft YaHei"/>
                    <a:cs typeface="Microsoft YaHei"/>
                  </a:rPr>
                  <a:t>5 · 度量</a:t>
                </a:r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1916674" y="3492341"/>
                <a:ext cx="1367302" cy="1619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anchor="t" anchorCtr="0">
                <a:spAutoFit/>
              </a:bodyPr>
              <a:lstStyle/>
              <a:p>
                <a:pPr algn="ctr"/>
                <a:r>
                  <a:rPr lang="zh-CN" sz="820" dirty="0">
                    <a:solidFill>
                      <a:srgbClr val="3D4759"/>
                    </a:solidFill>
                    <a:latin typeface="Microsoft YaHei"/>
                    <a:ea typeface="Microsoft YaHei"/>
                    <a:cs typeface="Microsoft YaHei"/>
                  </a:rPr>
                  <a:t>命中率 · 复用率 · 缺陷预防</a:t>
                </a:r>
              </a:p>
            </p:txBody>
          </p:sp>
        </p:grpSp>
      </p:grpSp>
      <p:grpSp>
        <p:nvGrpSpPr>
          <p:cNvPr id="48" name="Group 48"/>
          <p:cNvGrpSpPr/>
          <p:nvPr/>
        </p:nvGrpSpPr>
        <p:grpSpPr>
          <a:xfrm>
            <a:off x="7620000" y="1428750"/>
            <a:ext cx="3962400" cy="2381250"/>
            <a:chOff x="7620000" y="1428750"/>
            <a:chExt cx="3962400" cy="2381250"/>
          </a:xfrm>
        </p:grpSpPr>
        <p:sp>
          <p:nvSpPr>
            <p:cNvPr id="36" name="Rectangle 36"/>
            <p:cNvSpPr/>
            <p:nvPr/>
          </p:nvSpPr>
          <p:spPr>
            <a:xfrm>
              <a:off x="7620000" y="1428750"/>
              <a:ext cx="3962400" cy="2381250"/>
            </a:xfrm>
            <a:prstGeom prst="roundRect">
              <a:avLst>
                <a:gd name="adj" fmla="val 40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7842885" y="1612106"/>
              <a:ext cx="961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知识资产四层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7843838" y="19411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流程知识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796338" y="1949291"/>
              <a:ext cx="2084827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技能包：流程 / 规范 / 红线 / 评审 rubric</a:t>
              </a:r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7843838" y="2360295"/>
              <a:ext cx="6456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需求与领域</a:t>
              </a:r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8796338" y="2368391"/>
              <a:ext cx="155496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需求模式库、分解范例、术语表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7843838" y="27793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工程知识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796338" y="2787491"/>
              <a:ext cx="1665351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编码规范、设计模式、接口契约库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7843838" y="31984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质量知识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796338" y="3206591"/>
              <a:ext cx="155496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缺陷模式、评审意见、风险地图</a:t>
              </a:r>
            </a:p>
          </p:txBody>
        </p:sp>
        <p:sp>
          <p:nvSpPr>
            <p:cNvPr id="46" name="Line 46"/>
            <p:cNvSpPr/>
            <p:nvPr/>
          </p:nvSpPr>
          <p:spPr>
            <a:xfrm>
              <a:off x="7848600" y="3505200"/>
              <a:ext cx="3505200" cy="9525"/>
            </a:xfrm>
            <a:custGeom>
              <a:avLst/>
              <a:gdLst/>
              <a:ahLst/>
              <a:cxnLst/>
              <a:rect l="l" t="t" r="r" b="b"/>
              <a:pathLst>
                <a:path w="3505200" h="9525">
                  <a:moveTo>
                    <a:pt x="0" y="0"/>
                  </a:moveTo>
                  <a:lnTo>
                    <a:pt x="350520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7843838" y="3606641"/>
              <a:ext cx="314477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每条知识有 owner 和适用期；技能包变更走 PR，当成代码管。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7620000" y="4000500"/>
            <a:ext cx="3962400" cy="1619250"/>
            <a:chOff x="7620000" y="4000500"/>
            <a:chExt cx="3962400" cy="1619250"/>
          </a:xfrm>
        </p:grpSpPr>
        <p:sp>
          <p:nvSpPr>
            <p:cNvPr id="49" name="Rectangle 49"/>
            <p:cNvSpPr/>
            <p:nvPr/>
          </p:nvSpPr>
          <p:spPr>
            <a:xfrm>
              <a:off x="7620000" y="4000500"/>
              <a:ext cx="3962400" cy="1619250"/>
            </a:xfrm>
            <a:prstGeom prst="roundRect">
              <a:avLst>
                <a:gd name="adj" fmla="val 5882"/>
              </a:avLst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50" name="TextBox 50"/>
            <p:cNvSpPr txBox="1"/>
            <p:nvPr/>
          </p:nvSpPr>
          <p:spPr>
            <a:xfrm>
              <a:off x="7842885" y="4183856"/>
              <a:ext cx="2227814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冷启动：飞轮最难是第一批知识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7843838" y="4493895"/>
              <a:ext cx="28085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C7D2E0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存量文档逆向入库（历史说明书 / 问题单 / 纪要）</a:t>
              </a:r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7843838" y="4722495"/>
              <a:ext cx="252984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C7D2E0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试点项目边跑边沉淀，新项目天然按新流程走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7843838" y="4951095"/>
              <a:ext cx="28846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C7D2E0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资深 SE / 开发 / 测试访谈萃取，固化成技能红线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7843838" y="5255895"/>
              <a:ext cx="179054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冷启动期，知识工程师要专职。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56" name="TextBox 56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12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3488731" cy="638746"/>
            <a:chOff x="598551" y="504349"/>
            <a:chExt cx="3488731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037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12 · 组织设计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3488731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围绕交付的 5–8 人小分队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23" name="Group 23"/>
          <p:cNvGrpSpPr/>
          <p:nvPr/>
        </p:nvGrpSpPr>
        <p:grpSpPr>
          <a:xfrm>
            <a:off x="609600" y="1428750"/>
            <a:ext cx="6858000" cy="2857500"/>
            <a:chOff x="609600" y="1428750"/>
            <a:chExt cx="6858000" cy="28575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6858000" cy="2857500"/>
            </a:xfrm>
            <a:prstGeom prst="roundRect">
              <a:avLst>
                <a:gd name="adj" fmla="val 3333"/>
              </a:avLst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2104" y="1642110"/>
              <a:ext cx="3928201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交付小分队 · 对一组 SR 从需求到验收端到端负责</a:t>
              </a:r>
            </a:p>
          </p:txBody>
        </p:sp>
        <p:sp>
          <p:nvSpPr>
            <p:cNvPr id="8" name="Rectangle 8"/>
            <p:cNvSpPr/>
            <p:nvPr/>
          </p:nvSpPr>
          <p:spPr>
            <a:xfrm>
              <a:off x="838200" y="1962150"/>
              <a:ext cx="3143250" cy="723900"/>
            </a:xfrm>
            <a:prstGeom prst="roundRect">
              <a:avLst>
                <a:gd name="adj" fmla="val 10526"/>
              </a:avLst>
            </a:prstGeom>
            <a:solidFill>
              <a:srgbClr val="FFFFFF">
                <a:alpha val="8000"/>
              </a:srgbClr>
            </a:solidFill>
            <a:ln>
              <a:noFill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1004316" y="2115502"/>
              <a:ext cx="152005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交付负责人（DO）</a:t>
              </a:r>
              <a:r>
                <a:rPr lang="en-US" sz="105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 xml:space="preserve"> ×1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004888" y="2387441"/>
              <a:ext cx="1775739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优先级、范围、验收拍板、例外升级</a:t>
              </a:r>
            </a:p>
          </p:txBody>
        </p:sp>
        <p:sp>
          <p:nvSpPr>
            <p:cNvPr id="11" name="Rectangle 11"/>
            <p:cNvSpPr/>
            <p:nvPr/>
          </p:nvSpPr>
          <p:spPr>
            <a:xfrm>
              <a:off x="4210050" y="1962150"/>
              <a:ext cx="3143250" cy="723900"/>
            </a:xfrm>
            <a:prstGeom prst="roundRect">
              <a:avLst>
                <a:gd name="adj" fmla="val 10526"/>
              </a:avLst>
            </a:prstGeom>
            <a:solidFill>
              <a:srgbClr val="FFFFFF">
                <a:alpha val="8000"/>
              </a:srgbClr>
            </a:solidFill>
            <a:ln>
              <a:noFill/>
            </a:ln>
          </p:spPr>
        </p:sp>
        <p:sp>
          <p:nvSpPr>
            <p:cNvPr id="12" name="TextBox 12"/>
            <p:cNvSpPr txBox="1"/>
            <p:nvPr/>
          </p:nvSpPr>
          <p:spPr>
            <a:xfrm>
              <a:off x="4376166" y="2115502"/>
              <a:ext cx="148869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需求工程师（SE）</a:t>
              </a:r>
              <a:r>
                <a:rPr lang="en-US" sz="105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 xml:space="preserve"> ×1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4376738" y="2387441"/>
              <a:ext cx="1706590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分解裁决、AR 规格会签、AI 编排</a:t>
              </a:r>
            </a:p>
          </p:txBody>
        </p:sp>
        <p:sp>
          <p:nvSpPr>
            <p:cNvPr id="14" name="Rectangle 14"/>
            <p:cNvSpPr/>
            <p:nvPr/>
          </p:nvSpPr>
          <p:spPr>
            <a:xfrm>
              <a:off x="838200" y="2800350"/>
              <a:ext cx="3143250" cy="723900"/>
            </a:xfrm>
            <a:prstGeom prst="roundRect">
              <a:avLst>
                <a:gd name="adj" fmla="val 10526"/>
              </a:avLst>
            </a:prstGeom>
            <a:solidFill>
              <a:srgbClr val="FFFFFF">
                <a:alpha val="8000"/>
              </a:srgbClr>
            </a:solidFill>
            <a:ln>
              <a:noFill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1004316" y="2953702"/>
              <a:ext cx="1420644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全栈构建工程师</a:t>
              </a:r>
              <a:r>
                <a:rPr lang="en-US" sz="105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 xml:space="preserve"> ×2–3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004888" y="3225641"/>
              <a:ext cx="2058084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规格化主导、AI 产出评审、findings 处置</a:t>
              </a:r>
            </a:p>
          </p:txBody>
        </p:sp>
        <p:sp>
          <p:nvSpPr>
            <p:cNvPr id="17" name="Rectangle 17"/>
            <p:cNvSpPr/>
            <p:nvPr/>
          </p:nvSpPr>
          <p:spPr>
            <a:xfrm>
              <a:off x="4210050" y="2800350"/>
              <a:ext cx="3143250" cy="723900"/>
            </a:xfrm>
            <a:prstGeom prst="roundRect">
              <a:avLst>
                <a:gd name="adj" fmla="val 10526"/>
              </a:avLst>
            </a:prstGeom>
            <a:solidFill>
              <a:srgbClr val="FFFFFF">
                <a:alpha val="8000"/>
              </a:srgbClr>
            </a:solidFill>
            <a:ln>
              <a:noFill/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4376166" y="2953702"/>
              <a:ext cx="1123807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质量工程师</a:t>
              </a:r>
              <a:r>
                <a:rPr lang="en-US" sz="105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 xml:space="preserve"> ×1–2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4376738" y="3225641"/>
              <a:ext cx="155496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测试策略、用例评审、验收签认</a:t>
              </a:r>
            </a:p>
          </p:txBody>
        </p:sp>
        <p:sp>
          <p:nvSpPr>
            <p:cNvPr id="20" name="Rectangle 20"/>
            <p:cNvSpPr/>
            <p:nvPr/>
          </p:nvSpPr>
          <p:spPr>
            <a:xfrm>
              <a:off x="838200" y="3638550"/>
              <a:ext cx="6515100" cy="495300"/>
            </a:xfrm>
            <a:prstGeom prst="roundRect">
              <a:avLst>
                <a:gd name="adj" fmla="val 15385"/>
              </a:avLst>
            </a:prstGeom>
            <a:solidFill>
              <a:srgbClr val="FFFFFF">
                <a:alpha val="8000"/>
              </a:srgbClr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1004697" y="3742849"/>
              <a:ext cx="292931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知识 / AI 工程师</a:t>
              </a:r>
              <a:r>
                <a:rPr lang="en-US" sz="98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 xml:space="preserve"> ×0.5–1</a:t>
              </a:r>
              <a:r>
                <a:rPr lang="zh-CN" sz="980" dirty="0">
                  <a:solidFill>
                    <a:srgbClr val="8FA1B8"/>
                  </a:solidFill>
                  <a:latin typeface="Microsoft YaHei"/>
                  <a:ea typeface="Microsoft YaHei"/>
                  <a:cs typeface="Microsoft YaHei"/>
                </a:rPr>
                <a:t>（可 2–3 个小队共享）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1004888" y="3949541"/>
              <a:ext cx="133418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技能包、知识库、度量面板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7696200" y="1428750"/>
            <a:ext cx="3886200" cy="1333500"/>
            <a:chOff x="7696200" y="1428750"/>
            <a:chExt cx="3886200" cy="1333500"/>
          </a:xfrm>
        </p:grpSpPr>
        <p:sp>
          <p:nvSpPr>
            <p:cNvPr id="24" name="Rectangle 24"/>
            <p:cNvSpPr/>
            <p:nvPr/>
          </p:nvSpPr>
          <p:spPr>
            <a:xfrm>
              <a:off x="7696200" y="1428750"/>
              <a:ext cx="38862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5" name="Rectangle 25"/>
            <p:cNvSpPr/>
            <p:nvPr/>
          </p:nvSpPr>
          <p:spPr>
            <a:xfrm>
              <a:off x="7696200" y="1428750"/>
              <a:ext cx="47625" cy="1333500"/>
            </a:xfrm>
            <a:prstGeom prst="rect">
              <a:avLst/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7919085" y="1631156"/>
              <a:ext cx="137471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AI 平台组（共享）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7920038" y="1903095"/>
              <a:ext cx="2084070" cy="3857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650"/>
                </a:lnSpc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网关、编排底座、可观测与成本治理、</a:t>
              </a:r>
              <a:br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评估基线。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7920038" y="2379345"/>
              <a:ext cx="219036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定位是生产工程加治理，不是研究部门。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7696200" y="2952750"/>
            <a:ext cx="3886200" cy="1333500"/>
            <a:chOff x="7696200" y="2952750"/>
            <a:chExt cx="3886200" cy="1333500"/>
          </a:xfrm>
        </p:grpSpPr>
        <p:sp>
          <p:nvSpPr>
            <p:cNvPr id="30" name="Rectangle 30"/>
            <p:cNvSpPr/>
            <p:nvPr/>
          </p:nvSpPr>
          <p:spPr>
            <a:xfrm>
              <a:off x="7696200" y="2952750"/>
              <a:ext cx="3886200" cy="1333500"/>
            </a:xfrm>
            <a:prstGeom prst="roundRect">
              <a:avLst>
                <a:gd name="adj" fmla="val 7143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1" name="Rectangle 31"/>
            <p:cNvSpPr/>
            <p:nvPr/>
          </p:nvSpPr>
          <p:spPr>
            <a:xfrm>
              <a:off x="7696200" y="2952750"/>
              <a:ext cx="47625" cy="1333500"/>
            </a:xfrm>
            <a:prstGeom prst="rect">
              <a:avLst/>
            </a:prstGeom>
            <a:solidFill>
              <a:srgbClr val="B3392E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7919085" y="3155156"/>
              <a:ext cx="1911187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架构与领域委员会（共享）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7920038" y="3427095"/>
              <a:ext cx="17057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跨小队架构边界、整车级决策；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7920038" y="3636645"/>
              <a:ext cx="19480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功能安全负责人在此收敛全部上抛项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7920038" y="3846195"/>
              <a:ext cx="195536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6B7484"/>
                  </a:solidFill>
                  <a:latin typeface="Microsoft YaHei"/>
                  <a:ea typeface="Microsoft YaHei"/>
                  <a:cs typeface="Microsoft YaHei"/>
                </a:rPr>
                <a:t>（ASIL / 安全状态 / DTC 策略）。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09600" y="4552950"/>
            <a:ext cx="10972800" cy="609600"/>
            <a:chOff x="609600" y="4552950"/>
            <a:chExt cx="10972800" cy="609600"/>
          </a:xfrm>
        </p:grpSpPr>
        <p:sp>
          <p:nvSpPr>
            <p:cNvPr id="37" name="Rectangle 37"/>
            <p:cNvSpPr/>
            <p:nvPr/>
          </p:nvSpPr>
          <p:spPr>
            <a:xfrm>
              <a:off x="609600" y="4552950"/>
              <a:ext cx="10972800" cy="609600"/>
            </a:xfrm>
            <a:prstGeom prst="roundRect">
              <a:avLst>
                <a:gd name="adj" fmla="val 15625"/>
              </a:avLst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3585286" y="4801552"/>
              <a:ext cx="5021428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决策权与开发权分离：开发权交给 AI，决策权（L3 清单）留在具名的人手里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609600" y="5314950"/>
            <a:ext cx="10972800" cy="609600"/>
            <a:chOff x="609600" y="5314950"/>
            <a:chExt cx="10972800" cy="609600"/>
          </a:xfrm>
        </p:grpSpPr>
        <p:sp>
          <p:nvSpPr>
            <p:cNvPr id="40" name="Rectangle 40"/>
            <p:cNvSpPr/>
            <p:nvPr/>
          </p:nvSpPr>
          <p:spPr>
            <a:xfrm>
              <a:off x="609600" y="5314950"/>
              <a:ext cx="10972800" cy="609600"/>
            </a:xfrm>
            <a:prstGeom prst="roundRect">
              <a:avLst>
                <a:gd name="adj" fmla="val 15625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4441952" y="5457349"/>
              <a:ext cx="330809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职能线转型为能力线：专业标准、人才培养、职级评定；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4771771" y="5666899"/>
              <a:ext cx="2648458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跑稳两三个交付周期后，再考虑进一步扁平化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44" name="TextBox 44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13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4644276" cy="638746"/>
            <a:chOff x="598551" y="504349"/>
            <a:chExt cx="4644276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037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13 · 变化对照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4644276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流程与角色：日常会发生什么变化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9" name="Group 9"/>
          <p:cNvGrpSpPr/>
          <p:nvPr/>
        </p:nvGrpSpPr>
        <p:grpSpPr>
          <a:xfrm>
            <a:off x="795338" y="1530191"/>
            <a:ext cx="3906952" cy="161925"/>
            <a:chOff x="795338" y="1530191"/>
            <a:chExt cx="3906952" cy="161925"/>
          </a:xfrm>
        </p:grpSpPr>
        <p:sp>
          <p:nvSpPr>
            <p:cNvPr id="6" name="TextBox 6"/>
            <p:cNvSpPr txBox="1"/>
            <p:nvPr/>
          </p:nvSpPr>
          <p:spPr>
            <a:xfrm>
              <a:off x="795338" y="15301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环节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2414588" y="15301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原来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4471988" y="1530191"/>
              <a:ext cx="23030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现在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609600" y="1771650"/>
            <a:ext cx="5486400" cy="609600"/>
            <a:chOff x="609600" y="1771650"/>
            <a:chExt cx="5486400" cy="609600"/>
          </a:xfrm>
        </p:grpSpPr>
        <p:sp>
          <p:nvSpPr>
            <p:cNvPr id="10" name="Rectangle 10"/>
            <p:cNvSpPr/>
            <p:nvPr/>
          </p:nvSpPr>
          <p:spPr>
            <a:xfrm>
              <a:off x="609600" y="1771650"/>
              <a:ext cx="5486400" cy="6096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795147" y="2009299"/>
              <a:ext cx="5640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需求传递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414588" y="201739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串讲宣讲</a:t>
              </a:r>
            </a:p>
          </p:txBody>
        </p:sp>
        <p:sp>
          <p:nvSpPr>
            <p:cNvPr id="13" name="Polygon 13"/>
            <p:cNvSpPr/>
            <p:nvPr/>
          </p:nvSpPr>
          <p:spPr>
            <a:xfrm>
              <a:off x="4114800" y="20383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38100"/>
                  </a:moveTo>
                  <a:lnTo>
                    <a:pt x="0" y="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14" name="TextBox 14"/>
            <p:cNvSpPr txBox="1"/>
            <p:nvPr/>
          </p:nvSpPr>
          <p:spPr>
            <a:xfrm>
              <a:off x="4471988" y="2017395"/>
              <a:ext cx="143050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AR 包 + AI 答疑，S1 兜底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09600" y="2457450"/>
            <a:ext cx="5486400" cy="609600"/>
            <a:chOff x="609600" y="2457450"/>
            <a:chExt cx="5486400" cy="609600"/>
          </a:xfrm>
        </p:grpSpPr>
        <p:sp>
          <p:nvSpPr>
            <p:cNvPr id="16" name="Rectangle 16"/>
            <p:cNvSpPr/>
            <p:nvPr/>
          </p:nvSpPr>
          <p:spPr>
            <a:xfrm>
              <a:off x="609600" y="2457450"/>
              <a:ext cx="5486400" cy="6096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95147" y="2695099"/>
              <a:ext cx="7025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设计与代码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2414588" y="2703195"/>
              <a:ext cx="1099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手写实现设计与代码</a:t>
              </a:r>
            </a:p>
          </p:txBody>
        </p:sp>
        <p:sp>
          <p:nvSpPr>
            <p:cNvPr id="19" name="Polygon 19"/>
            <p:cNvSpPr/>
            <p:nvPr/>
          </p:nvSpPr>
          <p:spPr>
            <a:xfrm>
              <a:off x="4114800" y="27241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38100"/>
                  </a:moveTo>
                  <a:lnTo>
                    <a:pt x="0" y="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471988" y="2703195"/>
              <a:ext cx="118087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起草生成，人修订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609600" y="3143250"/>
            <a:ext cx="5486400" cy="609600"/>
            <a:chOff x="609600" y="3143250"/>
            <a:chExt cx="5486400" cy="609600"/>
          </a:xfrm>
        </p:grpSpPr>
        <p:sp>
          <p:nvSpPr>
            <p:cNvPr id="22" name="Rectangle 22"/>
            <p:cNvSpPr/>
            <p:nvPr/>
          </p:nvSpPr>
          <p:spPr>
            <a:xfrm>
              <a:off x="609600" y="3143250"/>
              <a:ext cx="5486400" cy="6096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795147" y="3380899"/>
              <a:ext cx="5640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代码审查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2414588" y="3388995"/>
              <a:ext cx="49415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逐行人审</a:t>
              </a:r>
            </a:p>
          </p:txBody>
        </p:sp>
        <p:sp>
          <p:nvSpPr>
            <p:cNvPr id="25" name="Polygon 25"/>
            <p:cNvSpPr/>
            <p:nvPr/>
          </p:nvSpPr>
          <p:spPr>
            <a:xfrm>
              <a:off x="4114800" y="34099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38100"/>
                  </a:moveTo>
                  <a:lnTo>
                    <a:pt x="0" y="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4471988" y="3388995"/>
              <a:ext cx="14186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初审 + 人终审 findings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609600" y="3829050"/>
            <a:ext cx="5486400" cy="609600"/>
            <a:chOff x="609600" y="3829050"/>
            <a:chExt cx="5486400" cy="609600"/>
          </a:xfrm>
        </p:grpSpPr>
        <p:sp>
          <p:nvSpPr>
            <p:cNvPr id="28" name="Rectangle 28"/>
            <p:cNvSpPr/>
            <p:nvPr/>
          </p:nvSpPr>
          <p:spPr>
            <a:xfrm>
              <a:off x="609600" y="3829050"/>
              <a:ext cx="5486400" cy="609600"/>
            </a:xfrm>
            <a:prstGeom prst="roundRect">
              <a:avLst>
                <a:gd name="adj" fmla="val 125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795147" y="4066699"/>
              <a:ext cx="2869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合入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2414588" y="4074795"/>
              <a:ext cx="85763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审查通过即合入</a:t>
              </a:r>
            </a:p>
          </p:txBody>
        </p:sp>
        <p:sp>
          <p:nvSpPr>
            <p:cNvPr id="31" name="Polygon 31"/>
            <p:cNvSpPr/>
            <p:nvPr/>
          </p:nvSpPr>
          <p:spPr>
            <a:xfrm>
              <a:off x="4114800" y="4095750"/>
              <a:ext cx="76200" cy="76200"/>
            </a:xfrm>
            <a:custGeom>
              <a:avLst/>
              <a:gdLst/>
              <a:ahLst/>
              <a:cxnLst/>
              <a:rect l="l" t="t" r="r" b="b"/>
              <a:pathLst>
                <a:path w="76200" h="76200">
                  <a:moveTo>
                    <a:pt x="76200" y="38100"/>
                  </a:moveTo>
                  <a:lnTo>
                    <a:pt x="0" y="0"/>
                  </a:lnTo>
                  <a:lnTo>
                    <a:pt x="0" y="76200"/>
                  </a:lnTo>
                  <a:close/>
                </a:path>
              </a:pathLst>
            </a:custGeom>
            <a:solidFill>
              <a:srgbClr val="6B7484"/>
            </a:solidFill>
            <a:ln>
              <a:noFill/>
            </a:ln>
          </p:spPr>
        </p:sp>
        <p:sp>
          <p:nvSpPr>
            <p:cNvPr id="32" name="TextBox 32"/>
            <p:cNvSpPr txBox="1"/>
            <p:nvPr/>
          </p:nvSpPr>
          <p:spPr>
            <a:xfrm>
              <a:off x="4471988" y="4074795"/>
              <a:ext cx="75761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DoD 机器门禁</a:t>
              </a:r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400800" y="1428750"/>
            <a:ext cx="5181600" cy="952500"/>
            <a:chOff x="6400800" y="1428750"/>
            <a:chExt cx="5181600" cy="952500"/>
          </a:xfrm>
        </p:grpSpPr>
        <p:sp>
          <p:nvSpPr>
            <p:cNvPr id="34" name="Rectangle 34"/>
            <p:cNvSpPr/>
            <p:nvPr/>
          </p:nvSpPr>
          <p:spPr>
            <a:xfrm>
              <a:off x="6400800" y="1428750"/>
              <a:ext cx="5181600" cy="9525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6585966" y="1582102"/>
              <a:ext cx="1147610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SE → 需求工程师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6586538" y="1807845"/>
              <a:ext cx="225620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+ 分解裁决 · AR 规格会签 · 模式库运营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6586538" y="1998345"/>
              <a:ext cx="122110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− 写长文档 · 组织串讲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6586538" y="2188845"/>
              <a:ext cx="16289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不变：R1 / R2 需求质量签字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6400800" y="2495550"/>
            <a:ext cx="5181600" cy="952500"/>
            <a:chOff x="6400800" y="2495550"/>
            <a:chExt cx="5181600" cy="952500"/>
          </a:xfrm>
        </p:grpSpPr>
        <p:sp>
          <p:nvSpPr>
            <p:cNvPr id="40" name="Rectangle 40"/>
            <p:cNvSpPr/>
            <p:nvPr/>
          </p:nvSpPr>
          <p:spPr>
            <a:xfrm>
              <a:off x="6400800" y="2495550"/>
              <a:ext cx="5181600" cy="9525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6585966" y="2648902"/>
              <a:ext cx="151711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开发 → 全栈构建工程师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6586538" y="2874645"/>
              <a:ext cx="218442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+ AR 规格化主导 · findings 处置 · 跨栈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6586538" y="3065145"/>
              <a:ext cx="11936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− 逐行手写代码与 UT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6586538" y="3255645"/>
              <a:ext cx="192336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不变：R3 设计签字 · R4 代码终审</a:t>
              </a:r>
            </a:p>
          </p:txBody>
        </p:sp>
      </p:grpSp>
      <p:grpSp>
        <p:nvGrpSpPr>
          <p:cNvPr id="51" name="Group 51"/>
          <p:cNvGrpSpPr/>
          <p:nvPr/>
        </p:nvGrpSpPr>
        <p:grpSpPr>
          <a:xfrm>
            <a:off x="6400800" y="3562350"/>
            <a:ext cx="5181600" cy="952500"/>
            <a:chOff x="6400800" y="3562350"/>
            <a:chExt cx="5181600" cy="952500"/>
          </a:xfrm>
        </p:grpSpPr>
        <p:sp>
          <p:nvSpPr>
            <p:cNvPr id="46" name="Rectangle 46"/>
            <p:cNvSpPr/>
            <p:nvPr/>
          </p:nvSpPr>
          <p:spPr>
            <a:xfrm>
              <a:off x="6400800" y="3562350"/>
              <a:ext cx="5181600" cy="95250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6585966" y="3715702"/>
              <a:ext cx="122027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测试 → 质量工程师</a:t>
              </a:r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6586538" y="3941445"/>
              <a:ext cx="2096186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+ 测试策略 · AI 用例评审 · 缺陷标注</a:t>
              </a:r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6586538" y="4131945"/>
              <a:ext cx="17057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− 手工执行回归 · 手写用例脚本</a:t>
              </a:r>
            </a:p>
          </p:txBody>
        </p:sp>
        <p:sp>
          <p:nvSpPr>
            <p:cNvPr id="50" name="TextBox 50"/>
            <p:cNvSpPr txBox="1"/>
            <p:nvPr/>
          </p:nvSpPr>
          <p:spPr>
            <a:xfrm>
              <a:off x="6586538" y="4322445"/>
              <a:ext cx="10848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不变：G7 验收签认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609600" y="5143500"/>
            <a:ext cx="10972800" cy="647700"/>
            <a:chOff x="609600" y="5143500"/>
            <a:chExt cx="10972800" cy="647700"/>
          </a:xfrm>
        </p:grpSpPr>
        <p:sp>
          <p:nvSpPr>
            <p:cNvPr id="52" name="Rectangle 52"/>
            <p:cNvSpPr/>
            <p:nvPr/>
          </p:nvSpPr>
          <p:spPr>
            <a:xfrm>
              <a:off x="609600" y="5143500"/>
              <a:ext cx="10972800" cy="647700"/>
            </a:xfrm>
            <a:prstGeom prst="roundRect">
              <a:avLst>
                <a:gd name="adj" fmla="val 14706"/>
              </a:avLst>
            </a:prstGeom>
            <a:solidFill>
              <a:srgbClr val="16283F"/>
            </a:solidFill>
            <a:ln>
              <a:noFill/>
            </a:ln>
          </p:spPr>
        </p:sp>
        <p:sp>
          <p:nvSpPr>
            <p:cNvPr id="53" name="TextBox 53"/>
            <p:cNvSpPr txBox="1"/>
            <p:nvPr/>
          </p:nvSpPr>
          <p:spPr>
            <a:xfrm>
              <a:off x="4977527" y="5296852"/>
              <a:ext cx="2236946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评审能力成为所有角色的核心技能</a:t>
              </a:r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3956571" y="5541645"/>
              <a:ext cx="427885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签字人核对的对象从"人写的"变成"AI 写的"；这也是初级人员培养的主战场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56" name="TextBox 56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14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4336131" cy="638746"/>
            <a:chOff x="598551" y="504349"/>
            <a:chExt cx="4336131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0372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14 · 实施路线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4336131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条件驱动，不排日历：三个阶段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18" name="Group 18"/>
          <p:cNvGrpSpPr/>
          <p:nvPr/>
        </p:nvGrpSpPr>
        <p:grpSpPr>
          <a:xfrm>
            <a:off x="609600" y="1428750"/>
            <a:ext cx="3505200" cy="3619500"/>
            <a:chOff x="609600" y="1428750"/>
            <a:chExt cx="3505200" cy="361950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3505200" cy="3619500"/>
            </a:xfrm>
            <a:prstGeom prst="roundRect">
              <a:avLst>
                <a:gd name="adj" fmla="val 2717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Rectangle 7"/>
            <p:cNvSpPr/>
            <p:nvPr/>
          </p:nvSpPr>
          <p:spPr>
            <a:xfrm>
              <a:off x="609600" y="1428750"/>
              <a:ext cx="3505200" cy="438150"/>
            </a:xfrm>
            <a:prstGeom prst="roundRect">
              <a:avLst>
                <a:gd name="adj" fmla="val 21739"/>
              </a:avLst>
            </a:prstGeom>
            <a:solidFill>
              <a:srgbClr val="E8EEF5"/>
            </a:solidFill>
            <a:ln>
              <a:noFill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794385" y="1583531"/>
              <a:ext cx="1459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阶段一 · 单链路试点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795338" y="2055495"/>
              <a:ext cx="3911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做什么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795338" y="2265045"/>
              <a:ext cx="171328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选 1 个无安全项的中等 SR，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909638" y="2446020"/>
              <a:ext cx="164813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小分队雏形（SE 1 + 开发 2 +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909638" y="2626995"/>
              <a:ext cx="182689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测试 1 + 知识工程师兼职）跑全程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795338" y="2807970"/>
              <a:ext cx="192405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同步建最小知识库、门禁轻量版、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909638" y="2988945"/>
              <a:ext cx="6153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追溯自动化</a:t>
              </a:r>
            </a:p>
          </p:txBody>
        </p:sp>
        <p:sp>
          <p:nvSpPr>
            <p:cNvPr id="15" name="Line 15"/>
            <p:cNvSpPr/>
            <p:nvPr/>
          </p:nvSpPr>
          <p:spPr>
            <a:xfrm>
              <a:off x="800100" y="31432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795338" y="33127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准出条件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795338" y="3522345"/>
              <a:ext cx="1935480" cy="719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lnSpc>
                  <a:spcPts val="142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参与率 ≥ 70%，追溯零断链</a:t>
              </a:r>
            </a:p>
            <a:p>
              <a:pPr algn="l" marL="97155" indent="-97155">
                <a:lnSpc>
                  <a:spcPts val="142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代码占比 ≥ 60% 且 critical 闭环</a:t>
              </a:r>
            </a:p>
            <a:p>
              <a:pPr algn="l" marL="97155" indent="-97155">
                <a:lnSpc>
                  <a:spcPts val="142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缺陷密度不劣于历史基线</a:t>
              </a:r>
            </a:p>
            <a:p>
              <a:pPr algn="l" marL="97155" indent="-97155">
                <a:lnSpc>
                  <a:spcPts val="142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产出偏差清单（哪些设计落不了地）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4343400" y="1428750"/>
            <a:ext cx="3505200" cy="3619500"/>
            <a:chOff x="4343400" y="1428750"/>
            <a:chExt cx="3505200" cy="3619500"/>
          </a:xfrm>
        </p:grpSpPr>
        <p:sp>
          <p:nvSpPr>
            <p:cNvPr id="19" name="Rectangle 19"/>
            <p:cNvSpPr/>
            <p:nvPr/>
          </p:nvSpPr>
          <p:spPr>
            <a:xfrm>
              <a:off x="4343400" y="1428750"/>
              <a:ext cx="3505200" cy="3619500"/>
            </a:xfrm>
            <a:prstGeom prst="roundRect">
              <a:avLst>
                <a:gd name="adj" fmla="val 2717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0" name="Rectangle 20"/>
            <p:cNvSpPr/>
            <p:nvPr/>
          </p:nvSpPr>
          <p:spPr>
            <a:xfrm>
              <a:off x="4343400" y="1428750"/>
              <a:ext cx="3505200" cy="438150"/>
            </a:xfrm>
            <a:prstGeom prst="roundRect">
              <a:avLst>
                <a:gd name="adj" fmla="val 21739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21" name="TextBox 21"/>
            <p:cNvSpPr txBox="1"/>
            <p:nvPr/>
          </p:nvSpPr>
          <p:spPr>
            <a:xfrm>
              <a:off x="4528185" y="1583531"/>
              <a:ext cx="1459995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阶段二 · 小分队闭环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4529138" y="2055495"/>
              <a:ext cx="3911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做什么</a:t>
              </a:r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4529138" y="2265045"/>
              <a:ext cx="196039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1–2 个 squad 常态化承接连续需求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4529138" y="2446020"/>
              <a:ext cx="168173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门禁全量上线，度量面板运转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4529138" y="2626995"/>
              <a:ext cx="131826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知识飞轮五环跑起来，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4643438" y="2807970"/>
              <a:ext cx="109994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产出首批萃取模式卡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533900" y="31432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529138" y="33127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准出条件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4529138" y="3522345"/>
              <a:ext cx="1855470" cy="71913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lnSpc>
                  <a:spcPts val="142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交付周期降 ≥ 30% 或吞吐升 ≥ 50%</a:t>
              </a:r>
            </a:p>
            <a:p>
              <a:pPr algn="l" marL="97155" indent="-97155">
                <a:lnSpc>
                  <a:spcPts val="142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逃逸缺陷率不升</a:t>
              </a:r>
            </a:p>
            <a:p>
              <a:pPr algn="l" marL="97155" indent="-97155">
                <a:lnSpc>
                  <a:spcPts val="142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知识月增 ≥ 10 条且命中率 ≥ 40%</a:t>
              </a:r>
            </a:p>
            <a:p>
              <a:pPr algn="l" marL="97155" indent="-97155">
                <a:lnSpc>
                  <a:spcPts val="1425"/>
                </a:lnSpc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角色转型评估达标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8077200" y="1428750"/>
            <a:ext cx="3505200" cy="3619500"/>
            <a:chOff x="8077200" y="1428750"/>
            <a:chExt cx="3505200" cy="3619500"/>
          </a:xfrm>
        </p:grpSpPr>
        <p:sp>
          <p:nvSpPr>
            <p:cNvPr id="31" name="Rectangle 31"/>
            <p:cNvSpPr/>
            <p:nvPr/>
          </p:nvSpPr>
          <p:spPr>
            <a:xfrm>
              <a:off x="8077200" y="1428750"/>
              <a:ext cx="3505200" cy="3619500"/>
            </a:xfrm>
            <a:prstGeom prst="roundRect">
              <a:avLst>
                <a:gd name="adj" fmla="val 2717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32" name="Rectangle 32"/>
            <p:cNvSpPr/>
            <p:nvPr/>
          </p:nvSpPr>
          <p:spPr>
            <a:xfrm>
              <a:off x="8077200" y="1428750"/>
              <a:ext cx="3505200" cy="438150"/>
            </a:xfrm>
            <a:prstGeom prst="roundRect">
              <a:avLst>
                <a:gd name="adj" fmla="val 21739"/>
              </a:avLst>
            </a:prstGeom>
            <a:solidFill>
              <a:srgbClr val="E4F0E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261985" y="1583531"/>
              <a:ext cx="1618308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2E7D6B"/>
                  </a:solidFill>
                  <a:latin typeface="Microsoft YaHei"/>
                  <a:ea typeface="Microsoft YaHei"/>
                  <a:cs typeface="Microsoft YaHei"/>
                </a:rPr>
                <a:t>阶段三 · 规模化平台化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8262938" y="2055495"/>
              <a:ext cx="3911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做什么</a:t>
              </a:r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8262938" y="2265045"/>
              <a:ext cx="96084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squad 数量扩展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262938" y="2446020"/>
              <a:ext cx="179009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平台组成立，网关 / 编排 /</a:t>
              </a:r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8377238" y="2626995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评估收归平台</a:t>
              </a:r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8262938" y="2807970"/>
              <a:ext cx="176448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职能线转能力线，与 IPD / TR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8377238" y="2988945"/>
              <a:ext cx="170573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正式并轨（流程文件修订发布）</a:t>
              </a:r>
            </a:p>
          </p:txBody>
        </p:sp>
        <p:sp>
          <p:nvSpPr>
            <p:cNvPr id="40" name="Line 40"/>
            <p:cNvSpPr/>
            <p:nvPr/>
          </p:nvSpPr>
          <p:spPr>
            <a:xfrm>
              <a:off x="8267700" y="3143250"/>
              <a:ext cx="3124200" cy="9525"/>
            </a:xfrm>
            <a:custGeom>
              <a:avLst/>
              <a:gdLst/>
              <a:ahLst/>
              <a:cxnLst/>
              <a:rect l="l" t="t" r="r" b="b"/>
              <a:pathLst>
                <a:path w="3124200" h="9525">
                  <a:moveTo>
                    <a:pt x="0" y="0"/>
                  </a:moveTo>
                  <a:lnTo>
                    <a:pt x="312420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262938" y="3312795"/>
              <a:ext cx="51838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准出条件</a:t>
              </a:r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8262938" y="3522345"/>
              <a:ext cx="143941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新项目默认按新流程立项</a:t>
              </a:r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8262938" y="3703320"/>
              <a:ext cx="168767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ASPICE 审核以新证据链通过</a:t>
              </a:r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8262938" y="3884295"/>
              <a:ext cx="160298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 marL="97155" indent="-97155">
                <a:buClr>
                  <a:srgbClr val="3D4759"/>
                </a:buClr>
                <a:buSzTx/>
                <a:buFontTx/>
                <a:buChar char="•"/>
              </a:pPr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知识库成为新人与 agent 的</a:t>
              </a:r>
            </a:p>
          </p:txBody>
        </p:sp>
        <p:sp>
          <p:nvSpPr>
            <p:cNvPr id="45" name="TextBox 45"/>
            <p:cNvSpPr txBox="1"/>
            <p:nvPr/>
          </p:nvSpPr>
          <p:spPr>
            <a:xfrm>
              <a:off x="8377238" y="4065270"/>
              <a:ext cx="73647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默认上手路径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609600" y="5334000"/>
            <a:ext cx="10972800" cy="533400"/>
            <a:chOff x="609600" y="5334000"/>
            <a:chExt cx="10972800" cy="533400"/>
          </a:xfrm>
        </p:grpSpPr>
        <p:sp>
          <p:nvSpPr>
            <p:cNvPr id="47" name="Rectangle 47"/>
            <p:cNvSpPr/>
            <p:nvPr/>
          </p:nvSpPr>
          <p:spPr>
            <a:xfrm>
              <a:off x="609600" y="5334000"/>
              <a:ext cx="10972800" cy="533400"/>
            </a:xfrm>
            <a:prstGeom prst="roundRect">
              <a:avLst>
                <a:gd name="adj" fmla="val 17857"/>
              </a:avLst>
            </a:prstGeom>
            <a:solidFill>
              <a:srgbClr val="1F4E79"/>
            </a:solidFill>
            <a:ln>
              <a:noFill/>
            </a:ln>
          </p:spPr>
        </p:sp>
        <p:sp>
          <p:nvSpPr>
            <p:cNvPr id="48" name="TextBox 48"/>
            <p:cNvSpPr txBox="1"/>
            <p:nvPr/>
          </p:nvSpPr>
          <p:spPr>
            <a:xfrm>
              <a:off x="3284849" y="5544502"/>
              <a:ext cx="56223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ctr"/>
              <a:r>
                <a:rPr lang="zh-CN" sz="1050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每个阶段结束做正式复盘，偏差清单回流修订本方案 —— 方案本身也是知识资产，要版本化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50" name="TextBox 50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15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7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5"/>
          <p:cNvGrpSpPr/>
          <p:nvPr/>
        </p:nvGrpSpPr>
        <p:grpSpPr>
          <a:xfrm>
            <a:off x="598551" y="504349"/>
            <a:ext cx="4027985" cy="638746"/>
            <a:chOff x="598551" y="504349"/>
            <a:chExt cx="4027985" cy="638746"/>
          </a:xfrm>
        </p:grpSpPr>
        <p:sp>
          <p:nvSpPr>
            <p:cNvPr id="2" name="TextBox 2"/>
            <p:cNvSpPr txBox="1"/>
            <p:nvPr/>
          </p:nvSpPr>
          <p:spPr>
            <a:xfrm>
              <a:off x="604647" y="504349"/>
              <a:ext cx="119594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spc="150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15 · 度量与风险</a:t>
              </a:r>
            </a:p>
          </p:txBody>
        </p:sp>
        <p:sp>
          <p:nvSpPr>
            <p:cNvPr id="3" name="TextBox 3"/>
            <p:cNvSpPr txBox="1"/>
            <p:nvPr/>
          </p:nvSpPr>
          <p:spPr>
            <a:xfrm>
              <a:off x="598551" y="717709"/>
              <a:ext cx="4027985" cy="42538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218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度量自动采集，风险前置管理</a:t>
              </a:r>
            </a:p>
          </p:txBody>
        </p:sp>
        <p:sp>
          <p:nvSpPr>
            <p:cNvPr id="4" name="Rectangle 4"/>
            <p:cNvSpPr/>
            <p:nvPr/>
          </p:nvSpPr>
          <p:spPr>
            <a:xfrm>
              <a:off x="609600" y="1066800"/>
              <a:ext cx="533400" cy="3810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609600" y="1428750"/>
            <a:ext cx="5410200" cy="3333750"/>
            <a:chOff x="609600" y="1428750"/>
            <a:chExt cx="5410200" cy="3333750"/>
          </a:xfrm>
        </p:grpSpPr>
        <p:sp>
          <p:nvSpPr>
            <p:cNvPr id="6" name="Rectangle 6"/>
            <p:cNvSpPr/>
            <p:nvPr/>
          </p:nvSpPr>
          <p:spPr>
            <a:xfrm>
              <a:off x="609600" y="1428750"/>
              <a:ext cx="5410200" cy="3333750"/>
            </a:xfrm>
            <a:prstGeom prst="roundRect">
              <a:avLst>
                <a:gd name="adj" fmla="val 2857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7" name="TextBox 7"/>
            <p:cNvSpPr txBox="1"/>
            <p:nvPr/>
          </p:nvSpPr>
          <p:spPr>
            <a:xfrm>
              <a:off x="832485" y="1631156"/>
              <a:ext cx="644682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五维度量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833438" y="1873091"/>
              <a:ext cx="1554963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产线留痕自动采集，不让人填报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833247" y="2237899"/>
              <a:ext cx="2869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效率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709738" y="2245995"/>
              <a:ext cx="2288210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SR / AR 交付周期 · 回归测试周期（降）</a:t>
              </a:r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833247" y="2714149"/>
              <a:ext cx="2869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质量</a:t>
              </a: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1709738" y="2722245"/>
              <a:ext cx="229335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逃逸缺陷率（降）· 验收一次通过率（升）</a:t>
              </a:r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833247" y="3190399"/>
              <a:ext cx="47095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AI 效能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1709738" y="3198495"/>
              <a:ext cx="21055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产出一次通过率 · 生成占比 · 人修订率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33247" y="3666649"/>
              <a:ext cx="2869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知识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709738" y="3674745"/>
              <a:ext cx="2105558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模式卡新增 · 检索命中率 · 缺陷预防数</a:t>
              </a:r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833247" y="4142899"/>
              <a:ext cx="286954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1F4E79"/>
                  </a:solidFill>
                  <a:latin typeface="Microsoft YaHei"/>
                  <a:ea typeface="Microsoft YaHei"/>
                  <a:cs typeface="Microsoft YaHei"/>
                </a:rPr>
                <a:t>组织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709738" y="4150995"/>
              <a:ext cx="2313813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转型达标率 · 人均管理 SR 数 · 串讲时长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38200" y="4419600"/>
              <a:ext cx="4953000" cy="9525"/>
            </a:xfrm>
            <a:custGeom>
              <a:avLst/>
              <a:gdLst/>
              <a:ahLst/>
              <a:cxnLst/>
              <a:rect l="l" t="t" r="r" b="b"/>
              <a:pathLst>
                <a:path w="4953000" h="9525">
                  <a:moveTo>
                    <a:pt x="0" y="0"/>
                  </a:moveTo>
                  <a:lnTo>
                    <a:pt x="4953000" y="0"/>
                  </a:lnTo>
                </a:path>
              </a:pathLst>
            </a:custGeom>
            <a:noFill/>
            <a:ln w="9525">
              <a:solidFill>
                <a:srgbClr val="EDEFF3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833438" y="4531995"/>
              <a:ext cx="2426627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质量与效率成对看，单指标突升触发审查。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324600" y="1428750"/>
            <a:ext cx="5257800" cy="3333750"/>
            <a:chOff x="6324600" y="1428750"/>
            <a:chExt cx="5257800" cy="3333750"/>
          </a:xfrm>
        </p:grpSpPr>
        <p:sp>
          <p:nvSpPr>
            <p:cNvPr id="22" name="Rectangle 22"/>
            <p:cNvSpPr/>
            <p:nvPr/>
          </p:nvSpPr>
          <p:spPr>
            <a:xfrm>
              <a:off x="6324600" y="1428750"/>
              <a:ext cx="5257800" cy="3333750"/>
            </a:xfrm>
            <a:prstGeom prst="roundRect">
              <a:avLst>
                <a:gd name="adj" fmla="val 2857"/>
              </a:avLst>
            </a:prstGeom>
            <a:solidFill>
              <a:srgbClr val="FFFFFF"/>
            </a:solidFill>
            <a:ln w="9525">
              <a:solidFill>
                <a:srgbClr val="D9DEE6"/>
              </a:solidFill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6547485" y="1631156"/>
              <a:ext cx="961309" cy="220028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120" b="1" dirty="0">
                  <a:solidFill>
                    <a:srgbClr val="1A2233"/>
                  </a:solidFill>
                  <a:latin typeface="Microsoft YaHei"/>
                  <a:ea typeface="Microsoft YaHei"/>
                  <a:cs typeface="Microsoft YaHei"/>
                </a:rPr>
                <a:t>四个主要风险</a:t>
              </a:r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6548247" y="2009299"/>
              <a:ext cx="125662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批量正确、个别离谱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6548438" y="2226945"/>
              <a:ext cx="2953664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逐件签字 + 评估基线阻断 + 抽审已放行件并回溯签字人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6548247" y="2714149"/>
              <a:ext cx="702526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能力空心化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6548438" y="2931795"/>
              <a:ext cx="3280791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评审强制写修订意见；保留人专属的探索性测试与安全决策区</a:t>
              </a:r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6548247" y="3418999"/>
              <a:ext cx="841050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安全合规事件</a:t>
              </a:r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6548438" y="3636645"/>
              <a:ext cx="3133115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领域红线机器强制执行；L3 上抛不可降级；证据链迎审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6548247" y="4123849"/>
              <a:ext cx="564002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b="1" dirty="0">
                  <a:solidFill>
                    <a:srgbClr val="B3392E"/>
                  </a:solidFill>
                  <a:latin typeface="Microsoft YaHei"/>
                  <a:ea typeface="Microsoft YaHei"/>
                  <a:cs typeface="Microsoft YaHei"/>
                </a:rPr>
                <a:t>组织反弹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6548438" y="4341495"/>
              <a:ext cx="3401949" cy="17621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0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职能线先转能力线不撤销；考核与激励同步切换，先转者不吃亏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609600" y="5048250"/>
            <a:ext cx="10972800" cy="666750"/>
            <a:chOff x="609600" y="5048250"/>
            <a:chExt cx="10972800" cy="666750"/>
          </a:xfrm>
        </p:grpSpPr>
        <p:sp>
          <p:nvSpPr>
            <p:cNvPr id="33" name="Rectangle 33"/>
            <p:cNvSpPr/>
            <p:nvPr/>
          </p:nvSpPr>
          <p:spPr>
            <a:xfrm>
              <a:off x="609600" y="5048250"/>
              <a:ext cx="10972800" cy="666750"/>
            </a:xfrm>
            <a:prstGeom prst="roundRect">
              <a:avLst>
                <a:gd name="adj" fmla="val 14286"/>
              </a:avLst>
            </a:prstGeom>
            <a:solidFill>
              <a:srgbClr val="FDEDE1"/>
            </a:solidFill>
            <a:ln>
              <a:noFill/>
            </a:ln>
          </p:spPr>
        </p:sp>
        <p:sp>
          <p:nvSpPr>
            <p:cNvPr id="34" name="Rectangle 34"/>
            <p:cNvSpPr/>
            <p:nvPr/>
          </p:nvSpPr>
          <p:spPr>
            <a:xfrm>
              <a:off x="609600" y="5048250"/>
              <a:ext cx="47625" cy="666750"/>
            </a:xfrm>
            <a:prstGeom prst="rect">
              <a:avLst/>
            </a:prstGeom>
            <a:solidFill>
              <a:srgbClr val="E8600A"/>
            </a:solidFill>
            <a:ln>
              <a:noFill/>
            </a:ln>
          </p:spPr>
        </p:sp>
        <p:sp>
          <p:nvSpPr>
            <p:cNvPr id="35" name="TextBox 35"/>
            <p:cNvSpPr txBox="1"/>
            <p:nvPr/>
          </p:nvSpPr>
          <p:spPr>
            <a:xfrm>
              <a:off x="870966" y="5220652"/>
              <a:ext cx="2979039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dirty="0">
                  <a:solidFill>
                    <a:srgbClr val="E8600A"/>
                  </a:solidFill>
                  <a:latin typeface="Microsoft YaHei"/>
                  <a:ea typeface="Microsoft YaHei"/>
                  <a:cs typeface="Microsoft YaHei"/>
                </a:rPr>
                <a:t>明确不考核：代码行数、文档页数、用例条数</a:t>
              </a:r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871347" y="5457349"/>
              <a:ext cx="3808425" cy="19069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980" dirty="0">
                  <a:solidFill>
                    <a:srgbClr val="3D4759"/>
                  </a:solidFill>
                  <a:latin typeface="Microsoft YaHei"/>
                  <a:ea typeface="Microsoft YaHei"/>
                  <a:cs typeface="Microsoft YaHei"/>
                </a:rPr>
                <a:t>AI 最擅长制造这些"量"；旧指标不改，新流程会被拉回老路。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604838" y="6492716"/>
            <a:ext cx="10982324" cy="161925"/>
            <a:chOff x="604838" y="6492716"/>
            <a:chExt cx="10982324" cy="161925"/>
          </a:xfrm>
        </p:grpSpPr>
        <p:sp>
          <p:nvSpPr>
            <p:cNvPr id="38" name="TextBox 38"/>
            <p:cNvSpPr txBox="1"/>
            <p:nvPr/>
          </p:nvSpPr>
          <p:spPr>
            <a:xfrm>
              <a:off x="604838" y="6492716"/>
              <a:ext cx="2377252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AI 辅助研发变革方案 · 从三段接力到人机共线</a:t>
              </a:r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11207836" y="6492716"/>
              <a:ext cx="379326" cy="161925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r"/>
              <a:r>
                <a:rPr lang="en-US" sz="820" dirty="0">
                  <a:solidFill>
                    <a:srgbClr val="8A93A3"/>
                  </a:solidFill>
                  <a:latin typeface="Microsoft YaHei"/>
                  <a:ea typeface="Microsoft YaHei"/>
                  <a:cs typeface="Microsoft YaHei"/>
                </a:rPr>
                <a:t>16 / 17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382000" y="0"/>
            <a:ext cx="3810000" cy="6858000"/>
          </a:xfrm>
          <a:custGeom>
            <a:avLst/>
            <a:gdLst/>
            <a:ahLst/>
            <a:cxnLst/>
            <a:rect l="l" t="t" r="r" b="b"/>
            <a:pathLst>
              <a:path w="3810000" h="6858000">
                <a:moveTo>
                  <a:pt x="0" y="0"/>
                </a:moveTo>
                <a:lnTo>
                  <a:pt x="0" y="6858000"/>
                </a:lnTo>
                <a:moveTo>
                  <a:pt x="762000" y="0"/>
                </a:moveTo>
                <a:lnTo>
                  <a:pt x="762000" y="6858000"/>
                </a:lnTo>
                <a:moveTo>
                  <a:pt x="1524000" y="0"/>
                </a:moveTo>
                <a:lnTo>
                  <a:pt x="1524000" y="6858000"/>
                </a:lnTo>
                <a:moveTo>
                  <a:pt x="2286000" y="0"/>
                </a:moveTo>
                <a:lnTo>
                  <a:pt x="2286000" y="6858000"/>
                </a:lnTo>
                <a:moveTo>
                  <a:pt x="3048000" y="0"/>
                </a:moveTo>
                <a:lnTo>
                  <a:pt x="3048000" y="6858000"/>
                </a:lnTo>
                <a:moveTo>
                  <a:pt x="0" y="1143000"/>
                </a:moveTo>
                <a:lnTo>
                  <a:pt x="3810000" y="1143000"/>
                </a:lnTo>
                <a:moveTo>
                  <a:pt x="0" y="2286000"/>
                </a:moveTo>
                <a:lnTo>
                  <a:pt x="3810000" y="2286000"/>
                </a:lnTo>
                <a:moveTo>
                  <a:pt x="0" y="3429000"/>
                </a:moveTo>
                <a:lnTo>
                  <a:pt x="3810000" y="3429000"/>
                </a:lnTo>
                <a:moveTo>
                  <a:pt x="0" y="4572000"/>
                </a:moveTo>
                <a:lnTo>
                  <a:pt x="3810000" y="4572000"/>
                </a:lnTo>
                <a:moveTo>
                  <a:pt x="0" y="5715000"/>
                </a:moveTo>
                <a:lnTo>
                  <a:pt x="3810000" y="5715000"/>
                </a:lnTo>
              </a:path>
            </a:pathLst>
          </a:custGeom>
          <a:noFill/>
          <a:ln w="9525">
            <a:solidFill>
              <a:srgbClr val="FFFFFF">
                <a:alpha val="5000"/>
              </a:srgbClr>
            </a:solidFill>
          </a:ln>
        </p:spPr>
      </p:sp>
      <p:sp>
        <p:nvSpPr>
          <p:cNvPr id="3" name="Ellipse 3"/>
          <p:cNvSpPr/>
          <p:nvPr/>
        </p:nvSpPr>
        <p:spPr>
          <a:xfrm>
            <a:off x="9429750" y="381000"/>
            <a:ext cx="2095500" cy="2095500"/>
          </a:xfrm>
          <a:prstGeom prst="ellipse">
            <a:avLst/>
          </a:prstGeom>
          <a:noFill/>
          <a:ln w="14288">
            <a:solidFill>
              <a:srgbClr val="E8600A">
                <a:alpha val="35000"/>
              </a:srgbClr>
            </a:solidFill>
            <a:custDash>
              <a:ds d="400000" sp="400000"/>
            </a:custDash>
          </a:ln>
        </p:spPr>
      </p:sp>
      <p:grpSp>
        <p:nvGrpSpPr>
          <p:cNvPr id="6" name="Group 6"/>
          <p:cNvGrpSpPr/>
          <p:nvPr/>
        </p:nvGrpSpPr>
        <p:grpSpPr>
          <a:xfrm>
            <a:off x="1126236" y="1848802"/>
            <a:ext cx="4321424" cy="954977"/>
            <a:chOff x="1126236" y="1848802"/>
            <a:chExt cx="4321424" cy="954977"/>
          </a:xfrm>
        </p:grpSpPr>
        <p:sp>
          <p:nvSpPr>
            <p:cNvPr id="4" name="TextBox 4"/>
            <p:cNvSpPr txBox="1"/>
            <p:nvPr/>
          </p:nvSpPr>
          <p:spPr>
            <a:xfrm>
              <a:off x="1137666" y="1848802"/>
              <a:ext cx="516503" cy="205359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050" b="1" spc="225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下一步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1126236" y="2158365"/>
              <a:ext cx="4321424" cy="645414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33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从一条 SR 链路开始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143000" y="3143250"/>
            <a:ext cx="3352800" cy="1238250"/>
            <a:chOff x="1143000" y="3143250"/>
            <a:chExt cx="3352800" cy="1238250"/>
          </a:xfrm>
        </p:grpSpPr>
        <p:sp>
          <p:nvSpPr>
            <p:cNvPr id="7" name="Rectangle 7"/>
            <p:cNvSpPr/>
            <p:nvPr/>
          </p:nvSpPr>
          <p:spPr>
            <a:xfrm>
              <a:off x="1143000" y="3143250"/>
              <a:ext cx="3352800" cy="1238250"/>
            </a:xfrm>
            <a:prstGeom prst="roundRect">
              <a:avLst>
                <a:gd name="adj" fmla="val 7692"/>
              </a:avLst>
            </a:prstGeom>
            <a:solidFill>
              <a:srgbClr val="FFFFFF">
                <a:alpha val="8000"/>
              </a:srgbClr>
            </a:solidFill>
            <a:ln w="9525">
              <a:solidFill>
                <a:srgbClr val="FFFFFF">
                  <a:alpha val="25000"/>
                </a:srgbClr>
              </a:solidFill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1363980" y="33242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01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1365504" y="3642360"/>
              <a:ext cx="690677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选定试点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66838" y="3941445"/>
              <a:ext cx="1038225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挑一个中等复杂度、</a:t>
              </a:r>
              <a:br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无安全相关项的 SR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4724400" y="3143250"/>
            <a:ext cx="3352800" cy="1238250"/>
            <a:chOff x="4724400" y="3143250"/>
            <a:chExt cx="3352800" cy="1238250"/>
          </a:xfrm>
        </p:grpSpPr>
        <p:sp>
          <p:nvSpPr>
            <p:cNvPr id="12" name="Rectangle 12"/>
            <p:cNvSpPr/>
            <p:nvPr/>
          </p:nvSpPr>
          <p:spPr>
            <a:xfrm>
              <a:off x="4724400" y="3143250"/>
              <a:ext cx="3352800" cy="1238250"/>
            </a:xfrm>
            <a:prstGeom prst="roundRect">
              <a:avLst>
                <a:gd name="adj" fmla="val 7692"/>
              </a:avLst>
            </a:prstGeom>
            <a:solidFill>
              <a:srgbClr val="FFFFFF">
                <a:alpha val="8000"/>
              </a:srgbClr>
            </a:solidFill>
            <a:ln w="9525">
              <a:solidFill>
                <a:srgbClr val="FFFFFF">
                  <a:alpha val="25000"/>
                </a:srgbClr>
              </a:solidFill>
            </a:ln>
          </p:spPr>
        </p:sp>
        <p:sp>
          <p:nvSpPr>
            <p:cNvPr id="13" name="TextBox 13"/>
            <p:cNvSpPr txBox="1"/>
            <p:nvPr/>
          </p:nvSpPr>
          <p:spPr>
            <a:xfrm>
              <a:off x="4945380" y="33242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02</a:t>
              </a:r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4946904" y="3642360"/>
              <a:ext cx="1199540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组建小分队雏形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4948238" y="3941445"/>
              <a:ext cx="1146810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SE 1 + 开发 2 + 测试 1</a:t>
              </a:r>
              <a:br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+ 知识工程师兼职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305800" y="3143250"/>
            <a:ext cx="3352800" cy="1238250"/>
            <a:chOff x="8305800" y="3143250"/>
            <a:chExt cx="3352800" cy="1238250"/>
          </a:xfrm>
        </p:grpSpPr>
        <p:sp>
          <p:nvSpPr>
            <p:cNvPr id="17" name="Rectangle 17"/>
            <p:cNvSpPr/>
            <p:nvPr/>
          </p:nvSpPr>
          <p:spPr>
            <a:xfrm>
              <a:off x="8305800" y="3143250"/>
              <a:ext cx="3352800" cy="1238250"/>
            </a:xfrm>
            <a:prstGeom prst="roundRect">
              <a:avLst>
                <a:gd name="adj" fmla="val 7692"/>
              </a:avLst>
            </a:prstGeom>
            <a:solidFill>
              <a:srgbClr val="FFFFFF">
                <a:alpha val="8000"/>
              </a:srgbClr>
            </a:solidFill>
            <a:ln w="9525">
              <a:solidFill>
                <a:srgbClr val="FFFFFF">
                  <a:alpha val="25000"/>
                </a:srgbClr>
              </a:solidFill>
            </a:ln>
          </p:spPr>
        </p:sp>
        <p:sp>
          <p:nvSpPr>
            <p:cNvPr id="18" name="TextBox 18"/>
            <p:cNvSpPr txBox="1"/>
            <p:nvPr/>
          </p:nvSpPr>
          <p:spPr>
            <a:xfrm>
              <a:off x="8526780" y="3324225"/>
              <a:ext cx="248469" cy="29337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en-US" sz="1500" b="1" dirty="0">
                  <a:solidFill>
                    <a:srgbClr val="F08A3C"/>
                  </a:solidFill>
                  <a:latin typeface="Microsoft YaHei"/>
                  <a:ea typeface="Microsoft YaHei"/>
                  <a:cs typeface="Microsoft YaHei"/>
                </a:rPr>
                <a:t>03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8528304" y="3642360"/>
              <a:ext cx="1029919" cy="23469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/>
              <a:r>
                <a:rPr lang="zh-CN" sz="1200" b="1" dirty="0">
                  <a:solidFill>
                    <a:srgbClr val="FFFFFF"/>
                  </a:solidFill>
                  <a:latin typeface="Microsoft YaHei"/>
                  <a:ea typeface="Microsoft YaHei"/>
                  <a:cs typeface="Microsoft YaHei"/>
                </a:rPr>
                <a:t>建设最小底座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8529638" y="3941445"/>
              <a:ext cx="1152525" cy="347662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350"/>
                </a:lnSpc>
              </a:pPr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知识库、门禁轻量版、</a:t>
              </a:r>
              <a:br/>
              <a:r>
                <a:rPr lang="zh-CN" sz="900" dirty="0">
                  <a:solidFill>
                    <a:srgbClr val="C7D2E0"/>
                  </a:solidFill>
                  <a:latin typeface="Microsoft YaHei"/>
                  <a:ea typeface="Microsoft YaHei"/>
                  <a:cs typeface="Microsoft YaHei"/>
                </a:rPr>
                <a:t>追溯自动化（速赢点）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138047" y="5114449"/>
            <a:ext cx="2847594" cy="419291"/>
            <a:chOff x="1138047" y="5114449"/>
            <a:chExt cx="2847594" cy="419291"/>
          </a:xfrm>
        </p:grpSpPr>
        <p:sp>
          <p:nvSpPr>
            <p:cNvPr id="22" name="TextBox 22"/>
            <p:cNvSpPr txBox="1"/>
            <p:nvPr/>
          </p:nvSpPr>
          <p:spPr>
            <a:xfrm>
              <a:off x="1138047" y="5114449"/>
              <a:ext cx="2847594" cy="4192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t" anchorCtr="0">
              <a:spAutoFit/>
            </a:bodyPr>
            <a:lstStyle/>
            <a:p>
              <a:pPr algn="l">
                <a:lnSpc>
                  <a:spcPts val="1800"/>
                </a:lnSpc>
              </a:pPr>
              <a:r>
                <a:rPr lang="zh-CN" sz="980" dirty="0">
                  <a:solidFill>
                    <a:srgbClr val="8FA1B8"/>
                  </a:solidFill>
                  <a:latin typeface="Microsoft YaHei"/>
                  <a:ea typeface="Microsoft YaHei"/>
                  <a:cs typeface="Microsoft YaHei"/>
                </a:rPr>
                <a:t>方案全文：docs/ai-rd-transformation-plan.md</a:t>
              </a:r>
              <a:br/>
              <a:r>
                <a:rPr lang="zh-CN" sz="980" dirty="0">
                  <a:solidFill>
                    <a:srgbClr val="8FA1B8"/>
                  </a:solidFill>
                  <a:latin typeface="Microsoft YaHei"/>
                  <a:ea typeface="Microsoft YaHei"/>
                  <a:cs typeface="Microsoft YaHei"/>
                </a:rPr>
                <a:t>DevFlow 技能包是现成载体，欢迎评审与共创。</a:t>
              </a:r>
            </a:p>
          </p:txBody>
        </p:sp>
      </p:grp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ai-rd-plan">
  <a:themeElements>
    <a:clrScheme name="ai-rd-plan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i-rd-plan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i-rd-pla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17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/>
  <cp:lastModifiedBy/>
  <cp:revision>1</cp:revision>
  <dcterms:created xsi:type="dcterms:W3CDTF">2026-08-04T10:47:48Z</dcterms:created>
  <dcterms:modified xsi:type="dcterms:W3CDTF">2026-08-04T10:47:48Z</dcterms:modified>
  <cp:category/>
  <cp:contentStatus/>
</cp:coreProperties>
</file>