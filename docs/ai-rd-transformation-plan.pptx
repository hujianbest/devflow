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73" r:id="rId24"/>
    <p:sldId id="274" r:id="rId25"/>
    <p:sldId id="275" r:id="rId26"/>
    <p:sldId id="276" r:id="rId27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i-rd-pla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i-rd-pla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8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382000" y="0"/>
            <a:ext cx="3810000" cy="6858000"/>
          </a:xfrm>
          <a:custGeom>
            <a:avLst/>
            <a:gdLst/>
            <a:ahLst/>
            <a:cxnLst/>
            <a:rect l="l" t="t" r="r" b="b"/>
            <a:pathLst>
              <a:path w="3810000" h="6858000">
                <a:moveTo>
                  <a:pt x="0" y="0"/>
                </a:moveTo>
                <a:lnTo>
                  <a:pt x="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0" y="1143000"/>
                </a:moveTo>
                <a:lnTo>
                  <a:pt x="3810000" y="1143000"/>
                </a:lnTo>
                <a:moveTo>
                  <a:pt x="0" y="2286000"/>
                </a:moveTo>
                <a:lnTo>
                  <a:pt x="3810000" y="2286000"/>
                </a:lnTo>
                <a:moveTo>
                  <a:pt x="0" y="3429000"/>
                </a:moveTo>
                <a:lnTo>
                  <a:pt x="3810000" y="3429000"/>
                </a:lnTo>
                <a:moveTo>
                  <a:pt x="0" y="4572000"/>
                </a:moveTo>
                <a:lnTo>
                  <a:pt x="3810000" y="4572000"/>
                </a:lnTo>
                <a:moveTo>
                  <a:pt x="0" y="5715000"/>
                </a:moveTo>
                <a:lnTo>
                  <a:pt x="3810000" y="5715000"/>
                </a:lnTo>
              </a:path>
            </a:pathLst>
          </a:custGeom>
          <a:noFill/>
          <a:ln w="9525">
            <a:solidFill>
              <a:srgbClr val="FFFFFF">
                <a:alpha val="5000"/>
              </a:srgbClr>
            </a:solidFill>
          </a:ln>
        </p:spPr>
      </p:sp>
      <p:sp>
        <p:nvSpPr>
          <p:cNvPr id="3" name="Ellipse 3"/>
          <p:cNvSpPr/>
          <p:nvPr/>
        </p:nvSpPr>
        <p:spPr>
          <a:xfrm>
            <a:off x="8858250" y="476250"/>
            <a:ext cx="2857500" cy="2857500"/>
          </a:xfrm>
          <a:prstGeom prst="ellipse">
            <a:avLst/>
          </a:prstGeom>
          <a:noFill/>
          <a:ln w="14288">
            <a:solidFill>
              <a:srgbClr val="E8600A">
                <a:alpha val="35000"/>
              </a:srgbClr>
            </a:solidFill>
            <a:custDash>
              <a:ds d="400000" sp="400000"/>
            </a:custDash>
          </a:ln>
        </p:spPr>
      </p:sp>
      <p:sp>
        <p:nvSpPr>
          <p:cNvPr id="4" name="Ellipse 4"/>
          <p:cNvSpPr/>
          <p:nvPr/>
        </p:nvSpPr>
        <p:spPr>
          <a:xfrm>
            <a:off x="10220325" y="1838325"/>
            <a:ext cx="133350" cy="133350"/>
          </a:xfrm>
          <a:prstGeom prst="ellipse">
            <a:avLst/>
          </a:prstGeom>
          <a:solidFill>
            <a:srgbClr val="E8600A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914400" y="1829752"/>
            <a:ext cx="6354892" cy="2078832"/>
            <a:chOff x="914400" y="1829752"/>
            <a:chExt cx="6354892" cy="2078832"/>
          </a:xfrm>
        </p:grpSpPr>
        <p:sp>
          <p:nvSpPr>
            <p:cNvPr id="5" name="Rectangle 5"/>
            <p:cNvSpPr/>
            <p:nvPr/>
          </p:nvSpPr>
          <p:spPr>
            <a:xfrm>
              <a:off x="914400" y="2057400"/>
              <a:ext cx="57150" cy="952500"/>
            </a:xfrm>
            <a:prstGeom prst="rect">
              <a:avLst/>
            </a:prstGeom>
            <a:solidFill>
              <a:srgbClr val="E8600A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156716" y="1829752"/>
              <a:ext cx="20290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225" dirty="0">
                  <a:solidFill>
                    <a:srgbClr val="F08A3C"/>
                  </a:solidFill>
                  <a:latin typeface="Microsoft YaHei"/>
                  <a:ea typeface="Microsoft YaHei"/>
                  <a:cs typeface="Microsoft YaHei"/>
                </a:rPr>
                <a:t>研发组织变革 · 方案汇报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23950" y="2226945"/>
              <a:ext cx="536772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AI 辅助研发变革方案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52906" y="29679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C7D2E0"/>
                  </a:solidFill>
                  <a:latin typeface="Microsoft YaHei"/>
                  <a:ea typeface="Microsoft YaHei"/>
                  <a:cs typeface="Microsoft YaHei"/>
                </a:rPr>
                <a:t>从三段接力，到人机共线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56335" y="3688556"/>
              <a:ext cx="61129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FA1B8"/>
                  </a:solidFill>
                  <a:latin typeface="Microsoft YaHei"/>
                  <a:ea typeface="Microsoft YaHei"/>
                  <a:cs typeface="Microsoft YaHei"/>
                </a:rPr>
                <a:t>设计、开发、测试全流程 AI 产线建设，兼容 IPD 与车领域流程（ASPICE / ISO 26262）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43000" y="4629150"/>
            <a:ext cx="7277100" cy="1219200"/>
            <a:chOff x="1143000" y="4629150"/>
            <a:chExt cx="7277100" cy="1219200"/>
          </a:xfrm>
        </p:grpSpPr>
        <p:sp>
          <p:nvSpPr>
            <p:cNvPr id="11" name="Rectangle 11"/>
            <p:cNvSpPr/>
            <p:nvPr/>
          </p:nvSpPr>
          <p:spPr>
            <a:xfrm>
              <a:off x="1143000" y="4629150"/>
              <a:ext cx="2095500" cy="609600"/>
            </a:xfrm>
            <a:prstGeom prst="roundRect">
              <a:avLst>
                <a:gd name="adj" fmla="val 12500"/>
              </a:avLst>
            </a:prstGeom>
            <a:solidFill>
              <a:srgbClr val="FFFFFF">
                <a:alpha val="8000"/>
              </a:srgbClr>
            </a:solidFill>
            <a:ln w="9525">
              <a:solidFill>
                <a:srgbClr val="FFFFFF">
                  <a:alpha val="30000"/>
                </a:srgbClr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947565" y="4755356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设计段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96326" y="4989195"/>
              <a:ext cx="9888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FB0C4"/>
                  </a:solidFill>
                  <a:latin typeface="Microsoft YaHei"/>
                  <a:ea typeface="Microsoft YaHei"/>
                  <a:cs typeface="Microsoft YaHei"/>
                </a:rPr>
                <a:t>IR → SR → AR 分解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3295650" y="493395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F08A3C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3562350" y="48768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F08A3C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3733800" y="4629150"/>
              <a:ext cx="2095500" cy="609600"/>
            </a:xfrm>
            <a:prstGeom prst="roundRect">
              <a:avLst>
                <a:gd name="adj" fmla="val 12500"/>
              </a:avLst>
            </a:prstGeom>
            <a:solidFill>
              <a:srgbClr val="FFFFFF">
                <a:alpha val="8000"/>
              </a:srgbClr>
            </a:solidFill>
            <a:ln w="9525">
              <a:solidFill>
                <a:srgbClr val="FFFFFF">
                  <a:alpha val="30000"/>
                </a:srgbClr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38365" y="4755356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开发段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73982" y="4989195"/>
              <a:ext cx="10151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FB0C4"/>
                  </a:solidFill>
                  <a:latin typeface="Microsoft YaHei"/>
                  <a:ea typeface="Microsoft YaHei"/>
                  <a:cs typeface="Microsoft YaHei"/>
                </a:rPr>
                <a:t>规格 → 设计 → 代码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5886450" y="493395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F08A3C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6153150" y="48768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F08A3C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324600" y="4629150"/>
              <a:ext cx="2095500" cy="609600"/>
            </a:xfrm>
            <a:prstGeom prst="roundRect">
              <a:avLst>
                <a:gd name="adj" fmla="val 12500"/>
              </a:avLst>
            </a:prstGeom>
            <a:solidFill>
              <a:srgbClr val="FFFFFF">
                <a:alpha val="8000"/>
              </a:srgbClr>
            </a:solidFill>
            <a:ln w="9525">
              <a:solidFill>
                <a:srgbClr val="FFFFFF">
                  <a:alpha val="30000"/>
                </a:srgbClr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129165" y="4755356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测试段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864782" y="4989195"/>
              <a:ext cx="10151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FB0C4"/>
                  </a:solidFill>
                  <a:latin typeface="Microsoft YaHei"/>
                  <a:ea typeface="Microsoft YaHei"/>
                  <a:cs typeface="Microsoft YaHei"/>
                </a:rPr>
                <a:t>规格 → 用例 → 验收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143000" y="5467350"/>
              <a:ext cx="7277100" cy="381000"/>
            </a:xfrm>
            <a:prstGeom prst="roundRect">
              <a:avLst>
                <a:gd name="adj" fmla="val 20000"/>
              </a:avLst>
            </a:prstGeom>
            <a:solidFill>
              <a:srgbClr val="E8600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813381" y="5592128"/>
              <a:ext cx="39363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知识底座：需求模式库 · 设计模式库 · 缺陷模式库 · 技能包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38238" y="6246495"/>
            <a:ext cx="5891746" cy="176212"/>
            <a:chOff x="1138238" y="6246495"/>
            <a:chExt cx="5891746" cy="176212"/>
          </a:xfrm>
        </p:grpSpPr>
        <p:sp>
          <p:nvSpPr>
            <p:cNvPr id="27" name="TextBox 27"/>
            <p:cNvSpPr txBox="1"/>
            <p:nvPr/>
          </p:nvSpPr>
          <p:spPr>
            <a:xfrm>
              <a:off x="1138238" y="6246495"/>
              <a:ext cx="589174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A8BA0"/>
                  </a:solidFill>
                  <a:latin typeface="Microsoft YaHei"/>
                  <a:ea typeface="Microsoft YaHei"/>
                  <a:cs typeface="Microsoft YaHei"/>
                </a:rPr>
                <a:t>汇报对象：设计 / 开发 / 测试团队与管理层 · 2026.08 · 方案全文见 docs/ai-rd-transformation-plan.md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8551" y="504349"/>
            <a:ext cx="6493147" cy="638746"/>
            <a:chOff x="598551" y="504349"/>
            <a:chExt cx="6493147" cy="638746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504349"/>
              <a:ext cx="10372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150" dirty="0">
                  <a:solidFill>
                    <a:srgbClr val="E8600A"/>
                  </a:solidFill>
                  <a:latin typeface="Microsoft YaHei"/>
                  <a:ea typeface="Microsoft YaHei"/>
                  <a:cs typeface="Microsoft YaHei"/>
                </a:rPr>
                <a:t>01 · 现状诊断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8551" y="717709"/>
              <a:ext cx="6493147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钱花在哪儿，效率就漏在哪儿：四次翻译的损耗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066800"/>
              <a:ext cx="533400" cy="38100"/>
            </a:xfrm>
            <a:prstGeom prst="rect">
              <a:avLst/>
            </a:prstGeom>
            <a:solidFill>
              <a:srgbClr val="E8600A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09600" y="1428750"/>
            <a:ext cx="2571750" cy="2571750"/>
            <a:chOff x="609600" y="1428750"/>
            <a:chExt cx="2571750" cy="2571750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2571750" cy="2571750"/>
            </a:xfrm>
            <a:prstGeom prst="roundRect">
              <a:avLst>
                <a:gd name="adj" fmla="val 3704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800100" y="1619250"/>
              <a:ext cx="685800" cy="228600"/>
            </a:xfrm>
            <a:prstGeom prst="roundRect">
              <a:avLst>
                <a:gd name="adj" fmla="val 50000"/>
              </a:avLst>
            </a:prstGeom>
            <a:solidFill>
              <a:srgbClr val="F8E9E7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56955" y="1674495"/>
              <a:ext cx="3720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3392E"/>
                  </a:solidFill>
                  <a:latin typeface="Microsoft YaHei"/>
                  <a:ea typeface="Microsoft YaHei"/>
                  <a:cs typeface="Microsoft YaHei"/>
                </a:rPr>
                <a:t>断点 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3623" y="2015014"/>
              <a:ext cx="10452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IR → SR 分解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5338" y="2330291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现象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5147" y="2504599"/>
              <a:ext cx="1466088" cy="38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分解逻辑存在 SE 脑子里，</a:t>
              </a:r>
              <a:br/>
              <a:r>
                <a:rPr lang="zh-CN" sz="98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说明书只写结论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800100" y="314325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9525">
              <a:solidFill>
                <a:srgbClr val="EDEFF3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95338" y="3282791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代价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5147" y="3457099"/>
              <a:ext cx="1640332" cy="38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下游看不到"为什么这么分"，</a:t>
              </a:r>
              <a:br/>
              <a:r>
                <a:rPr lang="zh-CN" sz="98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变更影响靠人肉分析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409950" y="1428750"/>
            <a:ext cx="2571750" cy="2571750"/>
            <a:chOff x="3409950" y="1428750"/>
            <a:chExt cx="2571750" cy="2571750"/>
          </a:xfrm>
        </p:grpSpPr>
        <p:sp>
          <p:nvSpPr>
            <p:cNvPr id="16" name="Rectangle 16"/>
            <p:cNvSpPr/>
            <p:nvPr/>
          </p:nvSpPr>
          <p:spPr>
            <a:xfrm>
              <a:off x="3409950" y="1428750"/>
              <a:ext cx="2571750" cy="2571750"/>
            </a:xfrm>
            <a:prstGeom prst="roundRect">
              <a:avLst>
                <a:gd name="adj" fmla="val 3704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600450" y="1619250"/>
              <a:ext cx="685800" cy="228600"/>
            </a:xfrm>
            <a:prstGeom prst="roundRect">
              <a:avLst>
                <a:gd name="adj" fmla="val 50000"/>
              </a:avLst>
            </a:prstGeom>
            <a:solidFill>
              <a:srgbClr val="F8E9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757305" y="1674495"/>
              <a:ext cx="3720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3392E"/>
                  </a:solidFill>
                  <a:latin typeface="Microsoft YaHei"/>
                  <a:ea typeface="Microsoft YaHei"/>
                  <a:cs typeface="Microsoft YaHei"/>
                </a:rPr>
                <a:t>断点 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93973" y="2015014"/>
              <a:ext cx="10930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SR → AR 分解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95688" y="2330291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现象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95497" y="2504599"/>
              <a:ext cx="1752346" cy="38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说明书面向人读，接口、</a:t>
              </a:r>
              <a:br/>
              <a:r>
                <a:rPr lang="zh-CN" sz="98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状态机、异常路径散落在文字里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3600450" y="314325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9525">
              <a:solidFill>
                <a:srgbClr val="EDEFF3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595688" y="3282791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代价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95497" y="3457099"/>
              <a:ext cx="1130046" cy="38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开发二次提取契约，</a:t>
              </a:r>
              <a:br/>
              <a:r>
                <a:rPr lang="zh-CN" sz="98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提错、提全是常态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210300" y="1428750"/>
            <a:ext cx="2571750" cy="2571750"/>
            <a:chOff x="6210300" y="1428750"/>
            <a:chExt cx="2571750" cy="2571750"/>
          </a:xfrm>
        </p:grpSpPr>
        <p:sp>
          <p:nvSpPr>
            <p:cNvPr id="26" name="Rectangle 26"/>
            <p:cNvSpPr/>
            <p:nvPr/>
          </p:nvSpPr>
          <p:spPr>
            <a:xfrm>
              <a:off x="6210300" y="1428750"/>
              <a:ext cx="2571750" cy="2571750"/>
            </a:xfrm>
            <a:prstGeom prst="roundRect">
              <a:avLst>
                <a:gd name="adj" fmla="val 3704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00800" y="1619250"/>
              <a:ext cx="685800" cy="228600"/>
            </a:xfrm>
            <a:prstGeom prst="roundRect">
              <a:avLst>
                <a:gd name="adj" fmla="val 50000"/>
              </a:avLst>
            </a:prstGeom>
            <a:solidFill>
              <a:srgbClr val="F8E9E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57655" y="1674495"/>
              <a:ext cx="3720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3392E"/>
                  </a:solidFill>
                  <a:latin typeface="Microsoft YaHei"/>
                  <a:ea typeface="Microsoft YaHei"/>
                  <a:cs typeface="Microsoft YaHei"/>
                </a:rPr>
                <a:t>断点 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94323" y="2015014"/>
              <a:ext cx="12077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SE → 开发串讲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96038" y="2330291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现象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95847" y="2504599"/>
              <a:ext cx="1553210" cy="38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两小时会议覆盖几十个 AR，</a:t>
              </a:r>
              <a:br/>
              <a:r>
                <a:rPr lang="zh-CN" sz="98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听懂多少凭个人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6400800" y="314325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9525">
              <a:solidFill>
                <a:srgbClr val="EDEFF3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96038" y="3282791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代价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95847" y="3457099"/>
              <a:ext cx="1378966" cy="38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理解偏差到联调才暴露，</a:t>
              </a:r>
              <a:br/>
              <a:r>
                <a:rPr lang="zh-CN" sz="98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返工成本高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010650" y="1428750"/>
            <a:ext cx="2571750" cy="2571750"/>
            <a:chOff x="9010650" y="1428750"/>
            <a:chExt cx="2571750" cy="2571750"/>
          </a:xfrm>
        </p:grpSpPr>
        <p:sp>
          <p:nvSpPr>
            <p:cNvPr id="36" name="Rectangle 36"/>
            <p:cNvSpPr/>
            <p:nvPr/>
          </p:nvSpPr>
          <p:spPr>
            <a:xfrm>
              <a:off x="9010650" y="1428750"/>
              <a:ext cx="2571750" cy="2571750"/>
            </a:xfrm>
            <a:prstGeom prst="roundRect">
              <a:avLst>
                <a:gd name="adj" fmla="val 3704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9201150" y="1619250"/>
              <a:ext cx="685800" cy="228600"/>
            </a:xfrm>
            <a:prstGeom prst="roundRect">
              <a:avLst>
                <a:gd name="adj" fmla="val 50000"/>
              </a:avLst>
            </a:prstGeom>
            <a:solidFill>
              <a:srgbClr val="F8E9E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358005" y="1674495"/>
              <a:ext cx="3720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3392E"/>
                  </a:solidFill>
                  <a:latin typeface="Microsoft YaHei"/>
                  <a:ea typeface="Microsoft YaHei"/>
                  <a:cs typeface="Microsoft YaHei"/>
                </a:rPr>
                <a:t>断点 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194673" y="2015014"/>
              <a:ext cx="12077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SE → 测试串讲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196388" y="2330291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现象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196197" y="2504599"/>
              <a:ext cx="1005586" cy="38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测试对需求的理解</a:t>
              </a:r>
              <a:br/>
              <a:r>
                <a:rPr lang="zh-CN" sz="98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滞后开发一个身位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9201150" y="314325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9525">
              <a:solidFill>
                <a:srgbClr val="EDEFF3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196388" y="3282791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代价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196197" y="3457099"/>
              <a:ext cx="1254506" cy="38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验收标准晚期才明确，</a:t>
              </a:r>
              <a:br/>
              <a:r>
                <a:rPr lang="zh-CN" sz="98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问题发现已是晚期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09600" y="4286250"/>
            <a:ext cx="10972800" cy="1238250"/>
            <a:chOff x="609600" y="4286250"/>
            <a:chExt cx="10972800" cy="1238250"/>
          </a:xfrm>
        </p:grpSpPr>
        <p:sp>
          <p:nvSpPr>
            <p:cNvPr id="46" name="Rectangle 46"/>
            <p:cNvSpPr/>
            <p:nvPr/>
          </p:nvSpPr>
          <p:spPr>
            <a:xfrm>
              <a:off x="609600" y="4286250"/>
              <a:ext cx="10972800" cy="1238250"/>
            </a:xfrm>
            <a:prstGeom prst="roundRect">
              <a:avLst>
                <a:gd name="adj" fmla="val 7692"/>
              </a:avLst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09447" y="4504849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F08A3C"/>
                  </a:solidFill>
                  <a:latin typeface="Microsoft YaHei"/>
                  <a:ea typeface="Microsoft YaHei"/>
                  <a:cs typeface="Microsoft YaHei"/>
                </a:rPr>
                <a:t>隐性断点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08685" y="4774406"/>
              <a:ext cx="4986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评审意见、问题单根因、串讲问答，留在邮件、会议纪要和个人的脑子里，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08685" y="5022056"/>
              <a:ext cx="19111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下一个项目，再从零开始。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7620000" y="4514850"/>
              <a:ext cx="9525" cy="781050"/>
            </a:xfrm>
            <a:custGeom>
              <a:avLst/>
              <a:gdLst/>
              <a:ahLst/>
              <a:cxnLst/>
              <a:rect l="l" t="t" r="r" b="b"/>
              <a:pathLst>
                <a:path w="9525" h="781050">
                  <a:moveTo>
                    <a:pt x="0" y="0"/>
                  </a:moveTo>
                  <a:lnTo>
                    <a:pt x="0" y="781050"/>
                  </a:lnTo>
                </a:path>
              </a:pathLst>
            </a:custGeom>
            <a:noFill/>
            <a:ln w="9525">
              <a:solidFill>
                <a:srgbClr val="FFFFFF">
                  <a:alpha val="25000"/>
                </a:srgbClr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919847" y="4523899"/>
              <a:ext cx="2443099" cy="6478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980" dirty="0">
                  <a:solidFill>
                    <a:srgbClr val="C7D2E0"/>
                  </a:solidFill>
                  <a:latin typeface="Microsoft YaHei"/>
                  <a:ea typeface="Microsoft YaHei"/>
                  <a:cs typeface="Microsoft YaHei"/>
                </a:rPr>
                <a:t>变革的靶心：把四次翻译交给机器可读的</a:t>
              </a:r>
              <a:br/>
              <a:r>
                <a:rPr lang="zh-CN" sz="980" dirty="0">
                  <a:solidFill>
                    <a:srgbClr val="C7D2E0"/>
                  </a:solidFill>
                  <a:latin typeface="Microsoft YaHei"/>
                  <a:ea typeface="Microsoft YaHei"/>
                  <a:cs typeface="Microsoft YaHei"/>
                </a:rPr>
                <a:t>工件与 AI 产线，把人从"传话"里解放出来，</a:t>
              </a:r>
              <a:br/>
              <a:r>
                <a:rPr lang="zh-CN" sz="980" dirty="0">
                  <a:solidFill>
                    <a:srgbClr val="C7D2E0"/>
                  </a:solidFill>
                  <a:latin typeface="Microsoft YaHei"/>
                  <a:ea typeface="Microsoft YaHei"/>
                  <a:cs typeface="Microsoft YaHei"/>
                </a:rPr>
                <a:t>去做机器做不了的判断。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04838" y="6492716"/>
            <a:ext cx="10982324" cy="161925"/>
            <a:chOff x="604838" y="6492716"/>
            <a:chExt cx="10982324" cy="161925"/>
          </a:xfrm>
        </p:grpSpPr>
        <p:sp>
          <p:nvSpPr>
            <p:cNvPr id="53" name="TextBox 53"/>
            <p:cNvSpPr txBox="1"/>
            <p:nvPr/>
          </p:nvSpPr>
          <p:spPr>
            <a:xfrm>
              <a:off x="604838" y="6492716"/>
              <a:ext cx="2377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AI 辅助研发变革方案 · 从三段接力到人机共线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207836" y="6492716"/>
              <a:ext cx="37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02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8551" y="504349"/>
            <a:ext cx="7109437" cy="638746"/>
            <a:chOff x="598551" y="504349"/>
            <a:chExt cx="7109437" cy="638746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504349"/>
              <a:ext cx="10372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150" dirty="0">
                  <a:solidFill>
                    <a:srgbClr val="E8600A"/>
                  </a:solidFill>
                  <a:latin typeface="Microsoft YaHei"/>
                  <a:ea typeface="Microsoft YaHei"/>
                  <a:cs typeface="Microsoft YaHei"/>
                </a:rPr>
                <a:t>02 · 总体框架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8551" y="717709"/>
              <a:ext cx="7109437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一条产线、两类工件、三个闭环，知识底座贯穿其中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066800"/>
              <a:ext cx="533400" cy="38100"/>
            </a:xfrm>
            <a:prstGeom prst="rect">
              <a:avLst/>
            </a:prstGeom>
            <a:solidFill>
              <a:srgbClr val="E8600A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09600" y="1428750"/>
            <a:ext cx="3238500" cy="1809750"/>
            <a:chOff x="609600" y="1428750"/>
            <a:chExt cx="3238500" cy="1809750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3238500" cy="1809750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93623" y="1595914"/>
              <a:ext cx="5557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4E79"/>
                  </a:solidFill>
                  <a:latin typeface="Microsoft YaHei"/>
                  <a:ea typeface="Microsoft YaHei"/>
                  <a:cs typeface="Microsoft YaHei"/>
                </a:rPr>
                <a:t>设计段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00100" y="1885950"/>
              <a:ext cx="2857500" cy="266700"/>
            </a:xfrm>
            <a:prstGeom prst="roundRect">
              <a:avLst>
                <a:gd name="adj" fmla="val 21429"/>
              </a:avLst>
            </a:prstGeom>
            <a:solidFill>
              <a:srgbClr val="E8EEF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766430" y="1969770"/>
              <a:ext cx="9248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4E79"/>
                  </a:solidFill>
                  <a:latin typeface="Microsoft YaHei"/>
                  <a:ea typeface="Microsoft YaHei"/>
                  <a:cs typeface="Microsoft YaHei"/>
                </a:rPr>
                <a:t>IR 结构化与澄清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00100" y="2209800"/>
              <a:ext cx="2857500" cy="266700"/>
            </a:xfrm>
            <a:prstGeom prst="roundRect">
              <a:avLst>
                <a:gd name="adj" fmla="val 21429"/>
              </a:avLst>
            </a:prstGeom>
            <a:solidFill>
              <a:srgbClr val="E8EEF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90408" y="2293620"/>
              <a:ext cx="12768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4E79"/>
                  </a:solidFill>
                  <a:latin typeface="Microsoft YaHei"/>
                  <a:ea typeface="Microsoft YaHei"/>
                  <a:cs typeface="Microsoft YaHei"/>
                </a:rPr>
                <a:t>IR→SR 需求分析（R1）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00100" y="2533650"/>
              <a:ext cx="2857500" cy="266700"/>
            </a:xfrm>
            <a:prstGeom prst="roundRect">
              <a:avLst>
                <a:gd name="adj" fmla="val 21429"/>
              </a:avLst>
            </a:prstGeom>
            <a:solidFill>
              <a:srgbClr val="E8EEF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574406" y="2617470"/>
              <a:ext cx="130888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4E79"/>
                  </a:solidFill>
                  <a:latin typeface="Microsoft YaHei"/>
                  <a:ea typeface="Microsoft YaHei"/>
                  <a:cs typeface="Microsoft YaHei"/>
                </a:rPr>
                <a:t>SR→AR 功能设计（R2）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00100" y="2857500"/>
              <a:ext cx="2857500" cy="266700"/>
            </a:xfrm>
            <a:prstGeom prst="roundRect">
              <a:avLst>
                <a:gd name="adj" fmla="val 21429"/>
              </a:avLst>
            </a:prstGeom>
            <a:solidFill>
              <a:srgbClr val="E8EEF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739456" y="2941320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4E79"/>
                  </a:solidFill>
                  <a:latin typeface="Microsoft YaHei"/>
                  <a:ea typeface="Microsoft YaHei"/>
                  <a:cs typeface="Microsoft YaHei"/>
                </a:rPr>
                <a:t>追溯矩阵自动生成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886200" y="2286000"/>
            <a:ext cx="552450" cy="95250"/>
            <a:chOff x="3886200" y="2286000"/>
            <a:chExt cx="552450" cy="95250"/>
          </a:xfrm>
        </p:grpSpPr>
        <p:sp>
          <p:nvSpPr>
            <p:cNvPr id="17" name="Line 17"/>
            <p:cNvSpPr/>
            <p:nvPr/>
          </p:nvSpPr>
          <p:spPr>
            <a:xfrm>
              <a:off x="3886200" y="2333625"/>
              <a:ext cx="457200" cy="9525"/>
            </a:xfrm>
            <a:custGeom>
              <a:avLst/>
              <a:gdLst/>
              <a:ahLst/>
              <a:cxnLst/>
              <a:rect l="l" t="t" r="r" b="b"/>
              <a:pathLst>
                <a:path w="457200" h="9525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noFill/>
            <a:ln w="19050">
              <a:solidFill>
                <a:srgbClr val="6B7484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4343400" y="22860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6B7484"/>
            </a:solidFill>
            <a:ln>
              <a:noFill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4476750" y="1428750"/>
            <a:ext cx="3238500" cy="1809750"/>
            <a:chOff x="4476750" y="1428750"/>
            <a:chExt cx="3238500" cy="1809750"/>
          </a:xfrm>
        </p:grpSpPr>
        <p:sp>
          <p:nvSpPr>
            <p:cNvPr id="20" name="Rectangle 20"/>
            <p:cNvSpPr/>
            <p:nvPr/>
          </p:nvSpPr>
          <p:spPr>
            <a:xfrm>
              <a:off x="4476750" y="1428750"/>
              <a:ext cx="3238500" cy="1809750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60773" y="1595914"/>
              <a:ext cx="5557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E8600A"/>
                  </a:solidFill>
                  <a:latin typeface="Microsoft YaHei"/>
                  <a:ea typeface="Microsoft YaHei"/>
                  <a:cs typeface="Microsoft YaHei"/>
                </a:rPr>
                <a:t>开发段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667250" y="1885950"/>
              <a:ext cx="2857500" cy="266700"/>
            </a:xfrm>
            <a:prstGeom prst="roundRect">
              <a:avLst>
                <a:gd name="adj" fmla="val 21429"/>
              </a:avLst>
            </a:prstGeom>
            <a:solidFill>
              <a:srgbClr val="FDEDE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81536" y="1969770"/>
              <a:ext cx="16289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E8600A"/>
                  </a:solidFill>
                  <a:latin typeface="Microsoft YaHei"/>
                  <a:ea typeface="Microsoft YaHei"/>
                  <a:cs typeface="Microsoft YaHei"/>
                </a:rPr>
                <a:t>AR 规格化（S1 · 新增阀门）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667250" y="2209800"/>
              <a:ext cx="2857500" cy="266700"/>
            </a:xfrm>
            <a:prstGeom prst="roundRect">
              <a:avLst>
                <a:gd name="adj" fmla="val 21429"/>
              </a:avLst>
            </a:prstGeom>
            <a:solidFill>
              <a:srgbClr val="FDEDE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636781" y="2293620"/>
              <a:ext cx="9184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E8600A"/>
                  </a:solidFill>
                  <a:latin typeface="Microsoft YaHei"/>
                  <a:ea typeface="Microsoft YaHei"/>
                  <a:cs typeface="Microsoft YaHei"/>
                </a:rPr>
                <a:t>实现设计（R3）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667250" y="2533650"/>
              <a:ext cx="2857500" cy="266700"/>
            </a:xfrm>
            <a:prstGeom prst="roundRect">
              <a:avLst>
                <a:gd name="adj" fmla="val 21429"/>
              </a:avLst>
            </a:prstGeom>
            <a:solidFill>
              <a:srgbClr val="FDEDE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585574" y="2617470"/>
              <a:ext cx="10208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E8600A"/>
                  </a:solidFill>
                  <a:latin typeface="Microsoft YaHei"/>
                  <a:ea typeface="Microsoft YaHei"/>
                  <a:cs typeface="Microsoft YaHei"/>
                </a:rPr>
                <a:t>编码 + UT（TDD）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667250" y="2857500"/>
              <a:ext cx="2857500" cy="266700"/>
            </a:xfrm>
            <a:prstGeom prst="roundRect">
              <a:avLst>
                <a:gd name="adj" fmla="val 21429"/>
              </a:avLst>
            </a:prstGeom>
            <a:solidFill>
              <a:srgbClr val="FDEDE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466045" y="2941320"/>
              <a:ext cx="12599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E8600A"/>
                  </a:solidFill>
                  <a:latin typeface="Microsoft YaHei"/>
                  <a:ea typeface="Microsoft YaHei"/>
                  <a:cs typeface="Microsoft YaHei"/>
                </a:rPr>
                <a:t>评审合入（R4 + DoD）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753350" y="2286000"/>
            <a:ext cx="552450" cy="95250"/>
            <a:chOff x="7753350" y="2286000"/>
            <a:chExt cx="552450" cy="95250"/>
          </a:xfrm>
        </p:grpSpPr>
        <p:sp>
          <p:nvSpPr>
            <p:cNvPr id="31" name="Line 31"/>
            <p:cNvSpPr/>
            <p:nvPr/>
          </p:nvSpPr>
          <p:spPr>
            <a:xfrm>
              <a:off x="7753350" y="2333625"/>
              <a:ext cx="457200" cy="9525"/>
            </a:xfrm>
            <a:custGeom>
              <a:avLst/>
              <a:gdLst/>
              <a:ahLst/>
              <a:cxnLst/>
              <a:rect l="l" t="t" r="r" b="b"/>
              <a:pathLst>
                <a:path w="457200" h="9525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noFill/>
            <a:ln w="19050">
              <a:solidFill>
                <a:srgbClr val="6B7484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8210550" y="22860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6B7484"/>
            </a:solidFill>
            <a:ln>
              <a:noFill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8343900" y="1428750"/>
            <a:ext cx="3238500" cy="1809750"/>
            <a:chOff x="8343900" y="1428750"/>
            <a:chExt cx="3238500" cy="1809750"/>
          </a:xfrm>
        </p:grpSpPr>
        <p:sp>
          <p:nvSpPr>
            <p:cNvPr id="34" name="Rectangle 34"/>
            <p:cNvSpPr/>
            <p:nvPr/>
          </p:nvSpPr>
          <p:spPr>
            <a:xfrm>
              <a:off x="8343900" y="1428750"/>
              <a:ext cx="3238500" cy="1809750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527923" y="1595914"/>
              <a:ext cx="5557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E7D6B"/>
                  </a:solidFill>
                  <a:latin typeface="Microsoft YaHei"/>
                  <a:ea typeface="Microsoft YaHei"/>
                  <a:cs typeface="Microsoft YaHei"/>
                </a:rPr>
                <a:t>测试段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534400" y="1885950"/>
              <a:ext cx="2857500" cy="266700"/>
            </a:xfrm>
            <a:prstGeom prst="roundRect">
              <a:avLst>
                <a:gd name="adj" fmla="val 21429"/>
              </a:avLst>
            </a:prstGeom>
            <a:solidFill>
              <a:srgbClr val="E4F0E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503931" y="1969770"/>
              <a:ext cx="9184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E7D6B"/>
                  </a:solidFill>
                  <a:latin typeface="Microsoft YaHei"/>
                  <a:ea typeface="Microsoft YaHei"/>
                  <a:cs typeface="Microsoft YaHei"/>
                </a:rPr>
                <a:t>测试规格（T1）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534400" y="2209800"/>
              <a:ext cx="2857500" cy="266700"/>
            </a:xfrm>
            <a:prstGeom prst="roundRect">
              <a:avLst>
                <a:gd name="adj" fmla="val 21429"/>
              </a:avLst>
            </a:prstGeom>
            <a:solidFill>
              <a:srgbClr val="E4F0EC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473756" y="2293620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E7D6B"/>
                  </a:solidFill>
                  <a:latin typeface="Microsoft YaHei"/>
                  <a:ea typeface="Microsoft YaHei"/>
                  <a:cs typeface="Microsoft YaHei"/>
                </a:rPr>
                <a:t>用例与自动化脚本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534400" y="2533650"/>
              <a:ext cx="2857500" cy="266700"/>
            </a:xfrm>
            <a:prstGeom prst="roundRect">
              <a:avLst>
                <a:gd name="adj" fmla="val 21429"/>
              </a:avLst>
            </a:prstGeom>
            <a:solidFill>
              <a:srgbClr val="E4F0EC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311907" y="2617470"/>
              <a:ext cx="130248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E7D6B"/>
                  </a:solidFill>
                  <a:latin typeface="Microsoft YaHei"/>
                  <a:ea typeface="Microsoft YaHei"/>
                  <a:cs typeface="Microsoft YaHei"/>
                </a:rPr>
                <a:t>执行与失败分诊（T2）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534400" y="2857500"/>
              <a:ext cx="2857500" cy="266700"/>
            </a:xfrm>
            <a:prstGeom prst="roundRect">
              <a:avLst>
                <a:gd name="adj" fmla="val 21429"/>
              </a:avLst>
            </a:prstGeom>
            <a:solidFill>
              <a:srgbClr val="E4F0E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414320" y="2941320"/>
              <a:ext cx="109766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E7D6B"/>
                  </a:solidFill>
                  <a:latin typeface="Microsoft YaHei"/>
                  <a:ea typeface="Microsoft YaHei"/>
                  <a:cs typeface="Microsoft YaHei"/>
                </a:rPr>
                <a:t>SR 验收签认（G7）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2800350" y="3314700"/>
            <a:ext cx="728155" cy="457200"/>
            <a:chOff x="2800350" y="3314700"/>
            <a:chExt cx="728155" cy="457200"/>
          </a:xfrm>
        </p:grpSpPr>
        <p:sp>
          <p:nvSpPr>
            <p:cNvPr id="45" name="Line 45"/>
            <p:cNvSpPr/>
            <p:nvPr/>
          </p:nvSpPr>
          <p:spPr>
            <a:xfrm>
              <a:off x="2857500" y="331470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9050">
              <a:solidFill>
                <a:srgbClr val="2E7D6B"/>
              </a:solidFill>
            </a:ln>
          </p:spPr>
        </p:sp>
        <p:sp>
          <p:nvSpPr>
            <p:cNvPr id="46" name="Polygon 46"/>
            <p:cNvSpPr/>
            <p:nvPr/>
          </p:nvSpPr>
          <p:spPr>
            <a:xfrm>
              <a:off x="2800350" y="363855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57150" y="1333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2E7D6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2967038" y="3473291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2E7D6B"/>
                  </a:solidFill>
                  <a:latin typeface="Microsoft YaHei"/>
                  <a:ea typeface="Microsoft YaHei"/>
                  <a:cs typeface="Microsoft YaHei"/>
                </a:rPr>
                <a:t>供给上下文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8301038" y="3295650"/>
            <a:ext cx="1090612" cy="438150"/>
            <a:chOff x="8301038" y="3295650"/>
            <a:chExt cx="1090612" cy="438150"/>
          </a:xfrm>
        </p:grpSpPr>
        <p:sp>
          <p:nvSpPr>
            <p:cNvPr id="49" name="Line 49"/>
            <p:cNvSpPr/>
            <p:nvPr/>
          </p:nvSpPr>
          <p:spPr>
            <a:xfrm>
              <a:off x="9334500" y="34290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3048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3392E"/>
              </a:solidFill>
            </a:ln>
          </p:spPr>
        </p:sp>
        <p:sp>
          <p:nvSpPr>
            <p:cNvPr id="50" name="Polygon 50"/>
            <p:cNvSpPr/>
            <p:nvPr/>
          </p:nvSpPr>
          <p:spPr>
            <a:xfrm>
              <a:off x="9277350" y="329565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57150" y="0"/>
                  </a:moveTo>
                  <a:lnTo>
                    <a:pt x="0" y="13335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B3392E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301038" y="347329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B3392E"/>
                  </a:solidFill>
                  <a:latin typeface="Microsoft YaHei"/>
                  <a:ea typeface="Microsoft YaHei"/>
                  <a:cs typeface="Microsoft YaHei"/>
                </a:rPr>
                <a:t>经验回流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09600" y="3810000"/>
            <a:ext cx="10972800" cy="571500"/>
            <a:chOff x="609600" y="3810000"/>
            <a:chExt cx="10972800" cy="571500"/>
          </a:xfrm>
        </p:grpSpPr>
        <p:sp>
          <p:nvSpPr>
            <p:cNvPr id="53" name="Rectangle 53"/>
            <p:cNvSpPr/>
            <p:nvPr/>
          </p:nvSpPr>
          <p:spPr>
            <a:xfrm>
              <a:off x="609600" y="3810000"/>
              <a:ext cx="10972800" cy="571500"/>
            </a:xfrm>
            <a:prstGeom prst="roundRect">
              <a:avLst>
                <a:gd name="adj" fmla="val 16667"/>
              </a:avLst>
            </a:prstGeom>
            <a:solidFill>
              <a:srgbClr val="16283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706342" y="4031456"/>
              <a:ext cx="67793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知识底座：需求模式库 · 设计模式库 · 缺陷模式库 · 技能包（流程技能 / 编码规范 / 领域红线）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04647" y="4581049"/>
            <a:ext cx="4251378" cy="190690"/>
            <a:chOff x="604647" y="4581049"/>
            <a:chExt cx="4251378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604647" y="4581049"/>
              <a:ext cx="42513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7484"/>
                  </a:solidFill>
                  <a:latin typeface="Microsoft YaHei"/>
                  <a:ea typeface="Microsoft YaHei"/>
                  <a:cs typeface="Microsoft YaHei"/>
                </a:rPr>
                <a:t>三条主线同时建设，缺一不可；知识线（飞轮）贯穿其中，详见第 4 节。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09600" y="4819650"/>
            <a:ext cx="3505200" cy="1238250"/>
            <a:chOff x="609600" y="4819650"/>
            <a:chExt cx="3505200" cy="1238250"/>
          </a:xfrm>
        </p:grpSpPr>
        <p:sp>
          <p:nvSpPr>
            <p:cNvPr id="58" name="Rectangle 58"/>
            <p:cNvSpPr/>
            <p:nvPr/>
          </p:nvSpPr>
          <p:spPr>
            <a:xfrm>
              <a:off x="609600" y="4819650"/>
              <a:ext cx="3505200" cy="123825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09600" y="4819650"/>
              <a:ext cx="47625" cy="123825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32485" y="5003006"/>
              <a:ext cx="12325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流程线 · AI 产线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33438" y="5274945"/>
              <a:ext cx="1741170" cy="3476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每个节点定义清楚：AI 做什么、</a:t>
              </a:r>
              <a:br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人审什么、门禁是什么（第 2 节）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4343400" y="4819650"/>
            <a:ext cx="3505200" cy="1238250"/>
            <a:chOff x="4343400" y="4819650"/>
            <a:chExt cx="3505200" cy="1238250"/>
          </a:xfrm>
        </p:grpSpPr>
        <p:sp>
          <p:nvSpPr>
            <p:cNvPr id="63" name="Rectangle 63"/>
            <p:cNvSpPr/>
            <p:nvPr/>
          </p:nvSpPr>
          <p:spPr>
            <a:xfrm>
              <a:off x="4343400" y="4819650"/>
              <a:ext cx="3505200" cy="123825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4343400" y="4819650"/>
              <a:ext cx="47625" cy="1238250"/>
            </a:xfrm>
            <a:prstGeom prst="rect">
              <a:avLst/>
            </a:prstGeom>
            <a:solidFill>
              <a:srgbClr val="E8600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4566285" y="5003006"/>
              <a:ext cx="16183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文档线 · 人机共读工件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4567238" y="5274945"/>
              <a:ext cx="1609725" cy="3476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结构化、机器可校验、可追溯、</a:t>
              </a:r>
              <a:br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可检索（第 3 节）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8077200" y="4819650"/>
            <a:ext cx="3505200" cy="1238250"/>
            <a:chOff x="8077200" y="4819650"/>
            <a:chExt cx="3505200" cy="1238250"/>
          </a:xfrm>
        </p:grpSpPr>
        <p:sp>
          <p:nvSpPr>
            <p:cNvPr id="68" name="Rectangle 68"/>
            <p:cNvSpPr/>
            <p:nvPr/>
          </p:nvSpPr>
          <p:spPr>
            <a:xfrm>
              <a:off x="8077200" y="4819650"/>
              <a:ext cx="3505200" cy="123825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8077200" y="4819650"/>
              <a:ext cx="47625" cy="1238250"/>
            </a:xfrm>
            <a:prstGeom prst="rect">
              <a:avLst/>
            </a:prstGeom>
            <a:solidFill>
              <a:srgbClr val="2E7D6B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300085" y="5003006"/>
              <a:ext cx="1459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组织线 · 交付小分队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301038" y="5274945"/>
              <a:ext cx="1283970" cy="3476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三条主线跑在重新设计的</a:t>
              </a:r>
              <a:br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交付小分队上（第 5 节）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604838" y="6492716"/>
            <a:ext cx="10982324" cy="161925"/>
            <a:chOff x="604838" y="6492716"/>
            <a:chExt cx="10982324" cy="161925"/>
          </a:xfrm>
        </p:grpSpPr>
        <p:sp>
          <p:nvSpPr>
            <p:cNvPr id="73" name="TextBox 73"/>
            <p:cNvSpPr txBox="1"/>
            <p:nvPr/>
          </p:nvSpPr>
          <p:spPr>
            <a:xfrm>
              <a:off x="604838" y="6492716"/>
              <a:ext cx="2377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AI 辅助研发变革方案 · 从三段接力到人机共线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207836" y="6492716"/>
              <a:ext cx="37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03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8551" y="504349"/>
            <a:ext cx="6257096" cy="638746"/>
            <a:chOff x="598551" y="504349"/>
            <a:chExt cx="6257096" cy="638746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504349"/>
              <a:ext cx="135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150" dirty="0">
                  <a:solidFill>
                    <a:srgbClr val="E8600A"/>
                  </a:solidFill>
                  <a:latin typeface="Microsoft YaHei"/>
                  <a:ea typeface="Microsoft YaHei"/>
                  <a:cs typeface="Microsoft YaHei"/>
                </a:rPr>
                <a:t>03 · 任务分级模型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8551" y="717709"/>
              <a:ext cx="6257096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先分级，再谈自动化：AI 做什么，人审什么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066800"/>
              <a:ext cx="533400" cy="38100"/>
            </a:xfrm>
            <a:prstGeom prst="rect">
              <a:avLst/>
            </a:prstGeom>
            <a:solidFill>
              <a:srgbClr val="E8600A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04647" y="1428750"/>
            <a:ext cx="7129653" cy="285750"/>
            <a:chOff x="604647" y="1428750"/>
            <a:chExt cx="7129653" cy="285750"/>
          </a:xfrm>
        </p:grpSpPr>
        <p:sp>
          <p:nvSpPr>
            <p:cNvPr id="6" name="TextBox 6"/>
            <p:cNvSpPr txBox="1"/>
            <p:nvPr/>
          </p:nvSpPr>
          <p:spPr>
            <a:xfrm>
              <a:off x="604647" y="1504474"/>
              <a:ext cx="7025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定级四维度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619250" y="1428750"/>
              <a:ext cx="1428750" cy="285750"/>
            </a:xfrm>
            <a:prstGeom prst="roundRect">
              <a:avLst>
                <a:gd name="adj" fmla="val 50000"/>
              </a:avLst>
            </a:prstGeom>
            <a:solidFill>
              <a:srgbClr val="EDEFF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932889" y="151399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产出可验证性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181350" y="1428750"/>
              <a:ext cx="1428750" cy="285750"/>
            </a:xfrm>
            <a:prstGeom prst="roundRect">
              <a:avLst>
                <a:gd name="adj" fmla="val 50000"/>
              </a:avLst>
            </a:prstGeom>
            <a:solidFill>
              <a:srgbClr val="EDEF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494989" y="151399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出错风险等级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743450" y="1428750"/>
              <a:ext cx="1428750" cy="285750"/>
            </a:xfrm>
            <a:prstGeom prst="roundRect">
              <a:avLst>
                <a:gd name="adj" fmla="val 50000"/>
              </a:avLst>
            </a:prstGeom>
            <a:solidFill>
              <a:srgbClr val="EDEFF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057089" y="151399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有无先例模式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305550" y="1428750"/>
              <a:ext cx="1428750" cy="285750"/>
            </a:xfrm>
            <a:prstGeom prst="roundRect">
              <a:avLst>
                <a:gd name="adj" fmla="val 50000"/>
              </a:avLst>
            </a:prstGeom>
            <a:solidFill>
              <a:srgbClr val="EDEFF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9189" y="151399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出错谁担责任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9600" y="1962150"/>
            <a:ext cx="3505200" cy="2460307"/>
            <a:chOff x="609600" y="1962150"/>
            <a:chExt cx="3505200" cy="2460307"/>
          </a:xfrm>
        </p:grpSpPr>
        <p:sp>
          <p:nvSpPr>
            <p:cNvPr id="16" name="Rectangle 16"/>
            <p:cNvSpPr/>
            <p:nvPr/>
          </p:nvSpPr>
          <p:spPr>
            <a:xfrm>
              <a:off x="609600" y="1962150"/>
              <a:ext cx="3505200" cy="2419350"/>
            </a:xfrm>
            <a:prstGeom prst="roundRect">
              <a:avLst>
                <a:gd name="adj" fmla="val 3937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09600" y="1962150"/>
              <a:ext cx="3505200" cy="438150"/>
            </a:xfrm>
            <a:prstGeom prst="roundRect">
              <a:avLst>
                <a:gd name="adj" fmla="val 21739"/>
              </a:avLst>
            </a:prstGeom>
            <a:solidFill>
              <a:srgbClr val="2E7D6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94004" y="2118360"/>
              <a:ext cx="1338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L1 · AI 自主执行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5338" y="2596991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定义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5147" y="2771299"/>
              <a:ext cx="1254506" cy="371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zh-CN" sz="98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机器可验证、风险低，</a:t>
              </a:r>
              <a:br/>
              <a:r>
                <a:rPr lang="zh-CN" sz="98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有自动校验兜底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5338" y="326374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人的位置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5147" y="343804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事后抽检、看度量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5338" y="373999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典型任务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5338" y="3922395"/>
              <a:ext cx="1512570" cy="5000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追溯矩阵生成 · 文档合规检查</a:t>
              </a:r>
              <a:br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UT 生成与执行 · 回归执行</a:t>
              </a:r>
              <a:br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测试报告 · 问题单初判分诊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343400" y="1962150"/>
            <a:ext cx="3505200" cy="2460307"/>
            <a:chOff x="4343400" y="1962150"/>
            <a:chExt cx="3505200" cy="2460307"/>
          </a:xfrm>
        </p:grpSpPr>
        <p:sp>
          <p:nvSpPr>
            <p:cNvPr id="26" name="Rectangle 26"/>
            <p:cNvSpPr/>
            <p:nvPr/>
          </p:nvSpPr>
          <p:spPr>
            <a:xfrm>
              <a:off x="4343400" y="1962150"/>
              <a:ext cx="3505200" cy="2419350"/>
            </a:xfrm>
            <a:prstGeom prst="roundRect">
              <a:avLst>
                <a:gd name="adj" fmla="val 3937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4343400" y="1962150"/>
              <a:ext cx="3505200" cy="438150"/>
            </a:xfrm>
            <a:prstGeom prst="roundRect">
              <a:avLst>
                <a:gd name="adj" fmla="val 21739"/>
              </a:avLst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527804" y="2118360"/>
              <a:ext cx="11323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L2 · 人机协同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29138" y="2596991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定义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28947" y="2771299"/>
              <a:ext cx="1167384" cy="371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zh-CN" sz="98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AI 起草 + 人评审修订</a:t>
              </a:r>
              <a:br/>
              <a:r>
                <a:rPr lang="zh-CN" sz="98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+ 人裁决放行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29138" y="326374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人的位置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28947" y="343804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人在环，逐件评审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29138" y="373999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典型任务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29138" y="3922395"/>
              <a:ext cx="1644015" cy="5000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需求分解（IR→SR→AR）</a:t>
              </a:r>
              <a:br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功能设计 · 实现设计 · 代码实现</a:t>
              </a:r>
              <a:br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测试规格 · 用例设计 · 根因分析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077200" y="1962150"/>
            <a:ext cx="3505200" cy="2460307"/>
            <a:chOff x="8077200" y="1962150"/>
            <a:chExt cx="3505200" cy="2460307"/>
          </a:xfrm>
        </p:grpSpPr>
        <p:sp>
          <p:nvSpPr>
            <p:cNvPr id="36" name="Rectangle 36"/>
            <p:cNvSpPr/>
            <p:nvPr/>
          </p:nvSpPr>
          <p:spPr>
            <a:xfrm>
              <a:off x="8077200" y="1962150"/>
              <a:ext cx="3505200" cy="2419350"/>
            </a:xfrm>
            <a:prstGeom prst="roundRect">
              <a:avLst>
                <a:gd name="adj" fmla="val 3937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8077200" y="1962150"/>
              <a:ext cx="3505200" cy="438150"/>
            </a:xfrm>
            <a:prstGeom prst="roundRect">
              <a:avLst>
                <a:gd name="adj" fmla="val 21739"/>
              </a:avLst>
            </a:prstGeom>
            <a:solidFill>
              <a:srgbClr val="E8600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261604" y="2118360"/>
              <a:ext cx="9531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L3 · 人主导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62938" y="2596991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定义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62747" y="2771299"/>
              <a:ext cx="1005586" cy="371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zh-CN" sz="98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判断本身即责任，</a:t>
              </a:r>
              <a:br/>
              <a:r>
                <a:rPr lang="zh-CN" sz="98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AI 只做信息支持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262938" y="326374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人的位置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62747" y="3438049"/>
              <a:ext cx="19823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人决策，AI 提供选项与影响分析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62938" y="373999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典型任务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62938" y="3922395"/>
              <a:ext cx="1638300" cy="5000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需求优先级 · 架构关键决策</a:t>
              </a:r>
              <a:br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ASIL / 安全相关裁决 · 基线变更</a:t>
              </a:r>
              <a:br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SR 验收签认 · 冲突仲裁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09600" y="4667250"/>
            <a:ext cx="5372100" cy="1181100"/>
            <a:chOff x="609600" y="4667250"/>
            <a:chExt cx="5372100" cy="1181100"/>
          </a:xfrm>
        </p:grpSpPr>
        <p:sp>
          <p:nvSpPr>
            <p:cNvPr id="46" name="Rectangle 46"/>
            <p:cNvSpPr/>
            <p:nvPr/>
          </p:nvSpPr>
          <p:spPr>
            <a:xfrm>
              <a:off x="609600" y="4667250"/>
              <a:ext cx="5372100" cy="1181100"/>
            </a:xfrm>
            <a:prstGeom prst="roundRect">
              <a:avLst>
                <a:gd name="adj" fmla="val 8065"/>
              </a:avLst>
            </a:prstGeom>
            <a:solidFill>
              <a:srgbClr val="16283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33247" y="4866799"/>
              <a:ext cx="12774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F08A3C"/>
                  </a:solidFill>
                  <a:latin typeface="Microsoft YaHei"/>
                  <a:ea typeface="Microsoft YaHei"/>
                  <a:cs typeface="Microsoft YaHei"/>
                </a:rPr>
                <a:t>铁律一 · 升级不降级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33247" y="5114449"/>
              <a:ext cx="2797810" cy="6097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rgbClr val="C7D2E0"/>
                  </a:solidFill>
                  <a:latin typeface="Microsoft YaHei"/>
                  <a:ea typeface="Microsoft YaHei"/>
                  <a:cs typeface="Microsoft YaHei"/>
                </a:rPr>
                <a:t>任务定级后只能往人更多的方向调（L1→L2→L3），</a:t>
              </a:r>
              <a:br/>
              <a:r>
                <a:rPr lang="zh-CN" sz="980" dirty="0">
                  <a:solidFill>
                    <a:srgbClr val="C7D2E0"/>
                  </a:solidFill>
                  <a:latin typeface="Microsoft YaHei"/>
                  <a:ea typeface="Microsoft YaHei"/>
                  <a:cs typeface="Microsoft YaHei"/>
                </a:rPr>
                <a:t>反向调整需变革负责人与质量负责人双签；</a:t>
              </a:r>
              <a:br/>
              <a:r>
                <a:rPr lang="zh-CN" sz="980" dirty="0">
                  <a:solidFill>
                    <a:srgbClr val="C7D2E0"/>
                  </a:solidFill>
                  <a:latin typeface="Microsoft YaHei"/>
                  <a:ea typeface="Microsoft YaHei"/>
                  <a:cs typeface="Microsoft YaHei"/>
                </a:rPr>
                <a:t>安全相关任务直接 L3，不因 AI 表现好而降级。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210300" y="4667250"/>
            <a:ext cx="5372100" cy="1181100"/>
            <a:chOff x="6210300" y="4667250"/>
            <a:chExt cx="5372100" cy="1181100"/>
          </a:xfrm>
        </p:grpSpPr>
        <p:sp>
          <p:nvSpPr>
            <p:cNvPr id="50" name="Rectangle 50"/>
            <p:cNvSpPr/>
            <p:nvPr/>
          </p:nvSpPr>
          <p:spPr>
            <a:xfrm>
              <a:off x="6210300" y="4667250"/>
              <a:ext cx="5372100" cy="1181100"/>
            </a:xfrm>
            <a:prstGeom prst="roundRect">
              <a:avLst>
                <a:gd name="adj" fmla="val 8065"/>
              </a:avLst>
            </a:prstGeom>
            <a:solidFill>
              <a:srgbClr val="16283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433947" y="4866799"/>
              <a:ext cx="17077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F08A3C"/>
                  </a:solidFill>
                  <a:latin typeface="Microsoft YaHei"/>
                  <a:ea typeface="Microsoft YaHei"/>
                  <a:cs typeface="Microsoft YaHei"/>
                </a:rPr>
                <a:t>铁律二 · AI 产出 ≠ AI 责任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33947" y="5114449"/>
              <a:ext cx="2580005" cy="6097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rgbClr val="C7D2E0"/>
                  </a:solidFill>
                  <a:latin typeface="Microsoft YaHei"/>
                  <a:ea typeface="Microsoft YaHei"/>
                  <a:cs typeface="Microsoft YaHei"/>
                </a:rPr>
                <a:t>L1 / L2 产出物放行后，签字人对结果负全责，</a:t>
              </a:r>
              <a:br/>
              <a:r>
                <a:rPr lang="zh-CN" sz="980" dirty="0">
                  <a:solidFill>
                    <a:srgbClr val="C7D2E0"/>
                  </a:solidFill>
                  <a:latin typeface="Microsoft YaHei"/>
                  <a:ea typeface="Microsoft YaHei"/>
                  <a:cs typeface="Microsoft YaHei"/>
                </a:rPr>
                <a:t>与是否 AI 起草无关。这一条写进流程文件，</a:t>
              </a:r>
              <a:br/>
              <a:r>
                <a:rPr lang="zh-CN" sz="980" dirty="0">
                  <a:solidFill>
                    <a:srgbClr val="C7D2E0"/>
                  </a:solidFill>
                  <a:latin typeface="Microsoft YaHei"/>
                  <a:ea typeface="Microsoft YaHei"/>
                  <a:cs typeface="Microsoft YaHei"/>
                </a:rPr>
                <a:t>否则评审会流于形式。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04838" y="6492716"/>
            <a:ext cx="10982324" cy="161925"/>
            <a:chOff x="604838" y="6492716"/>
            <a:chExt cx="10982324" cy="161925"/>
          </a:xfrm>
        </p:grpSpPr>
        <p:sp>
          <p:nvSpPr>
            <p:cNvPr id="54" name="TextBox 54"/>
            <p:cNvSpPr txBox="1"/>
            <p:nvPr/>
          </p:nvSpPr>
          <p:spPr>
            <a:xfrm>
              <a:off x="604838" y="6492716"/>
              <a:ext cx="2377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AI 辅助研发变革方案 · 从三段接力到人机共线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207836" y="6492716"/>
              <a:ext cx="37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04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8551" y="504349"/>
            <a:ext cx="4089614" cy="638746"/>
            <a:chOff x="598551" y="504349"/>
            <a:chExt cx="4089614" cy="638746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504349"/>
              <a:ext cx="8785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150" dirty="0">
                  <a:solidFill>
                    <a:srgbClr val="E8600A"/>
                  </a:solidFill>
                  <a:latin typeface="Microsoft YaHei"/>
                  <a:ea typeface="Microsoft YaHei"/>
                  <a:cs typeface="Microsoft YaHei"/>
                </a:rPr>
                <a:t>04 · 设计段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8551" y="717709"/>
              <a:ext cx="4089614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从"写文档"到"运营需求资产"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066800"/>
              <a:ext cx="533400" cy="38100"/>
            </a:xfrm>
            <a:prstGeom prst="rect">
              <a:avLst/>
            </a:prstGeom>
            <a:solidFill>
              <a:srgbClr val="E8600A"/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609600" y="1428750"/>
            <a:ext cx="10972800" cy="876300"/>
            <a:chOff x="609600" y="1428750"/>
            <a:chExt cx="10972800" cy="876300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10972800" cy="87630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2104" y="1642110"/>
              <a:ext cx="755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IR 结构化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38200" y="1905000"/>
              <a:ext cx="609600" cy="209550"/>
            </a:xfrm>
            <a:prstGeom prst="roundRect">
              <a:avLst>
                <a:gd name="adj" fmla="val 50000"/>
              </a:avLst>
            </a:prstGeom>
            <a:solidFill>
              <a:srgbClr val="E8EEF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74087" y="1958816"/>
              <a:ext cx="1378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1F4E79"/>
                  </a:solidFill>
                  <a:latin typeface="Microsoft YaHei"/>
                  <a:ea typeface="Microsoft YaHei"/>
                  <a:cs typeface="Microsoft YaHei"/>
                </a:rPr>
                <a:t>L2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524000" y="1905000"/>
              <a:ext cx="952500" cy="209550"/>
            </a:xfrm>
            <a:prstGeom prst="roundRect">
              <a:avLst>
                <a:gd name="adj" fmla="val 50000"/>
              </a:avLst>
            </a:prstGeom>
            <a:solidFill>
              <a:srgbClr val="EDEFF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64322" y="1958816"/>
              <a:ext cx="671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歧义闭环放行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852738" y="1625441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传统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852738" y="1807845"/>
              <a:ext cx="11808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484"/>
                  </a:solidFill>
                  <a:latin typeface="Microsoft YaHei"/>
                  <a:ea typeface="Microsoft YaHei"/>
                  <a:cs typeface="Microsoft YaHei"/>
                </a:rPr>
                <a:t>人读 IR，靠经验理解</a:t>
              </a:r>
            </a:p>
          </p:txBody>
        </p:sp>
        <p:sp>
          <p:nvSpPr>
            <p:cNvPr id="14" name="Polygon 14"/>
            <p:cNvSpPr/>
            <p:nvPr/>
          </p:nvSpPr>
          <p:spPr>
            <a:xfrm>
              <a:off x="5867400" y="17811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6B748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186488" y="1625441"/>
              <a:ext cx="37693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AI 产线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186488" y="1807845"/>
              <a:ext cx="43748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逐条转成 EARS 结构化条目，做歧义 / 冲突 / 完整性检查，输出澄清问题清单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" y="2419350"/>
            <a:ext cx="10972800" cy="876300"/>
            <a:chOff x="609600" y="2419350"/>
            <a:chExt cx="10972800" cy="876300"/>
          </a:xfrm>
        </p:grpSpPr>
        <p:sp>
          <p:nvSpPr>
            <p:cNvPr id="18" name="Rectangle 18"/>
            <p:cNvSpPr/>
            <p:nvPr/>
          </p:nvSpPr>
          <p:spPr>
            <a:xfrm>
              <a:off x="609600" y="2419350"/>
              <a:ext cx="10972800" cy="87630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2104" y="2632710"/>
              <a:ext cx="8724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IR→SR 分解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38200" y="2895600"/>
              <a:ext cx="609600" cy="209550"/>
            </a:xfrm>
            <a:prstGeom prst="roundRect">
              <a:avLst>
                <a:gd name="adj" fmla="val 50000"/>
              </a:avLst>
            </a:prstGeom>
            <a:solidFill>
              <a:srgbClr val="E8EEF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74087" y="2949416"/>
              <a:ext cx="1378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1F4E79"/>
                  </a:solidFill>
                  <a:latin typeface="Microsoft YaHei"/>
                  <a:ea typeface="Microsoft YaHei"/>
                  <a:cs typeface="Microsoft YaHei"/>
                </a:rPr>
                <a:t>L2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524000" y="2895600"/>
              <a:ext cx="952500" cy="209550"/>
            </a:xfrm>
            <a:prstGeom prst="roundRect">
              <a:avLst>
                <a:gd name="adj" fmla="val 50000"/>
              </a:avLst>
            </a:prstGeom>
            <a:solidFill>
              <a:srgbClr val="EDEFF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680568" y="2949416"/>
              <a:ext cx="63936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R1 评审签字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852738" y="2616041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传统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852738" y="2798445"/>
              <a:ext cx="12128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484"/>
                  </a:solidFill>
                  <a:latin typeface="Microsoft YaHei"/>
                  <a:ea typeface="Microsoft YaHei"/>
                  <a:cs typeface="Microsoft YaHei"/>
                </a:rPr>
                <a:t>SE 写需求分析说明书</a:t>
              </a:r>
            </a:p>
          </p:txBody>
        </p:sp>
        <p:sp>
          <p:nvSpPr>
            <p:cNvPr id="26" name="Polygon 26"/>
            <p:cNvSpPr/>
            <p:nvPr/>
          </p:nvSpPr>
          <p:spPr>
            <a:xfrm>
              <a:off x="5867400" y="27717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6B748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186488" y="2616041"/>
              <a:ext cx="37693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AI 产线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186488" y="2798445"/>
              <a:ext cx="4560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基于需求模式库与历史范例起草分解方案 + 双向追溯矩阵；SE 修订、裁决分歧点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9600" y="3409950"/>
            <a:ext cx="10972800" cy="876300"/>
            <a:chOff x="609600" y="3409950"/>
            <a:chExt cx="10972800" cy="876300"/>
          </a:xfrm>
        </p:grpSpPr>
        <p:sp>
          <p:nvSpPr>
            <p:cNvPr id="30" name="Rectangle 30"/>
            <p:cNvSpPr/>
            <p:nvPr/>
          </p:nvSpPr>
          <p:spPr>
            <a:xfrm>
              <a:off x="609600" y="3409950"/>
              <a:ext cx="10972800" cy="87630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32104" y="3623310"/>
              <a:ext cx="14280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SR→AR + 功能设计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38200" y="3886200"/>
              <a:ext cx="609600" cy="209550"/>
            </a:xfrm>
            <a:prstGeom prst="roundRect">
              <a:avLst>
                <a:gd name="adj" fmla="val 50000"/>
              </a:avLst>
            </a:prstGeom>
            <a:solidFill>
              <a:srgbClr val="E8EEF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74087" y="3940016"/>
              <a:ext cx="1378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1F4E79"/>
                  </a:solidFill>
                  <a:latin typeface="Microsoft YaHei"/>
                  <a:ea typeface="Microsoft YaHei"/>
                  <a:cs typeface="Microsoft YaHei"/>
                </a:rPr>
                <a:t>L2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524000" y="3886200"/>
              <a:ext cx="952500" cy="209550"/>
            </a:xfrm>
            <a:prstGeom prst="roundRect">
              <a:avLst>
                <a:gd name="adj" fmla="val 50000"/>
              </a:avLst>
            </a:prstGeom>
            <a:solidFill>
              <a:srgbClr val="EDEFF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680568" y="3940016"/>
              <a:ext cx="63936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R2 评审签字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852738" y="3606641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传统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852738" y="3789045"/>
              <a:ext cx="12128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484"/>
                  </a:solidFill>
                  <a:latin typeface="Microsoft YaHei"/>
                  <a:ea typeface="Microsoft YaHei"/>
                  <a:cs typeface="Microsoft YaHei"/>
                </a:rPr>
                <a:t>SE 写功能设计说明书</a:t>
              </a:r>
            </a:p>
          </p:txBody>
        </p:sp>
        <p:sp>
          <p:nvSpPr>
            <p:cNvPr id="38" name="Polygon 38"/>
            <p:cNvSpPr/>
            <p:nvPr/>
          </p:nvSpPr>
          <p:spPr>
            <a:xfrm>
              <a:off x="5867400" y="37623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6B7484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186488" y="3606641"/>
              <a:ext cx="37693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AI 产线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186488" y="3789045"/>
              <a:ext cx="42500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起草接口契约、状态机、错误模型、异常路径与依赖；颗粒度止于系统视角契约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09600" y="4400550"/>
            <a:ext cx="10972800" cy="876300"/>
            <a:chOff x="609600" y="4400550"/>
            <a:chExt cx="10972800" cy="876300"/>
          </a:xfrm>
        </p:grpSpPr>
        <p:sp>
          <p:nvSpPr>
            <p:cNvPr id="42" name="Rectangle 42"/>
            <p:cNvSpPr/>
            <p:nvPr/>
          </p:nvSpPr>
          <p:spPr>
            <a:xfrm>
              <a:off x="609600" y="4400550"/>
              <a:ext cx="10972800" cy="87630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32104" y="46139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需求串讲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38200" y="4876800"/>
              <a:ext cx="609600" cy="209550"/>
            </a:xfrm>
            <a:prstGeom prst="roundRect">
              <a:avLst>
                <a:gd name="adj" fmla="val 50000"/>
              </a:avLst>
            </a:prstGeom>
            <a:solidFill>
              <a:srgbClr val="FDEDE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74087" y="4930616"/>
              <a:ext cx="1378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E8600A"/>
                  </a:solidFill>
                  <a:latin typeface="Microsoft YaHei"/>
                  <a:ea typeface="Microsoft YaHei"/>
                  <a:cs typeface="Microsoft YaHei"/>
                </a:rPr>
                <a:t>L3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524000" y="4876800"/>
              <a:ext cx="952500" cy="209550"/>
            </a:xfrm>
            <a:prstGeom prst="roundRect">
              <a:avLst>
                <a:gd name="adj" fmla="val 50000"/>
              </a:avLst>
            </a:prstGeom>
            <a:solidFill>
              <a:srgbClr val="EDEFF3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719516" y="4930616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例外会保留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852738" y="4597241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传统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852738" y="4779645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484"/>
                  </a:solidFill>
                  <a:latin typeface="Microsoft YaHei"/>
                  <a:ea typeface="Microsoft YaHei"/>
                  <a:cs typeface="Microsoft YaHei"/>
                </a:rPr>
                <a:t>全员会议两小时</a:t>
              </a:r>
            </a:p>
          </p:txBody>
        </p:sp>
        <p:sp>
          <p:nvSpPr>
            <p:cNvPr id="50" name="Polygon 50"/>
            <p:cNvSpPr/>
            <p:nvPr/>
          </p:nvSpPr>
          <p:spPr>
            <a:xfrm>
              <a:off x="5867400" y="47529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6B7484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186488" y="4597241"/>
              <a:ext cx="37693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AI 产线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186488" y="4779645"/>
              <a:ext cx="42852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取消大串讲：AR 包机器可读 + AI 答疑；理解对齐由开发段 S1 规格评审兜底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09600" y="5505450"/>
            <a:ext cx="10972800" cy="552450"/>
            <a:chOff x="609600" y="5505450"/>
            <a:chExt cx="10972800" cy="552450"/>
          </a:xfrm>
        </p:grpSpPr>
        <p:sp>
          <p:nvSpPr>
            <p:cNvPr id="54" name="Rectangle 54"/>
            <p:cNvSpPr/>
            <p:nvPr/>
          </p:nvSpPr>
          <p:spPr>
            <a:xfrm>
              <a:off x="609600" y="5505450"/>
              <a:ext cx="10972800" cy="552450"/>
            </a:xfrm>
            <a:prstGeom prst="roundRect">
              <a:avLst>
                <a:gd name="adj" fmla="val 17241"/>
              </a:avLst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09066" y="5725478"/>
              <a:ext cx="64776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SE 的新角色：需求资产的运营者 —— 判断分解、裁决冲突、运营模式库；瓶颈从"写"移到"判断"。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04838" y="6492716"/>
            <a:ext cx="10982324" cy="161925"/>
            <a:chOff x="604838" y="6492716"/>
            <a:chExt cx="10982324" cy="161925"/>
          </a:xfrm>
        </p:grpSpPr>
        <p:sp>
          <p:nvSpPr>
            <p:cNvPr id="57" name="TextBox 57"/>
            <p:cNvSpPr txBox="1"/>
            <p:nvPr/>
          </p:nvSpPr>
          <p:spPr>
            <a:xfrm>
              <a:off x="604838" y="6492716"/>
              <a:ext cx="2377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AI 辅助研发变革方案 · 从三段接力到人机共线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207836" y="6492716"/>
              <a:ext cx="37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05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8551" y="504349"/>
            <a:ext cx="6338493" cy="638746"/>
            <a:chOff x="598551" y="504349"/>
            <a:chExt cx="6338493" cy="638746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504349"/>
              <a:ext cx="8785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150" dirty="0">
                  <a:solidFill>
                    <a:srgbClr val="E8600A"/>
                  </a:solidFill>
                  <a:latin typeface="Microsoft YaHei"/>
                  <a:ea typeface="Microsoft YaHei"/>
                  <a:cs typeface="Microsoft YaHei"/>
                </a:rPr>
                <a:t>05 · 开发段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8551" y="717709"/>
              <a:ext cx="6338493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AR 先规格化，再实现设计，代码由测试证明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066800"/>
              <a:ext cx="533400" cy="38100"/>
            </a:xfrm>
            <a:prstGeom prst="rect">
              <a:avLst/>
            </a:prstGeom>
            <a:solidFill>
              <a:srgbClr val="E8600A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09600" y="1485900"/>
            <a:ext cx="1676400" cy="2190750"/>
            <a:chOff x="609600" y="1485900"/>
            <a:chExt cx="1676400" cy="2190750"/>
          </a:xfrm>
        </p:grpSpPr>
        <p:sp>
          <p:nvSpPr>
            <p:cNvPr id="6" name="Rectangle 6"/>
            <p:cNvSpPr/>
            <p:nvPr/>
          </p:nvSpPr>
          <p:spPr>
            <a:xfrm>
              <a:off x="609600" y="1485900"/>
              <a:ext cx="1676400" cy="2190750"/>
            </a:xfrm>
            <a:prstGeom prst="roundRect">
              <a:avLst>
                <a:gd name="adj" fmla="val 5682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657350"/>
              <a:ext cx="266700" cy="266700"/>
            </a:xfrm>
            <a:prstGeom prst="ellipse">
              <a:avLst/>
            </a:prstGeom>
            <a:solidFill>
              <a:srgbClr val="EDEFF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3253" y="17330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4385" y="2088356"/>
              <a:ext cx="5801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AR 理解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5338" y="2360295"/>
              <a:ext cx="695325" cy="519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条目机器可读</a:t>
              </a:r>
              <a:br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AI 答疑</a:t>
              </a:r>
              <a:br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影响面分析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00100" y="3295650"/>
              <a:ext cx="914400" cy="209550"/>
            </a:xfrm>
            <a:prstGeom prst="roundRect">
              <a:avLst>
                <a:gd name="adj" fmla="val 50000"/>
              </a:avLst>
            </a:prstGeom>
            <a:solidFill>
              <a:srgbClr val="EDEFF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76566" y="3349466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入规格材料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352675" y="2533650"/>
            <a:ext cx="7524750" cy="95250"/>
            <a:chOff x="2352675" y="2533650"/>
            <a:chExt cx="7524750" cy="95250"/>
          </a:xfrm>
        </p:grpSpPr>
        <p:sp>
          <p:nvSpPr>
            <p:cNvPr id="14" name="Polygon 14"/>
            <p:cNvSpPr/>
            <p:nvPr/>
          </p:nvSpPr>
          <p:spPr>
            <a:xfrm>
              <a:off x="2352675" y="25336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6B7484"/>
            </a:solidFill>
            <a:ln>
              <a:noFill/>
            </a:ln>
          </p:spPr>
        </p:sp>
        <p:sp>
          <p:nvSpPr>
            <p:cNvPr id="15" name="Polygon 15"/>
            <p:cNvSpPr/>
            <p:nvPr/>
          </p:nvSpPr>
          <p:spPr>
            <a:xfrm>
              <a:off x="4210050" y="25336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6B7484"/>
            </a:solidFill>
            <a:ln>
              <a:noFill/>
            </a:ln>
          </p:spPr>
        </p:sp>
        <p:sp>
          <p:nvSpPr>
            <p:cNvPr id="16" name="Polygon 16"/>
            <p:cNvSpPr/>
            <p:nvPr/>
          </p:nvSpPr>
          <p:spPr>
            <a:xfrm>
              <a:off x="6067425" y="25336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6B7484"/>
            </a:solidFill>
            <a:ln>
              <a:noFill/>
            </a:ln>
          </p:spPr>
        </p:sp>
        <p:sp>
          <p:nvSpPr>
            <p:cNvPr id="17" name="Polygon 17"/>
            <p:cNvSpPr/>
            <p:nvPr/>
          </p:nvSpPr>
          <p:spPr>
            <a:xfrm>
              <a:off x="7924800" y="25336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6B7484"/>
            </a:solidFill>
            <a:ln>
              <a:noFill/>
            </a:ln>
          </p:spPr>
        </p:sp>
        <p:sp>
          <p:nvSpPr>
            <p:cNvPr id="18" name="Polygon 18"/>
            <p:cNvSpPr/>
            <p:nvPr/>
          </p:nvSpPr>
          <p:spPr>
            <a:xfrm>
              <a:off x="9782175" y="25336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6B7484"/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2466975" y="1485900"/>
            <a:ext cx="1676400" cy="2190750"/>
            <a:chOff x="2466975" y="1485900"/>
            <a:chExt cx="1676400" cy="2190750"/>
          </a:xfrm>
        </p:grpSpPr>
        <p:sp>
          <p:nvSpPr>
            <p:cNvPr id="20" name="Rectangle 20"/>
            <p:cNvSpPr/>
            <p:nvPr/>
          </p:nvSpPr>
          <p:spPr>
            <a:xfrm>
              <a:off x="2466975" y="1485900"/>
              <a:ext cx="1676400" cy="2190750"/>
            </a:xfrm>
            <a:prstGeom prst="roundRect">
              <a:avLst>
                <a:gd name="adj" fmla="val 5682"/>
              </a:avLst>
            </a:prstGeom>
            <a:solidFill>
              <a:srgbClr val="FFFFFF"/>
            </a:solidFill>
            <a:ln w="19050">
              <a:solidFill>
                <a:srgbClr val="E8600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305175" y="1581150"/>
              <a:ext cx="723900" cy="209550"/>
            </a:xfrm>
            <a:prstGeom prst="roundRect">
              <a:avLst>
                <a:gd name="adj" fmla="val 50000"/>
              </a:avLst>
            </a:prstGeom>
            <a:solidFill>
              <a:srgbClr val="E8600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430547" y="1634966"/>
              <a:ext cx="4731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新增阀门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2600325" y="1657350"/>
              <a:ext cx="266700" cy="266700"/>
            </a:xfrm>
            <a:prstGeom prst="ellipse">
              <a:avLst/>
            </a:prstGeom>
            <a:solidFill>
              <a:srgbClr val="FDEDE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690628" y="17330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E8600A"/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651760" y="2088356"/>
              <a:ext cx="7474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E8600A"/>
                  </a:solidFill>
                  <a:latin typeface="Microsoft YaHei"/>
                  <a:ea typeface="Microsoft YaHei"/>
                  <a:cs typeface="Microsoft YaHei"/>
                </a:rPr>
                <a:t>AR 规格化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52712" y="2360295"/>
              <a:ext cx="918210" cy="8620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EARS 需求条目</a:t>
              </a:r>
              <a:br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BDD 验收准则</a:t>
              </a:r>
              <a:br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NFR 场景 + delta</a:t>
              </a:r>
              <a:br/>
              <a:r>
                <a:rPr lang="en-US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Open Questions</a:t>
              </a:r>
              <a:br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开发修订·SE 会签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657475" y="3295650"/>
              <a:ext cx="914400" cy="209550"/>
            </a:xfrm>
            <a:prstGeom prst="roundRect">
              <a:avLst>
                <a:gd name="adj" fmla="val 50000"/>
              </a:avLst>
            </a:prstGeom>
            <a:solidFill>
              <a:srgbClr val="E8600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901716" y="3349466"/>
              <a:ext cx="42591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S1 门禁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324350" y="1485900"/>
            <a:ext cx="1676400" cy="2190750"/>
            <a:chOff x="4324350" y="1485900"/>
            <a:chExt cx="1676400" cy="2190750"/>
          </a:xfrm>
        </p:grpSpPr>
        <p:sp>
          <p:nvSpPr>
            <p:cNvPr id="30" name="Rectangle 30"/>
            <p:cNvSpPr/>
            <p:nvPr/>
          </p:nvSpPr>
          <p:spPr>
            <a:xfrm>
              <a:off x="4324350" y="1485900"/>
              <a:ext cx="1676400" cy="2190750"/>
            </a:xfrm>
            <a:prstGeom prst="roundRect">
              <a:avLst>
                <a:gd name="adj" fmla="val 5682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4457700" y="1657350"/>
              <a:ext cx="266700" cy="266700"/>
            </a:xfrm>
            <a:prstGeom prst="ellipse">
              <a:avLst/>
            </a:prstGeom>
            <a:solidFill>
              <a:srgbClr val="EDEFF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548003" y="17330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09135" y="208835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实现设计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10088" y="2360295"/>
              <a:ext cx="986790" cy="519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时序图·类图源码化</a:t>
              </a:r>
              <a:br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UT 用例清单先行</a:t>
              </a:r>
              <a:br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安全项自动上抛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514850" y="3295650"/>
              <a:ext cx="914400" cy="209550"/>
            </a:xfrm>
            <a:prstGeom prst="roundRect">
              <a:avLst>
                <a:gd name="adj" fmla="val 50000"/>
              </a:avLst>
            </a:prstGeom>
            <a:solidFill>
              <a:srgbClr val="EDEFF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652368" y="3349466"/>
              <a:ext cx="63936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R3 设计评审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181725" y="1485900"/>
            <a:ext cx="1676400" cy="2190750"/>
            <a:chOff x="6181725" y="1485900"/>
            <a:chExt cx="1676400" cy="2190750"/>
          </a:xfrm>
        </p:grpSpPr>
        <p:sp>
          <p:nvSpPr>
            <p:cNvPr id="38" name="Rectangle 38"/>
            <p:cNvSpPr/>
            <p:nvPr/>
          </p:nvSpPr>
          <p:spPr>
            <a:xfrm>
              <a:off x="6181725" y="1485900"/>
              <a:ext cx="1676400" cy="2190750"/>
            </a:xfrm>
            <a:prstGeom prst="roundRect">
              <a:avLst>
                <a:gd name="adj" fmla="val 5682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6315075" y="1657350"/>
              <a:ext cx="266700" cy="266700"/>
            </a:xfrm>
            <a:prstGeom prst="ellipse">
              <a:avLst/>
            </a:prstGeom>
            <a:solidFill>
              <a:srgbClr val="EDEFF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05378" y="17330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366510" y="2088356"/>
              <a:ext cx="7223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编码 + UT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67462" y="2360295"/>
              <a:ext cx="1038225" cy="519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先失败测试后实现</a:t>
              </a:r>
              <a:br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叠加规范与车载约束</a:t>
              </a:r>
              <a:br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证据落盘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372225" y="3295650"/>
              <a:ext cx="914400" cy="209550"/>
            </a:xfrm>
            <a:prstGeom prst="roundRect">
              <a:avLst>
                <a:gd name="adj" fmla="val 50000"/>
              </a:avLst>
            </a:prstGeom>
            <a:solidFill>
              <a:srgbClr val="EDEFF3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40960" y="3349466"/>
              <a:ext cx="37693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CI 全绿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8039100" y="1485900"/>
            <a:ext cx="1676400" cy="2190750"/>
            <a:chOff x="8039100" y="1485900"/>
            <a:chExt cx="1676400" cy="2190750"/>
          </a:xfrm>
        </p:grpSpPr>
        <p:sp>
          <p:nvSpPr>
            <p:cNvPr id="46" name="Rectangle 46"/>
            <p:cNvSpPr/>
            <p:nvPr/>
          </p:nvSpPr>
          <p:spPr>
            <a:xfrm>
              <a:off x="8039100" y="1485900"/>
              <a:ext cx="1676400" cy="2190750"/>
            </a:xfrm>
            <a:prstGeom prst="roundRect">
              <a:avLst>
                <a:gd name="adj" fmla="val 5682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8172450" y="1657350"/>
              <a:ext cx="266700" cy="266700"/>
            </a:xfrm>
            <a:prstGeom prst="ellipse">
              <a:avLst/>
            </a:prstGeom>
            <a:solidFill>
              <a:srgbClr val="EDEFF3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262753" y="17330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23885" y="208835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代码审查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224838" y="2360295"/>
              <a:ext cx="952500" cy="519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AI 独立初审全量</a:t>
              </a:r>
              <a:br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人终审 critical 项</a:t>
              </a:r>
              <a:br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作者隔离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229600" y="3295650"/>
              <a:ext cx="914400" cy="209550"/>
            </a:xfrm>
            <a:prstGeom prst="roundRect">
              <a:avLst>
                <a:gd name="adj" fmla="val 50000"/>
              </a:avLst>
            </a:prstGeom>
            <a:solidFill>
              <a:srgbClr val="EDEFF3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483755" y="3349466"/>
              <a:ext cx="4060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R4 评审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9896475" y="1485900"/>
            <a:ext cx="1676400" cy="2190750"/>
            <a:chOff x="9896475" y="1485900"/>
            <a:chExt cx="1676400" cy="2190750"/>
          </a:xfrm>
        </p:grpSpPr>
        <p:sp>
          <p:nvSpPr>
            <p:cNvPr id="54" name="Rectangle 54"/>
            <p:cNvSpPr/>
            <p:nvPr/>
          </p:nvSpPr>
          <p:spPr>
            <a:xfrm>
              <a:off x="9896475" y="1485900"/>
              <a:ext cx="1676400" cy="2190750"/>
            </a:xfrm>
            <a:prstGeom prst="roundRect">
              <a:avLst>
                <a:gd name="adj" fmla="val 5682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10029825" y="1657350"/>
              <a:ext cx="266700" cy="266700"/>
            </a:xfrm>
            <a:prstGeom prst="ellipse">
              <a:avLst/>
            </a:prstGeom>
            <a:solidFill>
              <a:srgbClr val="EDEFF3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0120128" y="17330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6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081260" y="208835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合入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082212" y="2360295"/>
              <a:ext cx="466725" cy="519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追溯更新</a:t>
              </a:r>
              <a:br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测试证据</a:t>
              </a:r>
              <a:br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文档同步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10086975" y="3295650"/>
              <a:ext cx="914400" cy="209550"/>
            </a:xfrm>
            <a:prstGeom prst="roundRect">
              <a:avLst>
                <a:gd name="adj" fmla="val 50000"/>
              </a:avLst>
            </a:prstGeom>
            <a:solidFill>
              <a:srgbClr val="EDEFF3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313168" y="3349466"/>
              <a:ext cx="4620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DoD 核验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09600" y="4000500"/>
            <a:ext cx="10972800" cy="876300"/>
            <a:chOff x="609600" y="4000500"/>
            <a:chExt cx="10972800" cy="876300"/>
          </a:xfrm>
        </p:grpSpPr>
        <p:sp>
          <p:nvSpPr>
            <p:cNvPr id="62" name="Rectangle 62"/>
            <p:cNvSpPr/>
            <p:nvPr/>
          </p:nvSpPr>
          <p:spPr>
            <a:xfrm>
              <a:off x="609600" y="4000500"/>
              <a:ext cx="10972800" cy="876300"/>
            </a:xfrm>
            <a:prstGeom prst="roundRect">
              <a:avLst>
                <a:gd name="adj" fmla="val 10870"/>
              </a:avLst>
            </a:prstGeom>
            <a:solidFill>
              <a:srgbClr val="FDEDE1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09600" y="4000500"/>
              <a:ext cx="47625" cy="876300"/>
            </a:xfrm>
            <a:prstGeom prst="rect">
              <a:avLst/>
            </a:prstGeom>
            <a:solidFill>
              <a:srgbClr val="E8600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70966" y="4172902"/>
              <a:ext cx="46917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8600A"/>
                  </a:solidFill>
                  <a:latin typeface="Microsoft YaHei"/>
                  <a:ea typeface="Microsoft YaHei"/>
                  <a:cs typeface="Microsoft YaHei"/>
                </a:rPr>
                <a:t>AR 规格化：把理解显式写成可测试规格，是 AI 代码生成的前置条件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71347" y="4428649"/>
              <a:ext cx="61709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传统模式没有这一步，理解靠串讲和开发自行补齐。规格评审就是新形态的串讲 —— 从宣讲式变成确认式。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71347" y="4638199"/>
              <a:ext cx="58147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规格同时是下游公共输入：实现设计推导结构，测试规格继承验收准则，追溯锚点挂在规格条目上。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609600" y="5105400"/>
            <a:ext cx="10972800" cy="685800"/>
            <a:chOff x="609600" y="5105400"/>
            <a:chExt cx="10972800" cy="685800"/>
          </a:xfrm>
        </p:grpSpPr>
        <p:sp>
          <p:nvSpPr>
            <p:cNvPr id="68" name="Rectangle 68"/>
            <p:cNvSpPr/>
            <p:nvPr/>
          </p:nvSpPr>
          <p:spPr>
            <a:xfrm>
              <a:off x="609600" y="5105400"/>
              <a:ext cx="109728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71347" y="5285899"/>
              <a:ext cx="13951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代码审查为什么改双轨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71347" y="5514499"/>
              <a:ext cx="61005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AI 辅助下代码量会上一个量级，人逐行审必然崩盘；人审的对象从代码行变为 findings 与设计符合性。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604838" y="6492716"/>
            <a:ext cx="10982324" cy="161925"/>
            <a:chOff x="604838" y="6492716"/>
            <a:chExt cx="10982324" cy="161925"/>
          </a:xfrm>
        </p:grpSpPr>
        <p:sp>
          <p:nvSpPr>
            <p:cNvPr id="72" name="TextBox 72"/>
            <p:cNvSpPr txBox="1"/>
            <p:nvPr/>
          </p:nvSpPr>
          <p:spPr>
            <a:xfrm>
              <a:off x="604838" y="6492716"/>
              <a:ext cx="2377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AI 辅助研发变革方案 · 从三段接力到人机共线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207836" y="6492716"/>
              <a:ext cx="37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06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8551" y="504349"/>
            <a:ext cx="4644276" cy="638746"/>
            <a:chOff x="598551" y="504349"/>
            <a:chExt cx="4644276" cy="638746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504349"/>
              <a:ext cx="10372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150" dirty="0">
                  <a:solidFill>
                    <a:srgbClr val="E8600A"/>
                  </a:solidFill>
                  <a:latin typeface="Microsoft YaHei"/>
                  <a:ea typeface="Microsoft YaHei"/>
                  <a:cs typeface="Microsoft YaHei"/>
                </a:rPr>
                <a:t>06 · 文档边界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8551" y="717709"/>
              <a:ext cx="4644276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三份文档，三种问题，三个签字人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066800"/>
              <a:ext cx="533400" cy="38100"/>
            </a:xfrm>
            <a:prstGeom prst="rect">
              <a:avLst/>
            </a:prstGeom>
            <a:solidFill>
              <a:srgbClr val="E8600A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09600" y="1428750"/>
            <a:ext cx="3505200" cy="3143250"/>
            <a:chOff x="609600" y="1428750"/>
            <a:chExt cx="3505200" cy="3143250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3505200" cy="3143250"/>
            </a:xfrm>
            <a:prstGeom prst="roundRect">
              <a:avLst>
                <a:gd name="adj" fmla="val 3030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428750"/>
              <a:ext cx="3505200" cy="457200"/>
            </a:xfrm>
            <a:prstGeom prst="roundRect">
              <a:avLst>
                <a:gd name="adj" fmla="val 20833"/>
              </a:avLst>
            </a:prstGeom>
            <a:solidFill>
              <a:srgbClr val="E8EEF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4385" y="1593056"/>
              <a:ext cx="20856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4E79"/>
                  </a:solidFill>
                  <a:latin typeface="Microsoft YaHei"/>
                  <a:ea typeface="Microsoft YaHei"/>
                  <a:cs typeface="Microsoft YaHei"/>
                </a:rPr>
                <a:t>功能设计说明书（AR 条目）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4004" y="2080260"/>
              <a:ext cx="17253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"系统在整体上要什么"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5338" y="2444591"/>
              <a:ext cx="11134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颗粒度：系统视角契约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5338" y="2684145"/>
              <a:ext cx="1363980" cy="10144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7155" indent="-97155">
                <a:lnSpc>
                  <a:spcPts val="1650"/>
                </a:lnSpc>
                <a:buClr>
                  <a:srgbClr val="3D4759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职责定位与对外接口契约</a:t>
              </a:r>
            </a:p>
            <a:p>
              <a:pPr algn="l" marL="97155" indent="-97155">
                <a:lnSpc>
                  <a:spcPts val="1650"/>
                </a:lnSpc>
                <a:buClr>
                  <a:srgbClr val="3D4759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状态机与跨组件错误模型</a:t>
              </a:r>
            </a:p>
            <a:p>
              <a:pPr algn="l" marL="97155" indent="-97155">
                <a:lnSpc>
                  <a:spcPts val="1650"/>
                </a:lnSpc>
                <a:buClr>
                  <a:srgbClr val="3D4759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异常路径与依赖清单</a:t>
              </a:r>
            </a:p>
            <a:p>
              <a:pPr algn="l" marL="97155" indent="-97155">
                <a:lnSpc>
                  <a:spcPts val="1650"/>
                </a:lnSpc>
                <a:buClr>
                  <a:srgbClr val="3D4759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高层验收标准</a:t>
              </a:r>
            </a:p>
            <a:p>
              <a:pPr algn="l" marL="97155" indent="-97155">
                <a:lnSpc>
                  <a:spcPts val="1650"/>
                </a:lnSpc>
                <a:buClr>
                  <a:srgbClr val="3D4759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组件内细节留给 AR 规格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800100" y="4000500"/>
              <a:ext cx="3124200" cy="9525"/>
            </a:xfrm>
            <a:custGeom>
              <a:avLst/>
              <a:gdLst/>
              <a:ahLst/>
              <a:cxnLst/>
              <a:rect l="l" t="t" r="r" b="b"/>
              <a:pathLst>
                <a:path w="3124200" h="9525">
                  <a:moveTo>
                    <a:pt x="0" y="0"/>
                  </a:moveTo>
                  <a:lnTo>
                    <a:pt x="3124200" y="0"/>
                  </a:lnTo>
                </a:path>
              </a:pathLst>
            </a:custGeom>
            <a:noFill/>
            <a:ln w="9525">
              <a:solidFill>
                <a:srgbClr val="EDEFF3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95147" y="4180999"/>
              <a:ext cx="14003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4E79"/>
                  </a:solidFill>
                  <a:latin typeface="Microsoft YaHei"/>
                  <a:ea typeface="Microsoft YaHei"/>
                  <a:cs typeface="Microsoft YaHei"/>
                </a:rPr>
                <a:t>作者：SE（R2 签字）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343400" y="1428750"/>
            <a:ext cx="3505200" cy="3143250"/>
            <a:chOff x="4343400" y="1428750"/>
            <a:chExt cx="3505200" cy="3143250"/>
          </a:xfrm>
        </p:grpSpPr>
        <p:sp>
          <p:nvSpPr>
            <p:cNvPr id="15" name="Rectangle 15"/>
            <p:cNvSpPr/>
            <p:nvPr/>
          </p:nvSpPr>
          <p:spPr>
            <a:xfrm>
              <a:off x="4343400" y="1428750"/>
              <a:ext cx="3505200" cy="3143250"/>
            </a:xfrm>
            <a:prstGeom prst="roundRect">
              <a:avLst>
                <a:gd name="adj" fmla="val 3030"/>
              </a:avLst>
            </a:prstGeom>
            <a:solidFill>
              <a:srgbClr val="FFFFFF"/>
            </a:solidFill>
            <a:ln w="19050">
              <a:solidFill>
                <a:srgbClr val="E8600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343400" y="1428750"/>
              <a:ext cx="3505200" cy="457200"/>
            </a:xfrm>
            <a:prstGeom prst="roundRect">
              <a:avLst>
                <a:gd name="adj" fmla="val 20833"/>
              </a:avLst>
            </a:prstGeom>
            <a:solidFill>
              <a:srgbClr val="E8600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28185" y="1593056"/>
              <a:ext cx="16088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AR 规格说明书 · 新增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27804" y="2042160"/>
              <a:ext cx="1860423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"本组件在什么条件下，</a:t>
              </a:r>
              <a:br/>
              <a:r>
                <a:rPr lang="zh-CN" sz="120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必须表现什么行为才算对"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29138" y="2577941"/>
              <a:ext cx="10030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颗粒度：可测试规格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29138" y="2798445"/>
              <a:ext cx="2101215" cy="9763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7155" indent="-97155">
                <a:lnSpc>
                  <a:spcPts val="1575"/>
                </a:lnSpc>
                <a:buClr>
                  <a:srgbClr val="3D4759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EARS 需求条目</a:t>
              </a:r>
            </a:p>
            <a:p>
              <a:pPr algn="l" marL="97155" indent="-97155">
                <a:lnSpc>
                  <a:spcPts val="1575"/>
                </a:lnSpc>
                <a:buClr>
                  <a:srgbClr val="3D4759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场景清单（正常 / 异常 / 边界 / 并发）</a:t>
              </a:r>
            </a:p>
            <a:p>
              <a:pPr algn="l" marL="97155" indent="-97155">
                <a:lnSpc>
                  <a:spcPts val="1575"/>
                </a:lnSpc>
                <a:buClr>
                  <a:srgbClr val="3D4759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BDD 验收准则 + NFR 质量场景</a:t>
              </a:r>
            </a:p>
            <a:p>
              <a:pPr algn="l" marL="97155" indent="-97155">
                <a:lnSpc>
                  <a:spcPts val="1575"/>
                </a:lnSpc>
                <a:buClr>
                  <a:srgbClr val="3D4759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与组件现状行为的 delta</a:t>
              </a:r>
            </a:p>
            <a:p>
              <a:pPr algn="l" marL="97155" indent="-97155">
                <a:lnSpc>
                  <a:spcPts val="1575"/>
                </a:lnSpc>
                <a:buClr>
                  <a:srgbClr val="3D4759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Open Questions 闭环记录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4533900" y="4000500"/>
              <a:ext cx="3124200" cy="9525"/>
            </a:xfrm>
            <a:custGeom>
              <a:avLst/>
              <a:gdLst/>
              <a:ahLst/>
              <a:cxnLst/>
              <a:rect l="l" t="t" r="r" b="b"/>
              <a:pathLst>
                <a:path w="3124200" h="9525">
                  <a:moveTo>
                    <a:pt x="0" y="0"/>
                  </a:moveTo>
                  <a:lnTo>
                    <a:pt x="3124200" y="0"/>
                  </a:lnTo>
                </a:path>
              </a:pathLst>
            </a:custGeom>
            <a:noFill/>
            <a:ln w="9525">
              <a:solidFill>
                <a:srgbClr val="EDEFF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528947" y="4180999"/>
              <a:ext cx="21541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E8600A"/>
                  </a:solidFill>
                  <a:latin typeface="Microsoft YaHei"/>
                  <a:ea typeface="Microsoft YaHei"/>
                  <a:cs typeface="Microsoft YaHei"/>
                </a:rPr>
                <a:t>作者：开发负责 · SE 会签（S1）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077200" y="1428750"/>
            <a:ext cx="3505200" cy="3143250"/>
            <a:chOff x="8077200" y="1428750"/>
            <a:chExt cx="3505200" cy="3143250"/>
          </a:xfrm>
        </p:grpSpPr>
        <p:sp>
          <p:nvSpPr>
            <p:cNvPr id="24" name="Rectangle 24"/>
            <p:cNvSpPr/>
            <p:nvPr/>
          </p:nvSpPr>
          <p:spPr>
            <a:xfrm>
              <a:off x="8077200" y="1428750"/>
              <a:ext cx="3505200" cy="3143250"/>
            </a:xfrm>
            <a:prstGeom prst="roundRect">
              <a:avLst>
                <a:gd name="adj" fmla="val 3030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8077200" y="1428750"/>
              <a:ext cx="3505200" cy="457200"/>
            </a:xfrm>
            <a:prstGeom prst="roundRect">
              <a:avLst>
                <a:gd name="adj" fmla="val 20833"/>
              </a:avLst>
            </a:prstGeom>
            <a:solidFill>
              <a:srgbClr val="E4F0E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61985" y="1593056"/>
              <a:ext cx="14165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E7D6B"/>
                  </a:solidFill>
                  <a:latin typeface="Microsoft YaHei"/>
                  <a:ea typeface="Microsoft YaHei"/>
                  <a:cs typeface="Microsoft YaHei"/>
                </a:rPr>
                <a:t>AR 实现设计说明书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61604" y="2080260"/>
              <a:ext cx="7076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"怎么做"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62938" y="2444591"/>
              <a:ext cx="8926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颗粒度：内部结构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62938" y="2684145"/>
              <a:ext cx="1478280" cy="10144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7155" indent="-97155">
                <a:lnSpc>
                  <a:spcPts val="1650"/>
                </a:lnSpc>
                <a:buClr>
                  <a:srgbClr val="3D4759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时序图、类图（源码化）</a:t>
              </a:r>
            </a:p>
            <a:p>
              <a:pPr algn="l" marL="97155" indent="-97155">
                <a:lnSpc>
                  <a:spcPts val="1650"/>
                </a:lnSpc>
                <a:buClr>
                  <a:srgbClr val="3D4759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模块划分与接口契约</a:t>
              </a:r>
            </a:p>
            <a:p>
              <a:pPr algn="l" marL="97155" indent="-97155">
                <a:lnSpc>
                  <a:spcPts val="1650"/>
                </a:lnSpc>
                <a:buClr>
                  <a:srgbClr val="3D4759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错误模型与处理实现</a:t>
              </a:r>
            </a:p>
            <a:p>
              <a:pPr algn="l" marL="97155" indent="-97155">
                <a:lnSpc>
                  <a:spcPts val="1650"/>
                </a:lnSpc>
                <a:buClr>
                  <a:srgbClr val="3D4759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UT 用例清单（先于代码）</a:t>
              </a:r>
            </a:p>
            <a:p>
              <a:pPr algn="l" marL="97155" indent="-97155">
                <a:lnSpc>
                  <a:spcPts val="1650"/>
                </a:lnSpc>
                <a:buClr>
                  <a:srgbClr val="3D4759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安全相关决策标注上抛记录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8267700" y="4000500"/>
              <a:ext cx="3124200" cy="9525"/>
            </a:xfrm>
            <a:custGeom>
              <a:avLst/>
              <a:gdLst/>
              <a:ahLst/>
              <a:cxnLst/>
              <a:rect l="l" t="t" r="r" b="b"/>
              <a:pathLst>
                <a:path w="3124200" h="9525">
                  <a:moveTo>
                    <a:pt x="0" y="0"/>
                  </a:moveTo>
                  <a:lnTo>
                    <a:pt x="3124200" y="0"/>
                  </a:lnTo>
                </a:path>
              </a:pathLst>
            </a:custGeom>
            <a:noFill/>
            <a:ln w="9525">
              <a:solidFill>
                <a:srgbClr val="EDEFF3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262747" y="4180999"/>
              <a:ext cx="15321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E7D6B"/>
                  </a:solidFill>
                  <a:latin typeface="Microsoft YaHei"/>
                  <a:ea typeface="Microsoft YaHei"/>
                  <a:cs typeface="Microsoft YaHei"/>
                </a:rPr>
                <a:t>作者：开发（R3 签字）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9600" y="4857750"/>
            <a:ext cx="10972800" cy="609600"/>
            <a:chOff x="609600" y="4857750"/>
            <a:chExt cx="10972800" cy="609600"/>
          </a:xfrm>
        </p:grpSpPr>
        <p:sp>
          <p:nvSpPr>
            <p:cNvPr id="33" name="Rectangle 33"/>
            <p:cNvSpPr/>
            <p:nvPr/>
          </p:nvSpPr>
          <p:spPr>
            <a:xfrm>
              <a:off x="609600" y="4857750"/>
              <a:ext cx="10972800" cy="609600"/>
            </a:xfrm>
            <a:prstGeom prst="roundRect">
              <a:avLst>
                <a:gd name="adj" fmla="val 15625"/>
              </a:avLst>
            </a:prstGeom>
            <a:solidFill>
              <a:srgbClr val="16283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08685" y="5098256"/>
              <a:ext cx="14362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规格是下游公共输入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238500" y="4972050"/>
              <a:ext cx="2571750" cy="381000"/>
            </a:xfrm>
            <a:prstGeom prst="roundRect">
              <a:avLst>
                <a:gd name="adj" fmla="val 20000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913822" y="5113020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实现设计从它推导结构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000750" y="4972050"/>
              <a:ext cx="2571750" cy="381000"/>
            </a:xfrm>
            <a:prstGeom prst="roundRect">
              <a:avLst>
                <a:gd name="adj" fmla="val 20000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97764" y="5113020"/>
              <a:ext cx="15777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测试规格继承 BDD 验收准则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763000" y="4972050"/>
              <a:ext cx="2571750" cy="381000"/>
            </a:xfrm>
            <a:prstGeom prst="roundRect">
              <a:avLst>
                <a:gd name="adj" fmla="val 20000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250413" y="5113020"/>
              <a:ext cx="15969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代码 / UT / 测试的追溯锚点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04838" y="6492716"/>
            <a:ext cx="10982324" cy="161925"/>
            <a:chOff x="604838" y="6492716"/>
            <a:chExt cx="10982324" cy="161925"/>
          </a:xfrm>
        </p:grpSpPr>
        <p:sp>
          <p:nvSpPr>
            <p:cNvPr id="42" name="TextBox 42"/>
            <p:cNvSpPr txBox="1"/>
            <p:nvPr/>
          </p:nvSpPr>
          <p:spPr>
            <a:xfrm>
              <a:off x="604838" y="6492716"/>
              <a:ext cx="2377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AI 辅助研发变革方案 · 从三段接力到人机共线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207836" y="6492716"/>
              <a:ext cx="37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07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8551" y="504349"/>
            <a:ext cx="4397760" cy="638746"/>
            <a:chOff x="598551" y="504349"/>
            <a:chExt cx="4397760" cy="638746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504349"/>
              <a:ext cx="8785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150" dirty="0">
                  <a:solidFill>
                    <a:srgbClr val="E8600A"/>
                  </a:solidFill>
                  <a:latin typeface="Microsoft YaHei"/>
                  <a:ea typeface="Microsoft YaHei"/>
                  <a:cs typeface="Microsoft YaHei"/>
                </a:rPr>
                <a:t>07 · 测试段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8551" y="717709"/>
              <a:ext cx="4397760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从"验收者"到"质量体系设计者"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066800"/>
              <a:ext cx="533400" cy="38100"/>
            </a:xfrm>
            <a:prstGeom prst="rect">
              <a:avLst/>
            </a:prstGeom>
            <a:solidFill>
              <a:srgbClr val="E8600A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428750"/>
            <a:ext cx="6591300" cy="571500"/>
            <a:chOff x="609600" y="1428750"/>
            <a:chExt cx="6591300" cy="571500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6591300" cy="5715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94766" y="165830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测试规格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900238" y="1674495"/>
              <a:ext cx="30947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AI 起草覆盖维度与场景，继承 AR 规格的 BDD 验收准则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248400" y="1609725"/>
              <a:ext cx="800100" cy="209550"/>
            </a:xfrm>
            <a:prstGeom prst="roundRect">
              <a:avLst>
                <a:gd name="adj" fmla="val 50000"/>
              </a:avLst>
            </a:prstGeom>
            <a:solidFill>
              <a:srgbClr val="E8EEF5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448321" y="1663541"/>
              <a:ext cx="40025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1F4E79"/>
                  </a:solidFill>
                  <a:latin typeface="Microsoft YaHei"/>
                  <a:ea typeface="Microsoft YaHei"/>
                  <a:cs typeface="Microsoft YaHei"/>
                </a:rPr>
                <a:t>L2 · T1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9600" y="2076450"/>
            <a:ext cx="6591300" cy="571500"/>
            <a:chOff x="609600" y="2076450"/>
            <a:chExt cx="6591300" cy="571500"/>
          </a:xfrm>
        </p:grpSpPr>
        <p:sp>
          <p:nvSpPr>
            <p:cNvPr id="12" name="Rectangle 12"/>
            <p:cNvSpPr/>
            <p:nvPr/>
          </p:nvSpPr>
          <p:spPr>
            <a:xfrm>
              <a:off x="609600" y="2076450"/>
              <a:ext cx="6591300" cy="5715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94766" y="230600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用例设计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00238" y="2322195"/>
              <a:ext cx="295366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场景法 / 边界值 / 状态迁移自动生成，人补探索性场景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248400" y="2257425"/>
              <a:ext cx="800100" cy="209550"/>
            </a:xfrm>
            <a:prstGeom prst="roundRect">
              <a:avLst>
                <a:gd name="adj" fmla="val 50000"/>
              </a:avLst>
            </a:prstGeom>
            <a:solidFill>
              <a:srgbClr val="E8EEF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79537" y="2311241"/>
              <a:ext cx="1378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1F4E79"/>
                  </a:solidFill>
                  <a:latin typeface="Microsoft YaHei"/>
                  <a:ea typeface="Microsoft YaHei"/>
                  <a:cs typeface="Microsoft YaHei"/>
                </a:rPr>
                <a:t>L2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9600" y="2724150"/>
            <a:ext cx="6591300" cy="571500"/>
            <a:chOff x="609600" y="2724150"/>
            <a:chExt cx="6591300" cy="571500"/>
          </a:xfrm>
        </p:grpSpPr>
        <p:sp>
          <p:nvSpPr>
            <p:cNvPr id="18" name="Rectangle 18"/>
            <p:cNvSpPr/>
            <p:nvPr/>
          </p:nvSpPr>
          <p:spPr>
            <a:xfrm>
              <a:off x="609600" y="2724150"/>
              <a:ext cx="6591300" cy="5715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94766" y="2953702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自动化脚本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00238" y="2969895"/>
              <a:ext cx="2204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AI 生成并读日志自修复，人评审后入库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248400" y="2905125"/>
              <a:ext cx="800100" cy="209550"/>
            </a:xfrm>
            <a:prstGeom prst="roundRect">
              <a:avLst>
                <a:gd name="adj" fmla="val 50000"/>
              </a:avLst>
            </a:prstGeom>
            <a:solidFill>
              <a:srgbClr val="E8EEF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79537" y="2958941"/>
              <a:ext cx="1378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1F4E79"/>
                  </a:solidFill>
                  <a:latin typeface="Microsoft YaHei"/>
                  <a:ea typeface="Microsoft YaHei"/>
                  <a:cs typeface="Microsoft YaHei"/>
                </a:rPr>
                <a:t>L2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" y="3371850"/>
            <a:ext cx="6591300" cy="571500"/>
            <a:chOff x="609600" y="3371850"/>
            <a:chExt cx="6591300" cy="571500"/>
          </a:xfrm>
        </p:grpSpPr>
        <p:sp>
          <p:nvSpPr>
            <p:cNvPr id="24" name="Rectangle 24"/>
            <p:cNvSpPr/>
            <p:nvPr/>
          </p:nvSpPr>
          <p:spPr>
            <a:xfrm>
              <a:off x="609600" y="3371850"/>
              <a:ext cx="6591300" cy="5715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4766" y="360140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测试执行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00238" y="3617595"/>
              <a:ext cx="28325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版本构建自动触发，失败初判环境 / 脚本 / 产品缺陷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248400" y="3552825"/>
              <a:ext cx="800100" cy="209550"/>
            </a:xfrm>
            <a:prstGeom prst="roundRect">
              <a:avLst>
                <a:gd name="adj" fmla="val 50000"/>
              </a:avLst>
            </a:prstGeom>
            <a:solidFill>
              <a:srgbClr val="E4F0E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45405" y="3606641"/>
              <a:ext cx="4060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2E7D6B"/>
                  </a:solidFill>
                  <a:latin typeface="Microsoft YaHei"/>
                  <a:ea typeface="Microsoft YaHei"/>
                  <a:cs typeface="Microsoft YaHei"/>
                </a:rPr>
                <a:t>L1 自主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9600" y="4019550"/>
            <a:ext cx="6591300" cy="571500"/>
            <a:chOff x="609600" y="4019550"/>
            <a:chExt cx="6591300" cy="571500"/>
          </a:xfrm>
        </p:grpSpPr>
        <p:sp>
          <p:nvSpPr>
            <p:cNvPr id="30" name="Rectangle 30"/>
            <p:cNvSpPr/>
            <p:nvPr/>
          </p:nvSpPr>
          <p:spPr>
            <a:xfrm>
              <a:off x="609600" y="4019550"/>
              <a:ext cx="6591300" cy="5715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94766" y="4249102"/>
              <a:ext cx="455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问题单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00238" y="4265295"/>
              <a:ext cx="26750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结构化单据：复现步骤、证据、疑似根因、影响面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248400" y="4200525"/>
              <a:ext cx="800100" cy="209550"/>
            </a:xfrm>
            <a:prstGeom prst="roundRect">
              <a:avLst>
                <a:gd name="adj" fmla="val 50000"/>
              </a:avLst>
            </a:prstGeom>
            <a:solidFill>
              <a:srgbClr val="E8EEF5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79537" y="4254341"/>
              <a:ext cx="1378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1F4E79"/>
                  </a:solidFill>
                  <a:latin typeface="Microsoft YaHei"/>
                  <a:ea typeface="Microsoft YaHei"/>
                  <a:cs typeface="Microsoft YaHei"/>
                </a:rPr>
                <a:t>L2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9600" y="4667250"/>
            <a:ext cx="6591300" cy="571500"/>
            <a:chOff x="609600" y="4667250"/>
            <a:chExt cx="6591300" cy="571500"/>
          </a:xfrm>
        </p:grpSpPr>
        <p:sp>
          <p:nvSpPr>
            <p:cNvPr id="36" name="Rectangle 36"/>
            <p:cNvSpPr/>
            <p:nvPr/>
          </p:nvSpPr>
          <p:spPr>
            <a:xfrm>
              <a:off x="609600" y="4667250"/>
              <a:ext cx="6591300" cy="5715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94766" y="4896802"/>
              <a:ext cx="5438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SR 验收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900238" y="4912995"/>
              <a:ext cx="29730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AI 汇总验收报告：覆盖、通过率、遗留风险；人签认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48400" y="4848225"/>
              <a:ext cx="800100" cy="209550"/>
            </a:xfrm>
            <a:prstGeom prst="roundRect">
              <a:avLst>
                <a:gd name="adj" fmla="val 50000"/>
              </a:avLst>
            </a:prstGeom>
            <a:solidFill>
              <a:srgbClr val="FDEDE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48321" y="4902041"/>
              <a:ext cx="40025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E8600A"/>
                  </a:solidFill>
                  <a:latin typeface="Microsoft YaHei"/>
                  <a:ea typeface="Microsoft YaHei"/>
                  <a:cs typeface="Microsoft YaHei"/>
                </a:rPr>
                <a:t>L3 · G7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429500" y="1428750"/>
            <a:ext cx="4152900" cy="1047750"/>
            <a:chOff x="7429500" y="1428750"/>
            <a:chExt cx="4152900" cy="1047750"/>
          </a:xfrm>
        </p:grpSpPr>
        <p:sp>
          <p:nvSpPr>
            <p:cNvPr id="42" name="Rectangle 42"/>
            <p:cNvSpPr/>
            <p:nvPr/>
          </p:nvSpPr>
          <p:spPr>
            <a:xfrm>
              <a:off x="7429500" y="1428750"/>
              <a:ext cx="4152900" cy="10477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46670" y="1624012"/>
              <a:ext cx="61123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E8600A"/>
                  </a:solidFill>
                  <a:latin typeface="Microsoft YaHei"/>
                  <a:ea typeface="Microsoft YaHei"/>
                  <a:cs typeface="Microsoft YaHei"/>
                </a:rPr>
                <a:t>30%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53338" y="2017395"/>
              <a:ext cx="13262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回归测试被 agent 替代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53338" y="2215991"/>
              <a:ext cx="243807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腾讯某团队实践；探索性与兼容性测试替代率更高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429500" y="2590800"/>
            <a:ext cx="4152900" cy="1047750"/>
            <a:chOff x="7429500" y="2590800"/>
            <a:chExt cx="4152900" cy="1047750"/>
          </a:xfrm>
        </p:grpSpPr>
        <p:sp>
          <p:nvSpPr>
            <p:cNvPr id="47" name="Rectangle 47"/>
            <p:cNvSpPr/>
            <p:nvPr/>
          </p:nvSpPr>
          <p:spPr>
            <a:xfrm>
              <a:off x="7429500" y="2590800"/>
              <a:ext cx="4152900" cy="10477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648194" y="2818448"/>
              <a:ext cx="16322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F4E79"/>
                  </a:solidFill>
                  <a:latin typeface="Microsoft YaHei"/>
                  <a:ea typeface="Microsoft YaHei"/>
                  <a:cs typeface="Microsoft YaHei"/>
                </a:rPr>
                <a:t>3 天 → 8 小时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53338" y="3179445"/>
              <a:ext cx="7728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回归周期压缩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653338" y="3378041"/>
              <a:ext cx="23276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版本构建后自动触发分层执行，失败带日志切片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429500" y="3752850"/>
            <a:ext cx="4152900" cy="1047750"/>
            <a:chOff x="7429500" y="3752850"/>
            <a:chExt cx="4152900" cy="1047750"/>
          </a:xfrm>
        </p:grpSpPr>
        <p:sp>
          <p:nvSpPr>
            <p:cNvPr id="52" name="Rectangle 52"/>
            <p:cNvSpPr/>
            <p:nvPr/>
          </p:nvSpPr>
          <p:spPr>
            <a:xfrm>
              <a:off x="7429500" y="3752850"/>
              <a:ext cx="4152900" cy="10477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646670" y="3948112"/>
              <a:ext cx="7861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2E7D6B"/>
                  </a:solidFill>
                  <a:latin typeface="Microsoft YaHei"/>
                  <a:ea typeface="Microsoft YaHei"/>
                  <a:cs typeface="Microsoft YaHei"/>
                </a:rPr>
                <a:t>60%+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653338" y="4341495"/>
              <a:ext cx="9000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用例自动生成率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653338" y="4540091"/>
              <a:ext cx="193028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前提是建好"生成 — 评审 — 自进化"闭环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429500" y="4914900"/>
            <a:ext cx="4152900" cy="381000"/>
            <a:chOff x="7429500" y="4914900"/>
            <a:chExt cx="4152900" cy="381000"/>
          </a:xfrm>
        </p:grpSpPr>
        <p:sp>
          <p:nvSpPr>
            <p:cNvPr id="57" name="Rectangle 57"/>
            <p:cNvSpPr/>
            <p:nvPr/>
          </p:nvSpPr>
          <p:spPr>
            <a:xfrm>
              <a:off x="7429500" y="4914900"/>
              <a:ext cx="4152900" cy="381000"/>
            </a:xfrm>
            <a:prstGeom prst="roundRect">
              <a:avLst>
                <a:gd name="adj" fmla="val 20000"/>
              </a:avLst>
            </a:prstGeom>
            <a:solidFill>
              <a:srgbClr val="EDEFF3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256289" y="5055870"/>
              <a:ext cx="249932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30%–60% 是现实起步区间，不追求一步全自动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09600" y="5524500"/>
            <a:ext cx="10972800" cy="533400"/>
            <a:chOff x="609600" y="5524500"/>
            <a:chExt cx="10972800" cy="533400"/>
          </a:xfrm>
        </p:grpSpPr>
        <p:sp>
          <p:nvSpPr>
            <p:cNvPr id="60" name="Rectangle 60"/>
            <p:cNvSpPr/>
            <p:nvPr/>
          </p:nvSpPr>
          <p:spPr>
            <a:xfrm>
              <a:off x="609600" y="5524500"/>
              <a:ext cx="10972800" cy="533400"/>
            </a:xfrm>
            <a:prstGeom prst="roundRect">
              <a:avLst>
                <a:gd name="adj" fmla="val 17857"/>
              </a:avLst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2760116" y="5735002"/>
              <a:ext cx="66717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测试工程师的新四件事：测试策略与风险地图 · AI 生成资产评审与缺陷标注 · 探索性测试 · 验收签认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04838" y="6492716"/>
            <a:ext cx="10982324" cy="161925"/>
            <a:chOff x="604838" y="6492716"/>
            <a:chExt cx="10982324" cy="161925"/>
          </a:xfrm>
        </p:grpSpPr>
        <p:sp>
          <p:nvSpPr>
            <p:cNvPr id="63" name="TextBox 63"/>
            <p:cNvSpPr txBox="1"/>
            <p:nvPr/>
          </p:nvSpPr>
          <p:spPr>
            <a:xfrm>
              <a:off x="604838" y="6492716"/>
              <a:ext cx="2377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AI 辅助研发变革方案 · 从三段接力到人机共线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207836" y="6492716"/>
              <a:ext cx="37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08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8551" y="504349"/>
            <a:ext cx="5568711" cy="638746"/>
            <a:chOff x="598551" y="504349"/>
            <a:chExt cx="5568711" cy="638746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504349"/>
              <a:ext cx="11959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150" dirty="0">
                  <a:solidFill>
                    <a:srgbClr val="E8600A"/>
                  </a:solidFill>
                  <a:latin typeface="Microsoft YaHei"/>
                  <a:ea typeface="Microsoft YaHei"/>
                  <a:cs typeface="Microsoft YaHei"/>
                </a:rPr>
                <a:t>08 · 端到端门禁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8551" y="717709"/>
              <a:ext cx="5568711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九道门禁：前序问题不收敛，后续不启动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066800"/>
              <a:ext cx="533400" cy="38100"/>
            </a:xfrm>
            <a:prstGeom prst="rect">
              <a:avLst/>
            </a:prstGeom>
            <a:solidFill>
              <a:srgbClr val="E8600A"/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1466850" y="2524125"/>
            <a:ext cx="9296400" cy="95250"/>
            <a:chOff x="1466850" y="2524125"/>
            <a:chExt cx="9296400" cy="95250"/>
          </a:xfrm>
        </p:grpSpPr>
        <p:sp>
          <p:nvSpPr>
            <p:cNvPr id="6" name="Line 6"/>
            <p:cNvSpPr/>
            <p:nvPr/>
          </p:nvSpPr>
          <p:spPr>
            <a:xfrm>
              <a:off x="1466850" y="2571750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noFill/>
            <a:ln w="19050">
              <a:solidFill>
                <a:srgbClr val="8A93A3"/>
              </a:solidFill>
            </a:ln>
          </p:spPr>
        </p:sp>
        <p:sp>
          <p:nvSpPr>
            <p:cNvPr id="7" name="Polygon 7"/>
            <p:cNvSpPr/>
            <p:nvPr/>
          </p:nvSpPr>
          <p:spPr>
            <a:xfrm>
              <a:off x="2133600" y="25241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8A93A3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2686050" y="2571750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noFill/>
            <a:ln w="19050">
              <a:solidFill>
                <a:srgbClr val="8A93A3"/>
              </a:solidFill>
            </a:ln>
          </p:spPr>
        </p:sp>
        <p:sp>
          <p:nvSpPr>
            <p:cNvPr id="9" name="Polygon 9"/>
            <p:cNvSpPr/>
            <p:nvPr/>
          </p:nvSpPr>
          <p:spPr>
            <a:xfrm>
              <a:off x="3352800" y="25241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8A93A3"/>
            </a:solidFill>
            <a:ln>
              <a:noFill/>
            </a:ln>
          </p:spPr>
        </p:sp>
        <p:sp>
          <p:nvSpPr>
            <p:cNvPr id="10" name="Line 10"/>
            <p:cNvSpPr/>
            <p:nvPr/>
          </p:nvSpPr>
          <p:spPr>
            <a:xfrm>
              <a:off x="3905250" y="2571750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noFill/>
            <a:ln w="19050">
              <a:solidFill>
                <a:srgbClr val="8A93A3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4572000" y="25241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8A93A3"/>
            </a:solidFill>
            <a:ln>
              <a:noFill/>
            </a:ln>
          </p:spPr>
        </p:sp>
        <p:sp>
          <p:nvSpPr>
            <p:cNvPr id="12" name="Line 12"/>
            <p:cNvSpPr/>
            <p:nvPr/>
          </p:nvSpPr>
          <p:spPr>
            <a:xfrm>
              <a:off x="5124450" y="2571750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noFill/>
            <a:ln w="19050">
              <a:solidFill>
                <a:srgbClr val="8A93A3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5791200" y="25241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8A93A3"/>
            </a:solidFill>
            <a:ln>
              <a:noFill/>
            </a:ln>
          </p:spPr>
        </p:sp>
        <p:sp>
          <p:nvSpPr>
            <p:cNvPr id="14" name="Line 14"/>
            <p:cNvSpPr/>
            <p:nvPr/>
          </p:nvSpPr>
          <p:spPr>
            <a:xfrm>
              <a:off x="6343650" y="2571750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noFill/>
            <a:ln w="19050">
              <a:solidFill>
                <a:srgbClr val="8A93A3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7010400" y="25241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8A93A3"/>
            </a:solidFill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7562850" y="2571750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noFill/>
            <a:ln w="19050">
              <a:solidFill>
                <a:srgbClr val="8A93A3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8229600" y="25241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8A93A3"/>
            </a:solidFill>
            <a:ln>
              <a:noFill/>
            </a:ln>
          </p:spPr>
        </p:sp>
        <p:sp>
          <p:nvSpPr>
            <p:cNvPr id="18" name="Line 18"/>
            <p:cNvSpPr/>
            <p:nvPr/>
          </p:nvSpPr>
          <p:spPr>
            <a:xfrm>
              <a:off x="8782050" y="2571750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noFill/>
            <a:ln w="19050">
              <a:solidFill>
                <a:srgbClr val="8A93A3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9448800" y="25241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8A93A3"/>
            </a:solidFill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10001250" y="2571750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noFill/>
            <a:ln w="19050">
              <a:solidFill>
                <a:srgbClr val="8A93A3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10668000" y="25241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8A93A3"/>
            </a:solidFill>
            <a:ln>
              <a:noFill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960006" y="2324100"/>
            <a:ext cx="518389" cy="981076"/>
            <a:chOff x="960006" y="2324100"/>
            <a:chExt cx="518389" cy="981076"/>
          </a:xfrm>
        </p:grpSpPr>
        <p:sp>
          <p:nvSpPr>
            <p:cNvPr id="23" name="Ellipse 23"/>
            <p:cNvSpPr/>
            <p:nvPr/>
          </p:nvSpPr>
          <p:spPr>
            <a:xfrm>
              <a:off x="971550" y="2324100"/>
              <a:ext cx="495300" cy="495300"/>
            </a:xfrm>
            <a:prstGeom prst="ellipse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27615" y="25060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G0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60006" y="2969895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需求准入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12508" y="3157538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歧义闭环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051990" y="2324100"/>
            <a:ext cx="772820" cy="981076"/>
            <a:chOff x="2051990" y="2324100"/>
            <a:chExt cx="772820" cy="981076"/>
          </a:xfrm>
        </p:grpSpPr>
        <p:sp>
          <p:nvSpPr>
            <p:cNvPr id="28" name="Ellipse 28"/>
            <p:cNvSpPr/>
            <p:nvPr/>
          </p:nvSpPr>
          <p:spPr>
            <a:xfrm>
              <a:off x="2190750" y="2324100"/>
              <a:ext cx="495300" cy="495300"/>
            </a:xfrm>
            <a:prstGeom prst="ellipse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346815" y="25060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R1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051990" y="2969895"/>
              <a:ext cx="7728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需求分析评审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173653" y="3157538"/>
              <a:ext cx="52949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分解 + 追溯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271190" y="2324100"/>
            <a:ext cx="772820" cy="981076"/>
            <a:chOff x="3271190" y="2324100"/>
            <a:chExt cx="772820" cy="981076"/>
          </a:xfrm>
        </p:grpSpPr>
        <p:sp>
          <p:nvSpPr>
            <p:cNvPr id="33" name="Ellipse 33"/>
            <p:cNvSpPr/>
            <p:nvPr/>
          </p:nvSpPr>
          <p:spPr>
            <a:xfrm>
              <a:off x="3409950" y="2324100"/>
              <a:ext cx="495300" cy="495300"/>
            </a:xfrm>
            <a:prstGeom prst="ellipse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566015" y="25060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R2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271190" y="2969895"/>
              <a:ext cx="7728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功能设计评审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342370" y="3157538"/>
              <a:ext cx="63046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契约 + 状态机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461320" y="2324100"/>
            <a:ext cx="830961" cy="981076"/>
            <a:chOff x="4461320" y="2324100"/>
            <a:chExt cx="830961" cy="981076"/>
          </a:xfrm>
        </p:grpSpPr>
        <p:sp>
          <p:nvSpPr>
            <p:cNvPr id="38" name="Ellipse 38"/>
            <p:cNvSpPr/>
            <p:nvPr/>
          </p:nvSpPr>
          <p:spPr>
            <a:xfrm>
              <a:off x="4629150" y="2324100"/>
              <a:ext cx="495300" cy="495300"/>
            </a:xfrm>
            <a:prstGeom prst="ellipse">
              <a:avLst/>
            </a:prstGeom>
            <a:solidFill>
              <a:srgbClr val="E8600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785215" y="25060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S1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509112" y="2969895"/>
              <a:ext cx="73537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AR 规格评审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461320" y="3157538"/>
              <a:ext cx="83096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开发起草 SE 会签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709590" y="2324100"/>
            <a:ext cx="772820" cy="981076"/>
            <a:chOff x="5709590" y="2324100"/>
            <a:chExt cx="772820" cy="981076"/>
          </a:xfrm>
        </p:grpSpPr>
        <p:sp>
          <p:nvSpPr>
            <p:cNvPr id="43" name="Ellipse 43"/>
            <p:cNvSpPr/>
            <p:nvPr/>
          </p:nvSpPr>
          <p:spPr>
            <a:xfrm>
              <a:off x="5848350" y="2324100"/>
              <a:ext cx="495300" cy="495300"/>
            </a:xfrm>
            <a:prstGeom prst="ellipse">
              <a:avLst/>
            </a:prstGeom>
            <a:solidFill>
              <a:srgbClr val="2E7D6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004415" y="25060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R3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709590" y="2969895"/>
              <a:ext cx="7728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实现设计评审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838825" y="3157538"/>
              <a:ext cx="51435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安全项上抛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010067" y="2324100"/>
            <a:ext cx="610267" cy="981076"/>
            <a:chOff x="7010067" y="2324100"/>
            <a:chExt cx="610267" cy="981076"/>
          </a:xfrm>
        </p:grpSpPr>
        <p:sp>
          <p:nvSpPr>
            <p:cNvPr id="48" name="Ellipse 48"/>
            <p:cNvSpPr/>
            <p:nvPr/>
          </p:nvSpPr>
          <p:spPr>
            <a:xfrm>
              <a:off x="7067550" y="2324100"/>
              <a:ext cx="495300" cy="495300"/>
            </a:xfrm>
            <a:prstGeom prst="ellipse">
              <a:avLst/>
            </a:prstGeom>
            <a:solidFill>
              <a:srgbClr val="2E7D6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223615" y="25060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R4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056006" y="2969895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代码评审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010067" y="3157538"/>
              <a:ext cx="61026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critical 清零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147990" y="2324100"/>
            <a:ext cx="772820" cy="981076"/>
            <a:chOff x="8147990" y="2324100"/>
            <a:chExt cx="772820" cy="981076"/>
          </a:xfrm>
        </p:grpSpPr>
        <p:sp>
          <p:nvSpPr>
            <p:cNvPr id="53" name="Ellipse 53"/>
            <p:cNvSpPr/>
            <p:nvPr/>
          </p:nvSpPr>
          <p:spPr>
            <a:xfrm>
              <a:off x="8286750" y="2324100"/>
              <a:ext cx="495300" cy="495300"/>
            </a:xfrm>
            <a:prstGeom prst="ellipse">
              <a:avLst/>
            </a:prstGeom>
            <a:solidFill>
              <a:srgbClr val="2E7D6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442815" y="25060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T1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147990" y="2969895"/>
              <a:ext cx="7728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测试规格评审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327708" y="3157538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覆盖策略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9494406" y="2324100"/>
            <a:ext cx="518389" cy="981076"/>
            <a:chOff x="9494406" y="2324100"/>
            <a:chExt cx="518389" cy="981076"/>
          </a:xfrm>
        </p:grpSpPr>
        <p:sp>
          <p:nvSpPr>
            <p:cNvPr id="58" name="Ellipse 58"/>
            <p:cNvSpPr/>
            <p:nvPr/>
          </p:nvSpPr>
          <p:spPr>
            <a:xfrm>
              <a:off x="9505950" y="2324100"/>
              <a:ext cx="495300" cy="495300"/>
            </a:xfrm>
            <a:prstGeom prst="ellipse">
              <a:avLst/>
            </a:prstGeom>
            <a:solidFill>
              <a:srgbClr val="2E7D6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662015" y="25060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T2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494406" y="2969895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执行门禁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546908" y="3157538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分层全绿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0605112" y="2324100"/>
            <a:ext cx="735376" cy="981076"/>
            <a:chOff x="10605112" y="2324100"/>
            <a:chExt cx="735376" cy="981076"/>
          </a:xfrm>
        </p:grpSpPr>
        <p:sp>
          <p:nvSpPr>
            <p:cNvPr id="63" name="Ellipse 63"/>
            <p:cNvSpPr/>
            <p:nvPr/>
          </p:nvSpPr>
          <p:spPr>
            <a:xfrm>
              <a:off x="10725150" y="2324100"/>
              <a:ext cx="495300" cy="495300"/>
            </a:xfrm>
            <a:prstGeom prst="ellipse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0881215" y="25060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G7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605112" y="2969895"/>
              <a:ext cx="73537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SR 验收签认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816590" y="3157538"/>
              <a:ext cx="31242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人签认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457325" y="3886200"/>
            <a:ext cx="9290419" cy="193357"/>
            <a:chOff x="1457325" y="3886200"/>
            <a:chExt cx="9290419" cy="193357"/>
          </a:xfrm>
        </p:grpSpPr>
        <p:sp>
          <p:nvSpPr>
            <p:cNvPr id="68" name="Ellipse 68"/>
            <p:cNvSpPr/>
            <p:nvPr/>
          </p:nvSpPr>
          <p:spPr>
            <a:xfrm>
              <a:off x="1457325" y="3886200"/>
              <a:ext cx="133350" cy="133350"/>
            </a:xfrm>
            <a:prstGeom prst="ellipse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671638" y="3903345"/>
              <a:ext cx="15585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人必须到场的签字点（L3）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4505325" y="3886200"/>
              <a:ext cx="133350" cy="133350"/>
            </a:xfrm>
            <a:prstGeom prst="ellipse">
              <a:avLst/>
            </a:prstGeom>
            <a:solidFill>
              <a:srgbClr val="E8600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4719638" y="3903345"/>
              <a:ext cx="3052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轻量确认门禁：可异步，Open Questions 未闭环不放行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9077325" y="3886200"/>
              <a:ext cx="133350" cy="133350"/>
            </a:xfrm>
            <a:prstGeom prst="ellipse">
              <a:avLst/>
            </a:prstGeom>
            <a:solidFill>
              <a:srgbClr val="2E7D6B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291638" y="3903345"/>
              <a:ext cx="14561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AI 全量检查 + 人聚焦例外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609600" y="4572000"/>
            <a:ext cx="10972800" cy="952500"/>
            <a:chOff x="609600" y="4572000"/>
            <a:chExt cx="10972800" cy="952500"/>
          </a:xfrm>
        </p:grpSpPr>
        <p:sp>
          <p:nvSpPr>
            <p:cNvPr id="75" name="Rectangle 75"/>
            <p:cNvSpPr/>
            <p:nvPr/>
          </p:nvSpPr>
          <p:spPr>
            <a:xfrm>
              <a:off x="609600" y="4572000"/>
              <a:ext cx="10972800" cy="952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609600" y="4572000"/>
              <a:ext cx="47625" cy="9525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70966" y="4763452"/>
              <a:ext cx="25981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门禁记录自动落盘 = ASPICE 审计证据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71347" y="5019199"/>
              <a:ext cx="37038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谁、何时、基于什么版本、审了什么、结论是什么，全部留痕。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71347" y="5228749"/>
              <a:ext cx="70423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评审会前置 AI 预评审报告（自动检查发现、追溯缺口、高风险变更点），会议时间只讨论判断题，不用来读文档。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604838" y="6492716"/>
            <a:ext cx="10982324" cy="161925"/>
            <a:chOff x="604838" y="6492716"/>
            <a:chExt cx="10982324" cy="161925"/>
          </a:xfrm>
        </p:grpSpPr>
        <p:sp>
          <p:nvSpPr>
            <p:cNvPr id="81" name="TextBox 81"/>
            <p:cNvSpPr txBox="1"/>
            <p:nvPr/>
          </p:nvSpPr>
          <p:spPr>
            <a:xfrm>
              <a:off x="604838" y="6492716"/>
              <a:ext cx="2377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AI 辅助研发变革方案 · 从三段接力到人机共线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207836" y="6492716"/>
              <a:ext cx="37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09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8551" y="504349"/>
            <a:ext cx="2675635" cy="638746"/>
            <a:chOff x="598551" y="504349"/>
            <a:chExt cx="2675635" cy="638746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504349"/>
              <a:ext cx="10372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150" dirty="0">
                  <a:solidFill>
                    <a:srgbClr val="E8600A"/>
                  </a:solidFill>
                  <a:latin typeface="Microsoft YaHei"/>
                  <a:ea typeface="Microsoft YaHei"/>
                  <a:cs typeface="Microsoft YaHei"/>
                </a:rPr>
                <a:t>09 · 平台支撑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8551" y="717709"/>
              <a:ext cx="2675635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AI 产线的五层架构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066800"/>
              <a:ext cx="533400" cy="38100"/>
            </a:xfrm>
            <a:prstGeom prst="rect">
              <a:avLst/>
            </a:prstGeom>
            <a:solidFill>
              <a:srgbClr val="E8600A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428750"/>
            <a:ext cx="7048500" cy="762000"/>
            <a:chOff x="609600" y="1428750"/>
            <a:chExt cx="7048500" cy="762000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7048500" cy="762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428750"/>
              <a:ext cx="57150" cy="762000"/>
            </a:xfrm>
            <a:prstGeom prst="rect">
              <a:avLst/>
            </a:prstGeom>
            <a:solidFill>
              <a:srgbClr val="B3392E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70585" y="1612106"/>
              <a:ext cx="961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评估与度量层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1538" y="1884045"/>
              <a:ext cx="32227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对 AI 产出建评估基线（EDD），低于基线自动阻断并告警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715000" y="1695450"/>
              <a:ext cx="1714500" cy="247650"/>
            </a:xfrm>
            <a:prstGeom prst="roundRect">
              <a:avLst>
                <a:gd name="adj" fmla="val 50000"/>
              </a:avLst>
            </a:prstGeom>
            <a:solidFill>
              <a:srgbClr val="EDEFF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66808" y="1768316"/>
              <a:ext cx="121088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质量工程师 + AI 平台组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9600" y="2286000"/>
            <a:ext cx="7048500" cy="762000"/>
            <a:chOff x="609600" y="2286000"/>
            <a:chExt cx="7048500" cy="762000"/>
          </a:xfrm>
        </p:grpSpPr>
        <p:sp>
          <p:nvSpPr>
            <p:cNvPr id="13" name="Rectangle 13"/>
            <p:cNvSpPr/>
            <p:nvPr/>
          </p:nvSpPr>
          <p:spPr>
            <a:xfrm>
              <a:off x="609600" y="2286000"/>
              <a:ext cx="7048500" cy="762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609600" y="2286000"/>
              <a:ext cx="57150" cy="762000"/>
            </a:xfrm>
            <a:prstGeom prst="rect">
              <a:avLst/>
            </a:prstGeom>
            <a:solidFill>
              <a:srgbClr val="16283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70585" y="2469356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治理层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1538" y="2741295"/>
              <a:ext cx="36131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AI 网关：模型路由、权限、成本管控、敏感信息过滤、操作留痕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715000" y="2552700"/>
              <a:ext cx="1714500" cy="247650"/>
            </a:xfrm>
            <a:prstGeom prst="roundRect">
              <a:avLst>
                <a:gd name="adj" fmla="val 50000"/>
              </a:avLst>
            </a:prstGeom>
            <a:solidFill>
              <a:srgbClr val="EDEFF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25466" y="2625566"/>
              <a:ext cx="49356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AI 平台组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9600" y="3143250"/>
            <a:ext cx="7048500" cy="762000"/>
            <a:chOff x="609600" y="3143250"/>
            <a:chExt cx="7048500" cy="762000"/>
          </a:xfrm>
        </p:grpSpPr>
        <p:sp>
          <p:nvSpPr>
            <p:cNvPr id="20" name="Rectangle 20"/>
            <p:cNvSpPr/>
            <p:nvPr/>
          </p:nvSpPr>
          <p:spPr>
            <a:xfrm>
              <a:off x="609600" y="3143250"/>
              <a:ext cx="7048500" cy="762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09600" y="3143250"/>
              <a:ext cx="57150" cy="7620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70585" y="3326606"/>
              <a:ext cx="9800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Agent 编排层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71538" y="3598545"/>
              <a:ext cx="30808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各节点工作流定义、子 agent 作者隔离、人工确认点配置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715000" y="3409950"/>
              <a:ext cx="1714500" cy="247650"/>
            </a:xfrm>
            <a:prstGeom prst="roundRect">
              <a:avLst>
                <a:gd name="adj" fmla="val 50000"/>
              </a:avLst>
            </a:prstGeom>
            <a:solidFill>
              <a:srgbClr val="EDEFF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25466" y="3482816"/>
              <a:ext cx="49356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AI 平台组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9600" y="4000500"/>
            <a:ext cx="7048500" cy="762000"/>
            <a:chOff x="609600" y="4000500"/>
            <a:chExt cx="7048500" cy="762000"/>
          </a:xfrm>
        </p:grpSpPr>
        <p:sp>
          <p:nvSpPr>
            <p:cNvPr id="27" name="Rectangle 27"/>
            <p:cNvSpPr/>
            <p:nvPr/>
          </p:nvSpPr>
          <p:spPr>
            <a:xfrm>
              <a:off x="609600" y="4000500"/>
              <a:ext cx="7048500" cy="762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09600" y="4000500"/>
              <a:ext cx="57150" cy="762000"/>
            </a:xfrm>
            <a:prstGeom prst="rect">
              <a:avLst/>
            </a:prstGeom>
            <a:solidFill>
              <a:srgbClr val="E8600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70585" y="4183856"/>
              <a:ext cx="961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知识与技能层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71538" y="4455795"/>
              <a:ext cx="38628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知识库（RAG 检索）+ 技能包（流程 / 编码规范 / 车载等领域约束）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715000" y="4267200"/>
              <a:ext cx="1714500" cy="247650"/>
            </a:xfrm>
            <a:prstGeom prst="roundRect">
              <a:avLst>
                <a:gd name="adj" fmla="val 50000"/>
              </a:avLst>
            </a:prstGeom>
            <a:solidFill>
              <a:srgbClr val="EDEFF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062461" y="4340066"/>
              <a:ext cx="10195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知识工程师 + 各小队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9600" y="4857750"/>
            <a:ext cx="7048500" cy="762000"/>
            <a:chOff x="609600" y="4857750"/>
            <a:chExt cx="7048500" cy="762000"/>
          </a:xfrm>
        </p:grpSpPr>
        <p:sp>
          <p:nvSpPr>
            <p:cNvPr id="34" name="Rectangle 34"/>
            <p:cNvSpPr/>
            <p:nvPr/>
          </p:nvSpPr>
          <p:spPr>
            <a:xfrm>
              <a:off x="609600" y="4857750"/>
              <a:ext cx="7048500" cy="762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09600" y="4857750"/>
              <a:ext cx="57150" cy="762000"/>
            </a:xfrm>
            <a:prstGeom prst="rect">
              <a:avLst/>
            </a:prstGeom>
            <a:solidFill>
              <a:srgbClr val="2E7D6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70585" y="5041106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工具连接层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71538" y="5313045"/>
              <a:ext cx="34467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需求、代码仓、CI、测试管理、问题单系统全部 API / MCP 化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715000" y="5124450"/>
              <a:ext cx="1714500" cy="247650"/>
            </a:xfrm>
            <a:prstGeom prst="roundRect">
              <a:avLst>
                <a:gd name="adj" fmla="val 50000"/>
              </a:avLst>
            </a:prstGeom>
            <a:solidFill>
              <a:srgbClr val="EDEFF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25466" y="5197316"/>
              <a:ext cx="49356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AI 平台组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886700" y="1428750"/>
            <a:ext cx="3695700" cy="2667000"/>
            <a:chOff x="7886700" y="1428750"/>
            <a:chExt cx="3695700" cy="2667000"/>
          </a:xfrm>
        </p:grpSpPr>
        <p:sp>
          <p:nvSpPr>
            <p:cNvPr id="41" name="Rectangle 41"/>
            <p:cNvSpPr/>
            <p:nvPr/>
          </p:nvSpPr>
          <p:spPr>
            <a:xfrm>
              <a:off x="7886700" y="1428750"/>
              <a:ext cx="3695700" cy="2667000"/>
            </a:xfrm>
            <a:prstGeom prst="roundRect">
              <a:avLst>
                <a:gd name="adj" fmla="val 3571"/>
              </a:avLst>
            </a:prstGeom>
            <a:solidFill>
              <a:srgbClr val="16283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109585" y="1631156"/>
              <a:ext cx="961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自建还是采购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8143875" y="2066925"/>
              <a:ext cx="95250" cy="95250"/>
            </a:xfrm>
            <a:prstGeom prst="ellipse">
              <a:avLst/>
            </a:prstGeom>
            <a:solidFill>
              <a:srgbClr val="E8600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338947" y="2056924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F08A3C"/>
                  </a:solidFill>
                  <a:latin typeface="Microsoft YaHei"/>
                  <a:ea typeface="Microsoft YaHei"/>
                  <a:cs typeface="Microsoft YaHei"/>
                </a:rPr>
                <a:t>必须自有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39138" y="2274570"/>
              <a:ext cx="1584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C7D2E0"/>
                  </a:solidFill>
                  <a:latin typeface="Microsoft YaHei"/>
                  <a:ea typeface="Microsoft YaHei"/>
                  <a:cs typeface="Microsoft YaHei"/>
                </a:rPr>
                <a:t>技能包、知识库（核心资产）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8143875" y="2714625"/>
              <a:ext cx="95250" cy="95250"/>
            </a:xfrm>
            <a:prstGeom prst="ellipse">
              <a:avLst/>
            </a:prstGeom>
            <a:solidFill>
              <a:srgbClr val="2E7D6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338947" y="2704624"/>
              <a:ext cx="8410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7FC8B2"/>
                  </a:solidFill>
                  <a:latin typeface="Microsoft YaHei"/>
                  <a:ea typeface="Microsoft YaHei"/>
                  <a:cs typeface="Microsoft YaHei"/>
                </a:rPr>
                <a:t>可用成熟平台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339138" y="2922270"/>
              <a:ext cx="138844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C7D2E0"/>
                  </a:solidFill>
                  <a:latin typeface="Microsoft YaHei"/>
                  <a:ea typeface="Microsoft YaHei"/>
                  <a:cs typeface="Microsoft YaHei"/>
                </a:rPr>
                <a:t>AI 网关、agent 编排底座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8143875" y="3362325"/>
              <a:ext cx="95250" cy="95250"/>
            </a:xfrm>
            <a:prstGeom prst="ellipse">
              <a:avLst/>
            </a:prstGeom>
            <a:solidFill>
              <a:srgbClr val="B3392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338947" y="3352324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E89A8F"/>
                  </a:solidFill>
                  <a:latin typeface="Microsoft YaHei"/>
                  <a:ea typeface="Microsoft YaHei"/>
                  <a:cs typeface="Microsoft YaHei"/>
                </a:rPr>
                <a:t>不要自造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339138" y="3569970"/>
              <a:ext cx="13422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C7D2E0"/>
                  </a:solidFill>
                  <a:latin typeface="Microsoft YaHei"/>
                  <a:ea typeface="Microsoft YaHei"/>
                  <a:cs typeface="Microsoft YaHei"/>
                </a:rPr>
                <a:t>模型网关（重复造轮子）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7886700" y="4286250"/>
            <a:ext cx="3695700" cy="1333500"/>
            <a:chOff x="7886700" y="4286250"/>
            <a:chExt cx="3695700" cy="1333500"/>
          </a:xfrm>
        </p:grpSpPr>
        <p:sp>
          <p:nvSpPr>
            <p:cNvPr id="53" name="Rectangle 53"/>
            <p:cNvSpPr/>
            <p:nvPr/>
          </p:nvSpPr>
          <p:spPr>
            <a:xfrm>
              <a:off x="7886700" y="4286250"/>
              <a:ext cx="3695700" cy="13335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886700" y="4286250"/>
              <a:ext cx="47625" cy="1333500"/>
            </a:xfrm>
            <a:prstGeom prst="rect">
              <a:avLst/>
            </a:prstGeom>
            <a:solidFill>
              <a:srgbClr val="E8600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109966" y="4496752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一个硬标准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110538" y="4779645"/>
              <a:ext cx="2186940" cy="3857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agent 能读写真实系统：查需求、提代码、</a:t>
              </a:r>
              <a:br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跑流水线、提问题单，全程留痕。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110538" y="5255895"/>
              <a:ext cx="12944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8600A"/>
                  </a:solidFill>
                  <a:latin typeface="Microsoft YaHei"/>
                  <a:ea typeface="Microsoft YaHei"/>
                  <a:cs typeface="Microsoft YaHei"/>
                </a:rPr>
                <a:t>不做"截图式自动化"。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04838" y="6492716"/>
            <a:ext cx="10982324" cy="161925"/>
            <a:chOff x="604838" y="6492716"/>
            <a:chExt cx="10982324" cy="161925"/>
          </a:xfrm>
        </p:grpSpPr>
        <p:sp>
          <p:nvSpPr>
            <p:cNvPr id="59" name="TextBox 59"/>
            <p:cNvSpPr txBox="1"/>
            <p:nvPr/>
          </p:nvSpPr>
          <p:spPr>
            <a:xfrm>
              <a:off x="604838" y="6492716"/>
              <a:ext cx="2377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AI 辅助研发变革方案 · 从三段接力到人机共线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207836" y="6492716"/>
              <a:ext cx="37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10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8551" y="504349"/>
            <a:ext cx="4644276" cy="638746"/>
            <a:chOff x="598551" y="504349"/>
            <a:chExt cx="4644276" cy="638746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504349"/>
              <a:ext cx="19972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150" dirty="0">
                  <a:solidFill>
                    <a:srgbClr val="E8600A"/>
                  </a:solidFill>
                  <a:latin typeface="Microsoft YaHei"/>
                  <a:ea typeface="Microsoft YaHei"/>
                  <a:cs typeface="Microsoft YaHei"/>
                </a:rPr>
                <a:t>10 · 与 IPD / 车领域兼容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8551" y="717709"/>
              <a:ext cx="4644276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文档体系：一个转变，三个不动摇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066800"/>
              <a:ext cx="533400" cy="38100"/>
            </a:xfrm>
            <a:prstGeom prst="rect">
              <a:avLst/>
            </a:prstGeom>
            <a:solidFill>
              <a:srgbClr val="E8600A"/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609600" y="1428750"/>
            <a:ext cx="5943600" cy="2571750"/>
            <a:chOff x="609600" y="1428750"/>
            <a:chExt cx="5943600" cy="2571750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5943600" cy="2571750"/>
            </a:xfrm>
            <a:prstGeom prst="roundRect">
              <a:avLst>
                <a:gd name="adj" fmla="val 3704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2485" y="1631156"/>
              <a:ext cx="27344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一个转变：从"写给人看"到"人机共读"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38200" y="1962150"/>
              <a:ext cx="1714500" cy="304800"/>
            </a:xfrm>
            <a:prstGeom prst="roundRect">
              <a:avLst>
                <a:gd name="adj" fmla="val 50000"/>
              </a:avLst>
            </a:prstGeom>
            <a:solidFill>
              <a:srgbClr val="E8EEF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08950" y="206502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4E79"/>
                  </a:solidFill>
                  <a:latin typeface="Microsoft YaHei"/>
                  <a:ea typeface="Microsoft YaHei"/>
                  <a:cs typeface="Microsoft YaHei"/>
                </a:rPr>
                <a:t>结构化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667000" y="1962150"/>
              <a:ext cx="2095500" cy="304800"/>
            </a:xfrm>
            <a:prstGeom prst="roundRect">
              <a:avLst>
                <a:gd name="adj" fmla="val 50000"/>
              </a:avLst>
            </a:prstGeom>
            <a:solidFill>
              <a:srgbClr val="E8EEF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882184" y="2065020"/>
              <a:ext cx="166513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4E79"/>
                  </a:solidFill>
                  <a:latin typeface="Microsoft YaHei"/>
                  <a:ea typeface="Microsoft YaHei"/>
                  <a:cs typeface="Microsoft YaHei"/>
                </a:rPr>
                <a:t>文本化（Markdown / YAML）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876800" y="1962150"/>
              <a:ext cx="1447800" cy="304800"/>
            </a:xfrm>
            <a:prstGeom prst="roundRect">
              <a:avLst>
                <a:gd name="adj" fmla="val 50000"/>
              </a:avLst>
            </a:prstGeom>
            <a:solidFill>
              <a:srgbClr val="E8EEF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93042" y="206502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4E79"/>
                  </a:solidFill>
                  <a:latin typeface="Microsoft YaHei"/>
                  <a:ea typeface="Microsoft YaHei"/>
                  <a:cs typeface="Microsoft YaHei"/>
                </a:rPr>
                <a:t>进库版本化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38200" y="2362200"/>
              <a:ext cx="1714500" cy="304800"/>
            </a:xfrm>
            <a:prstGeom prst="roundRect">
              <a:avLst>
                <a:gd name="adj" fmla="val 50000"/>
              </a:avLst>
            </a:prstGeom>
            <a:solidFill>
              <a:srgbClr val="E8EEF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425054" y="2465070"/>
              <a:ext cx="54079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4E79"/>
                  </a:solidFill>
                  <a:latin typeface="Microsoft YaHei"/>
                  <a:ea typeface="Microsoft YaHei"/>
                  <a:cs typeface="Microsoft YaHei"/>
                </a:rPr>
                <a:t>条目级 ID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667000" y="2362200"/>
              <a:ext cx="2476500" cy="304800"/>
            </a:xfrm>
            <a:prstGeom prst="roundRect">
              <a:avLst>
                <a:gd name="adj" fmla="val 50000"/>
              </a:avLst>
            </a:prstGeom>
            <a:solidFill>
              <a:srgbClr val="E8EEF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43796" y="2465070"/>
              <a:ext cx="19229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4E79"/>
                  </a:solidFill>
                  <a:latin typeface="Microsoft YaHei"/>
                  <a:ea typeface="Microsoft YaHei"/>
                  <a:cs typeface="Microsoft YaHei"/>
                </a:rPr>
                <a:t>图源码化（PlantUML / Mermaid）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3438" y="2931795"/>
              <a:ext cx="36442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484"/>
                  </a:solidFill>
                  <a:latin typeface="Microsoft YaHei"/>
                  <a:ea typeface="Microsoft YaHei"/>
                  <a:cs typeface="Microsoft YaHei"/>
                </a:rPr>
                <a:t>机器可校验、可追溯、可检索，同时渲染成评审会需要的阅读形态；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3438" y="3141345"/>
              <a:ext cx="18926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484"/>
                  </a:solidFill>
                  <a:latin typeface="Microsoft YaHei"/>
                  <a:ea typeface="Microsoft YaHei"/>
                  <a:cs typeface="Microsoft YaHei"/>
                </a:rPr>
                <a:t>Word / Excel 不再作为唯一载体。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3247" y="3552349"/>
              <a:ext cx="22200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E8600A"/>
                  </a:solidFill>
                  <a:latin typeface="Microsoft YaHei"/>
                  <a:ea typeface="Microsoft YaHei"/>
                  <a:cs typeface="Microsoft YaHei"/>
                </a:rPr>
                <a:t>文档的第一读者从人变成"人 + AI"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9600" y="4191000"/>
            <a:ext cx="5943600" cy="533400"/>
            <a:chOff x="609600" y="4191000"/>
            <a:chExt cx="5943600" cy="533400"/>
          </a:xfrm>
        </p:grpSpPr>
        <p:sp>
          <p:nvSpPr>
            <p:cNvPr id="22" name="Rectangle 22"/>
            <p:cNvSpPr/>
            <p:nvPr/>
          </p:nvSpPr>
          <p:spPr>
            <a:xfrm>
              <a:off x="609600" y="4191000"/>
              <a:ext cx="5943600" cy="5334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9600" y="4191000"/>
              <a:ext cx="47625" cy="5334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3247" y="4314349"/>
              <a:ext cx="18833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IPD 评审决策点（TR）不动摇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3438" y="4512945"/>
              <a:ext cx="291731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484"/>
                  </a:solidFill>
                  <a:latin typeface="Microsoft YaHei"/>
                  <a:ea typeface="Microsoft YaHei"/>
                  <a:cs typeface="Microsoft YaHei"/>
                </a:rPr>
                <a:t>变的只是材料生成方式与评审深度，评审会的权责不变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9600" y="4819650"/>
            <a:ext cx="5943600" cy="533400"/>
            <a:chOff x="609600" y="4819650"/>
            <a:chExt cx="5943600" cy="533400"/>
          </a:xfrm>
        </p:grpSpPr>
        <p:sp>
          <p:nvSpPr>
            <p:cNvPr id="27" name="Rectangle 27"/>
            <p:cNvSpPr/>
            <p:nvPr/>
          </p:nvSpPr>
          <p:spPr>
            <a:xfrm>
              <a:off x="609600" y="4819650"/>
              <a:ext cx="5943600" cy="5334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09600" y="4819650"/>
              <a:ext cx="47625" cy="5334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3247" y="4942999"/>
              <a:ext cx="22566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ASPICE 双向追溯与验证准则不动摇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3438" y="5141595"/>
              <a:ext cx="26750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484"/>
                  </a:solidFill>
                  <a:latin typeface="Microsoft YaHei"/>
                  <a:ea typeface="Microsoft YaHei"/>
                  <a:cs typeface="Microsoft YaHei"/>
                </a:rPr>
                <a:t>追溯从人维护的表格，变成系统自动生成的活链接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9600" y="5448300"/>
            <a:ext cx="5943600" cy="533400"/>
            <a:chOff x="609600" y="5448300"/>
            <a:chExt cx="5943600" cy="533400"/>
          </a:xfrm>
        </p:grpSpPr>
        <p:sp>
          <p:nvSpPr>
            <p:cNvPr id="32" name="Rectangle 32"/>
            <p:cNvSpPr/>
            <p:nvPr/>
          </p:nvSpPr>
          <p:spPr>
            <a:xfrm>
              <a:off x="609600" y="5448300"/>
              <a:ext cx="5943600" cy="5334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09600" y="5448300"/>
              <a:ext cx="47625" cy="5334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33247" y="5571649"/>
              <a:ext cx="9795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签字责任不动摇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3438" y="5770245"/>
              <a:ext cx="32291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484"/>
                  </a:solidFill>
                  <a:latin typeface="Microsoft YaHei"/>
                  <a:ea typeface="Microsoft YaHei"/>
                  <a:cs typeface="Microsoft YaHei"/>
                </a:rPr>
                <a:t>AI 起草不构成免责理由，任何节点放行必须有具名签字人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781800" y="1428750"/>
            <a:ext cx="4800600" cy="4552950"/>
            <a:chOff x="6781800" y="1428750"/>
            <a:chExt cx="4800600" cy="4552950"/>
          </a:xfrm>
        </p:grpSpPr>
        <p:sp>
          <p:nvSpPr>
            <p:cNvPr id="37" name="Rectangle 37"/>
            <p:cNvSpPr/>
            <p:nvPr/>
          </p:nvSpPr>
          <p:spPr>
            <a:xfrm>
              <a:off x="6781800" y="1428750"/>
              <a:ext cx="4800600" cy="4552950"/>
            </a:xfrm>
            <a:prstGeom prst="roundRect">
              <a:avLst>
                <a:gd name="adj" fmla="val 2092"/>
              </a:avLst>
            </a:prstGeom>
            <a:solidFill>
              <a:srgbClr val="16283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004685" y="1650206"/>
              <a:ext cx="29972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车领域兼容要点（ASPICE / ISO 26262）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05447" y="2085499"/>
              <a:ext cx="12150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F08A3C"/>
                  </a:solidFill>
                  <a:latin typeface="Microsoft YaHei"/>
                  <a:ea typeface="Microsoft YaHei"/>
                  <a:cs typeface="Microsoft YaHei"/>
                </a:rPr>
                <a:t>1 · 双向追溯自动化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005638" y="2303145"/>
              <a:ext cx="2181225" cy="3476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00" dirty="0">
                  <a:solidFill>
                    <a:srgbClr val="C7D2E0"/>
                  </a:solidFill>
                  <a:latin typeface="Microsoft YaHei"/>
                  <a:ea typeface="Microsoft YaHei"/>
                  <a:cs typeface="Microsoft YaHei"/>
                </a:rPr>
                <a:t>随工件生成、随变更更新，评审先查断链；</a:t>
              </a:r>
              <a:br/>
              <a:r>
                <a:rPr lang="zh-CN" sz="900" dirty="0">
                  <a:solidFill>
                    <a:srgbClr val="C7D2E0"/>
                  </a:solidFill>
                  <a:latin typeface="Microsoft YaHei"/>
                  <a:ea typeface="Microsoft YaHei"/>
                  <a:cs typeface="Microsoft YaHei"/>
                </a:rPr>
                <a:t>建议作为变革早期的速赢点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05447" y="2904649"/>
              <a:ext cx="10765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F08A3C"/>
                  </a:solidFill>
                  <a:latin typeface="Microsoft YaHei"/>
                  <a:ea typeface="Microsoft YaHei"/>
                  <a:cs typeface="Microsoft YaHei"/>
                </a:rPr>
                <a:t>2 · 验证准则前置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05638" y="3122295"/>
              <a:ext cx="1569720" cy="3476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00" dirty="0">
                  <a:solidFill>
                    <a:srgbClr val="C7D2E0"/>
                  </a:solidFill>
                  <a:latin typeface="Microsoft YaHei"/>
                  <a:ea typeface="Microsoft YaHei"/>
                  <a:cs typeface="Microsoft YaHei"/>
                </a:rPr>
                <a:t>SR / AR 分解时即写验收标准，</a:t>
              </a:r>
              <a:br/>
              <a:r>
                <a:rPr lang="zh-CN" sz="900" dirty="0">
                  <a:solidFill>
                    <a:srgbClr val="C7D2E0"/>
                  </a:solidFill>
                  <a:latin typeface="Microsoft YaHei"/>
                  <a:ea typeface="Microsoft YaHei"/>
                  <a:cs typeface="Microsoft YaHei"/>
                </a:rPr>
                <a:t>测试覆盖检查变成机械校验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005447" y="3723799"/>
              <a:ext cx="10765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F08A3C"/>
                  </a:solidFill>
                  <a:latin typeface="Microsoft YaHei"/>
                  <a:ea typeface="Microsoft YaHei"/>
                  <a:cs typeface="Microsoft YaHei"/>
                </a:rPr>
                <a:t>3 · 安全决策上抛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05638" y="3941445"/>
              <a:ext cx="2741295" cy="3476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00" dirty="0">
                  <a:solidFill>
                    <a:srgbClr val="C7D2E0"/>
                  </a:solidFill>
                  <a:latin typeface="Microsoft YaHei"/>
                  <a:ea typeface="Microsoft YaHei"/>
                  <a:cs typeface="Microsoft YaHei"/>
                </a:rPr>
                <a:t>safety goal / ASIL / 看门狗 / DTC 由功能安全负责人</a:t>
              </a:r>
              <a:br/>
              <a:r>
                <a:rPr lang="zh-CN" sz="900" dirty="0">
                  <a:solidFill>
                    <a:srgbClr val="C7D2E0"/>
                  </a:solidFill>
                  <a:latin typeface="Microsoft YaHei"/>
                  <a:ea typeface="Microsoft YaHei"/>
                  <a:cs typeface="Microsoft YaHei"/>
                </a:rPr>
                <a:t>确认，纪律写进 agent 技能，机器强制执行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05447" y="4542949"/>
              <a:ext cx="9380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F08A3C"/>
                  </a:solidFill>
                  <a:latin typeface="Microsoft YaHei"/>
                  <a:ea typeface="Microsoft YaHei"/>
                  <a:cs typeface="Microsoft YaHei"/>
                </a:rPr>
                <a:t>4 · 证据链完整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05638" y="4760595"/>
              <a:ext cx="2312670" cy="3476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00" dirty="0">
                  <a:solidFill>
                    <a:srgbClr val="C7D2E0"/>
                  </a:solidFill>
                  <a:latin typeface="Microsoft YaHei"/>
                  <a:ea typeface="Microsoft YaHei"/>
                  <a:cs typeface="Microsoft YaHei"/>
                </a:rPr>
                <a:t>人审记录、AI 所用上下文、人对草稿的修订，</a:t>
              </a:r>
              <a:br/>
              <a:r>
                <a:rPr lang="zh-CN" sz="900" dirty="0">
                  <a:solidFill>
                    <a:srgbClr val="C7D2E0"/>
                  </a:solidFill>
                  <a:latin typeface="Microsoft YaHei"/>
                  <a:ea typeface="Microsoft YaHei"/>
                  <a:cs typeface="Microsoft YaHei"/>
                </a:rPr>
                <a:t>全部留痕，过程受控、决策可追溯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005447" y="5362099"/>
              <a:ext cx="10765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F08A3C"/>
                  </a:solidFill>
                  <a:latin typeface="Microsoft YaHei"/>
                  <a:ea typeface="Microsoft YaHei"/>
                  <a:cs typeface="Microsoft YaHei"/>
                </a:rPr>
                <a:t>5 · 配置管理同仓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005638" y="5579745"/>
              <a:ext cx="2066925" cy="3476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00" dirty="0">
                  <a:solidFill>
                    <a:srgbClr val="C7D2E0"/>
                  </a:solidFill>
                  <a:latin typeface="Microsoft YaHei"/>
                  <a:ea typeface="Microsoft YaHei"/>
                  <a:cs typeface="Microsoft YaHei"/>
                </a:rPr>
                <a:t>文档、代码、用例、知识库同仓版本化，</a:t>
              </a:r>
              <a:br/>
              <a:r>
                <a:rPr lang="zh-CN" sz="900" dirty="0">
                  <a:solidFill>
                    <a:srgbClr val="C7D2E0"/>
                  </a:solidFill>
                  <a:latin typeface="Microsoft YaHei"/>
                  <a:ea typeface="Microsoft YaHei"/>
                  <a:cs typeface="Microsoft YaHei"/>
                </a:rPr>
                <a:t>基线即仓库标签，变更走 PR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04838" y="6492716"/>
            <a:ext cx="10982324" cy="161925"/>
            <a:chOff x="604838" y="6492716"/>
            <a:chExt cx="10982324" cy="161925"/>
          </a:xfrm>
        </p:grpSpPr>
        <p:sp>
          <p:nvSpPr>
            <p:cNvPr id="50" name="TextBox 50"/>
            <p:cNvSpPr txBox="1"/>
            <p:nvPr/>
          </p:nvSpPr>
          <p:spPr>
            <a:xfrm>
              <a:off x="604838" y="6492716"/>
              <a:ext cx="2377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AI 辅助研发变革方案 · 从三段接力到人机共线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207836" y="6492716"/>
              <a:ext cx="37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11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8551" y="504349"/>
            <a:ext cx="4952421" cy="638746"/>
            <a:chOff x="598551" y="504349"/>
            <a:chExt cx="4952421" cy="638746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504349"/>
              <a:ext cx="10372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150" dirty="0">
                  <a:solidFill>
                    <a:srgbClr val="E8600A"/>
                  </a:solidFill>
                  <a:latin typeface="Microsoft YaHei"/>
                  <a:ea typeface="Microsoft YaHei"/>
                  <a:cs typeface="Microsoft YaHei"/>
                </a:rPr>
                <a:t>11 · 知识工程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8551" y="717709"/>
              <a:ext cx="4952421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生产即沉淀，消费即反馈：知识飞轮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066800"/>
              <a:ext cx="533400" cy="38100"/>
            </a:xfrm>
            <a:prstGeom prst="rect">
              <a:avLst/>
            </a:prstGeom>
            <a:solidFill>
              <a:srgbClr val="E8600A"/>
            </a:solidFill>
            <a:ln>
              <a:noFill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1790700" y="2019300"/>
            <a:ext cx="4610100" cy="3514725"/>
            <a:chOff x="1790700" y="2019300"/>
            <a:chExt cx="4610100" cy="3514725"/>
          </a:xfrm>
        </p:grpSpPr>
        <p:sp>
          <p:nvSpPr>
            <p:cNvPr id="6" name="Ellipse 6"/>
            <p:cNvSpPr/>
            <p:nvPr/>
          </p:nvSpPr>
          <p:spPr>
            <a:xfrm>
              <a:off x="2524125" y="2333625"/>
              <a:ext cx="3143250" cy="3143250"/>
            </a:xfrm>
            <a:prstGeom prst="ellipse">
              <a:avLst/>
            </a:prstGeom>
            <a:noFill/>
            <a:ln w="19050">
              <a:solidFill>
                <a:srgbClr val="1F4E79">
                  <a:alpha val="40000"/>
                </a:srgbClr>
              </a:solidFill>
              <a:custDash>
                <a:ds d="300000" sp="200000"/>
              </a:custDash>
            </a:ln>
          </p:spPr>
        </p:sp>
        <p:sp>
          <p:nvSpPr>
            <p:cNvPr id="7" name="Polygon 7"/>
            <p:cNvSpPr/>
            <p:nvPr/>
          </p:nvSpPr>
          <p:spPr>
            <a:xfrm>
              <a:off x="4986083" y="2587427"/>
              <a:ext cx="126063" cy="113419"/>
            </a:xfrm>
            <a:custGeom>
              <a:avLst/>
              <a:gdLst/>
              <a:ahLst/>
              <a:cxnLst/>
              <a:rect l="l" t="t" r="r" b="b"/>
              <a:pathLst>
                <a:path w="126063" h="113419">
                  <a:moveTo>
                    <a:pt x="67184" y="0"/>
                  </a:moveTo>
                  <a:lnTo>
                    <a:pt x="126063" y="113419"/>
                  </a:lnTo>
                  <a:lnTo>
                    <a:pt x="0" y="92471"/>
                  </a:ln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</p:sp>
        <p:sp>
          <p:nvSpPr>
            <p:cNvPr id="8" name="Polygon 8"/>
            <p:cNvSpPr/>
            <p:nvPr/>
          </p:nvSpPr>
          <p:spPr>
            <a:xfrm>
              <a:off x="5535870" y="4373365"/>
              <a:ext cx="108706" cy="126366"/>
            </a:xfrm>
            <a:custGeom>
              <a:avLst/>
              <a:gdLst/>
              <a:ahLst/>
              <a:cxnLst/>
              <a:rect l="l" t="t" r="r" b="b"/>
              <a:pathLst>
                <a:path w="108706" h="126366">
                  <a:moveTo>
                    <a:pt x="108706" y="35321"/>
                  </a:moveTo>
                  <a:lnTo>
                    <a:pt x="19032" y="1263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</p:sp>
        <p:sp>
          <p:nvSpPr>
            <p:cNvPr id="9" name="Polygon 9"/>
            <p:cNvSpPr/>
            <p:nvPr/>
          </p:nvSpPr>
          <p:spPr>
            <a:xfrm>
              <a:off x="3981450" y="541972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114300"/>
                  </a:moveTo>
                  <a:lnTo>
                    <a:pt x="0" y="5715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</p:sp>
        <p:sp>
          <p:nvSpPr>
            <p:cNvPr id="10" name="Polygon 10"/>
            <p:cNvSpPr/>
            <p:nvPr/>
          </p:nvSpPr>
          <p:spPr>
            <a:xfrm>
              <a:off x="2546925" y="4282319"/>
              <a:ext cx="108706" cy="126366"/>
            </a:xfrm>
            <a:custGeom>
              <a:avLst/>
              <a:gdLst/>
              <a:ahLst/>
              <a:cxnLst/>
              <a:rect l="l" t="t" r="r" b="b"/>
              <a:pathLst>
                <a:path w="108706" h="126366">
                  <a:moveTo>
                    <a:pt x="0" y="126366"/>
                  </a:moveTo>
                  <a:lnTo>
                    <a:pt x="19032" y="0"/>
                  </a:lnTo>
                  <a:lnTo>
                    <a:pt x="108706" y="91045"/>
                  </a:ln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</p:sp>
        <p:sp>
          <p:nvSpPr>
            <p:cNvPr id="11" name="Polygon 11"/>
            <p:cNvSpPr/>
            <p:nvPr/>
          </p:nvSpPr>
          <p:spPr>
            <a:xfrm>
              <a:off x="3138233" y="2566479"/>
              <a:ext cx="126063" cy="113419"/>
            </a:xfrm>
            <a:custGeom>
              <a:avLst/>
              <a:gdLst/>
              <a:ahLst/>
              <a:cxnLst/>
              <a:rect l="l" t="t" r="r" b="b"/>
              <a:pathLst>
                <a:path w="126063" h="113419">
                  <a:moveTo>
                    <a:pt x="0" y="20949"/>
                  </a:moveTo>
                  <a:lnTo>
                    <a:pt x="126063" y="0"/>
                  </a:lnTo>
                  <a:lnTo>
                    <a:pt x="67184" y="113419"/>
                  </a:ln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3600450" y="3409950"/>
              <a:ext cx="990600" cy="990600"/>
            </a:xfrm>
            <a:prstGeom prst="ellipse">
              <a:avLst/>
            </a:prstGeom>
            <a:solidFill>
              <a:srgbClr val="16283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773409" y="374570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知识底座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30038" y="3976688"/>
              <a:ext cx="73142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FA1B8"/>
                  </a:solidFill>
                  <a:latin typeface="Microsoft YaHei"/>
                  <a:ea typeface="Microsoft YaHei"/>
                  <a:cs typeface="Microsoft YaHei"/>
                </a:rPr>
                <a:t>技能包 + 知识库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3286125" y="2019300"/>
              <a:ext cx="1619250" cy="628650"/>
              <a:chOff x="3286125" y="2019300"/>
              <a:chExt cx="1619250" cy="62865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3286125" y="2019300"/>
                <a:ext cx="1619250" cy="628650"/>
              </a:xfrm>
              <a:prstGeom prst="roundRect">
                <a:avLst>
                  <a:gd name="adj" fmla="val 15152"/>
                </a:avLst>
              </a:prstGeom>
              <a:solidFill>
                <a:srgbClr val="FFFFFF"/>
              </a:solidFill>
              <a:ln w="19050">
                <a:solidFill>
                  <a:srgbClr val="E8600A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3815842" y="2172652"/>
                <a:ext cx="55981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E8600A"/>
                    </a:solidFill>
                    <a:latin typeface="Microsoft YaHei"/>
                    <a:ea typeface="Microsoft YaHei"/>
                    <a:cs typeface="Microsoft YaHei"/>
                  </a:rPr>
                  <a:t>1 · 沉淀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412099" y="2406491"/>
                <a:ext cx="1367302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3D4759"/>
                    </a:solidFill>
                    <a:latin typeface="Microsoft YaHei"/>
                    <a:ea typeface="Microsoft YaHei"/>
                    <a:cs typeface="Microsoft YaHei"/>
                  </a:rPr>
                  <a:t>评审意见 · 根因 · 问答落盘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4781550" y="3105150"/>
              <a:ext cx="1619250" cy="628650"/>
              <a:chOff x="4781550" y="3105150"/>
              <a:chExt cx="1619250" cy="6286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4781550" y="3105150"/>
                <a:ext cx="1619250" cy="628650"/>
              </a:xfrm>
              <a:prstGeom prst="roundRect">
                <a:avLst>
                  <a:gd name="adj" fmla="val 15152"/>
                </a:avLst>
              </a:prstGeom>
              <a:solidFill>
                <a:srgbClr val="FFFFFF"/>
              </a:solidFill>
              <a:ln w="9525">
                <a:solidFill>
                  <a:srgbClr val="D9DEE6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5311267" y="3258502"/>
                <a:ext cx="55981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4E79"/>
                    </a:solidFill>
                    <a:latin typeface="Microsoft YaHei"/>
                    <a:ea typeface="Microsoft YaHei"/>
                    <a:cs typeface="Microsoft YaHei"/>
                  </a:rPr>
                  <a:t>2 · 萃取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927415" y="3492341"/>
                <a:ext cx="1327521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3D4759"/>
                    </a:solidFill>
                    <a:latin typeface="Microsoft YaHei"/>
                    <a:ea typeface="Microsoft YaHei"/>
                    <a:cs typeface="Microsoft YaHei"/>
                  </a:rPr>
                  <a:t>AI 聚类 + 人审核成模式卡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4210050" y="4857750"/>
              <a:ext cx="1619250" cy="628650"/>
              <a:chOff x="4210050" y="4857750"/>
              <a:chExt cx="1619250" cy="6286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4210050" y="4857750"/>
                <a:ext cx="1619250" cy="628650"/>
              </a:xfrm>
              <a:prstGeom prst="roundRect">
                <a:avLst>
                  <a:gd name="adj" fmla="val 15152"/>
                </a:avLst>
              </a:prstGeom>
              <a:solidFill>
                <a:srgbClr val="FFFFFF"/>
              </a:solidFill>
              <a:ln w="9525">
                <a:solidFill>
                  <a:srgbClr val="D9DEE6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739767" y="5011102"/>
                <a:ext cx="55981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4E79"/>
                    </a:solidFill>
                    <a:latin typeface="Microsoft YaHei"/>
                    <a:ea typeface="Microsoft YaHei"/>
                    <a:cs typeface="Microsoft YaHei"/>
                  </a:rPr>
                  <a:t>3 · 入库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341335" y="5244941"/>
                <a:ext cx="1356680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3D4759"/>
                    </a:solidFill>
                    <a:latin typeface="Microsoft YaHei"/>
                    <a:ea typeface="Microsoft YaHei"/>
                    <a:cs typeface="Microsoft YaHei"/>
                  </a:rPr>
                  <a:t>模式卡 + 技能红线，走 PR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2362200" y="4857750"/>
              <a:ext cx="1619250" cy="628650"/>
              <a:chOff x="2362200" y="4857750"/>
              <a:chExt cx="1619250" cy="62865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2362200" y="4857750"/>
                <a:ext cx="1619250" cy="628650"/>
              </a:xfrm>
              <a:prstGeom prst="roundRect">
                <a:avLst>
                  <a:gd name="adj" fmla="val 15152"/>
                </a:avLst>
              </a:prstGeom>
              <a:solidFill>
                <a:srgbClr val="FFFFFF"/>
              </a:solidFill>
              <a:ln w="9525">
                <a:solidFill>
                  <a:srgbClr val="D9DEE6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2891917" y="5011102"/>
                <a:ext cx="55981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4E79"/>
                    </a:solidFill>
                    <a:latin typeface="Microsoft YaHei"/>
                    <a:ea typeface="Microsoft YaHei"/>
                    <a:cs typeface="Microsoft YaHei"/>
                  </a:rPr>
                  <a:t>4 · 消费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2513220" y="5244941"/>
                <a:ext cx="1317211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3D4759"/>
                    </a:solidFill>
                    <a:latin typeface="Microsoft YaHei"/>
                    <a:ea typeface="Microsoft YaHei"/>
                    <a:cs typeface="Microsoft YaHei"/>
                  </a:rPr>
                  <a:t>各节点 agent 经 RAG 调用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1790700" y="3105150"/>
              <a:ext cx="1619250" cy="628650"/>
              <a:chOff x="1790700" y="3105150"/>
              <a:chExt cx="1619250" cy="62865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1790700" y="3105150"/>
                <a:ext cx="1619250" cy="628650"/>
              </a:xfrm>
              <a:prstGeom prst="roundRect">
                <a:avLst>
                  <a:gd name="adj" fmla="val 15152"/>
                </a:avLst>
              </a:prstGeom>
              <a:solidFill>
                <a:srgbClr val="FFFFFF"/>
              </a:solidFill>
              <a:ln w="9525">
                <a:solidFill>
                  <a:srgbClr val="D9DEE6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2320417" y="3258502"/>
                <a:ext cx="55981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4E79"/>
                    </a:solidFill>
                    <a:latin typeface="Microsoft YaHei"/>
                    <a:ea typeface="Microsoft YaHei"/>
                    <a:cs typeface="Microsoft YaHei"/>
                  </a:rPr>
                  <a:t>5 · 度量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916674" y="3492341"/>
                <a:ext cx="1367302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3D4759"/>
                    </a:solidFill>
                    <a:latin typeface="Microsoft YaHei"/>
                    <a:ea typeface="Microsoft YaHei"/>
                    <a:cs typeface="Microsoft YaHei"/>
                  </a:rPr>
                  <a:t>命中率 · 复用率 · 缺陷预防</a:t>
                </a:r>
              </a:p>
            </p:txBody>
          </p:sp>
        </p:grpSp>
      </p:grpSp>
      <p:grpSp>
        <p:nvGrpSpPr>
          <p:cNvPr id="48" name="Group 48"/>
          <p:cNvGrpSpPr/>
          <p:nvPr/>
        </p:nvGrpSpPr>
        <p:grpSpPr>
          <a:xfrm>
            <a:off x="7620000" y="1428750"/>
            <a:ext cx="3962400" cy="2381250"/>
            <a:chOff x="7620000" y="1428750"/>
            <a:chExt cx="3962400" cy="2381250"/>
          </a:xfrm>
        </p:grpSpPr>
        <p:sp>
          <p:nvSpPr>
            <p:cNvPr id="36" name="Rectangle 36"/>
            <p:cNvSpPr/>
            <p:nvPr/>
          </p:nvSpPr>
          <p:spPr>
            <a:xfrm>
              <a:off x="7620000" y="1428750"/>
              <a:ext cx="3962400" cy="238125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842885" y="1612106"/>
              <a:ext cx="961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知识资产四层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43838" y="1941195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4E79"/>
                  </a:solidFill>
                  <a:latin typeface="Microsoft YaHei"/>
                  <a:ea typeface="Microsoft YaHei"/>
                  <a:cs typeface="Microsoft YaHei"/>
                </a:rPr>
                <a:t>流程知识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796338" y="1949291"/>
              <a:ext cx="208482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B7484"/>
                  </a:solidFill>
                  <a:latin typeface="Microsoft YaHei"/>
                  <a:ea typeface="Microsoft YaHei"/>
                  <a:cs typeface="Microsoft YaHei"/>
                </a:rPr>
                <a:t>技能包：流程 / 规范 / 红线 / 评审 rubric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43838" y="2360295"/>
              <a:ext cx="6456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4E79"/>
                  </a:solidFill>
                  <a:latin typeface="Microsoft YaHei"/>
                  <a:ea typeface="Microsoft YaHei"/>
                  <a:cs typeface="Microsoft YaHei"/>
                </a:rPr>
                <a:t>需求与领域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96338" y="2368391"/>
              <a:ext cx="15549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B7484"/>
                  </a:solidFill>
                  <a:latin typeface="Microsoft YaHei"/>
                  <a:ea typeface="Microsoft YaHei"/>
                  <a:cs typeface="Microsoft YaHei"/>
                </a:rPr>
                <a:t>需求模式库、分解范例、术语表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843838" y="2779395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4E79"/>
                  </a:solidFill>
                  <a:latin typeface="Microsoft YaHei"/>
                  <a:ea typeface="Microsoft YaHei"/>
                  <a:cs typeface="Microsoft YaHei"/>
                </a:rPr>
                <a:t>工程知识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796338" y="2787491"/>
              <a:ext cx="166535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B7484"/>
                  </a:solidFill>
                  <a:latin typeface="Microsoft YaHei"/>
                  <a:ea typeface="Microsoft YaHei"/>
                  <a:cs typeface="Microsoft YaHei"/>
                </a:rPr>
                <a:t>编码规范、设计模式、接口契约库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843838" y="3198495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4E79"/>
                  </a:solidFill>
                  <a:latin typeface="Microsoft YaHei"/>
                  <a:ea typeface="Microsoft YaHei"/>
                  <a:cs typeface="Microsoft YaHei"/>
                </a:rPr>
                <a:t>质量知识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796338" y="3206591"/>
              <a:ext cx="15549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B7484"/>
                  </a:solidFill>
                  <a:latin typeface="Microsoft YaHei"/>
                  <a:ea typeface="Microsoft YaHei"/>
                  <a:cs typeface="Microsoft YaHei"/>
                </a:rPr>
                <a:t>缺陷模式、评审意见、风险地图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7848600" y="3505200"/>
              <a:ext cx="3505200" cy="9525"/>
            </a:xfrm>
            <a:custGeom>
              <a:avLst/>
              <a:gdLst/>
              <a:ahLst/>
              <a:cxnLst/>
              <a:rect l="l" t="t" r="r" b="b"/>
              <a:pathLst>
                <a:path w="3505200" h="9525">
                  <a:moveTo>
                    <a:pt x="0" y="0"/>
                  </a:moveTo>
                  <a:lnTo>
                    <a:pt x="3505200" y="0"/>
                  </a:lnTo>
                </a:path>
              </a:pathLst>
            </a:custGeom>
            <a:noFill/>
            <a:ln w="9525">
              <a:solidFill>
                <a:srgbClr val="EDEFF3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843838" y="3606641"/>
              <a:ext cx="31447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每条知识有 owner 和适用期；技能包变更走 PR，当成代码管。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620000" y="4000500"/>
            <a:ext cx="3962400" cy="1619250"/>
            <a:chOff x="7620000" y="4000500"/>
            <a:chExt cx="3962400" cy="1619250"/>
          </a:xfrm>
        </p:grpSpPr>
        <p:sp>
          <p:nvSpPr>
            <p:cNvPr id="49" name="Rectangle 49"/>
            <p:cNvSpPr/>
            <p:nvPr/>
          </p:nvSpPr>
          <p:spPr>
            <a:xfrm>
              <a:off x="7620000" y="4000500"/>
              <a:ext cx="3962400" cy="1619250"/>
            </a:xfrm>
            <a:prstGeom prst="roundRect">
              <a:avLst>
                <a:gd name="adj" fmla="val 5882"/>
              </a:avLst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842885" y="4183856"/>
              <a:ext cx="22278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冷启动：飞轮最难是第一批知识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843838" y="4493895"/>
              <a:ext cx="280850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7155" indent="-97155">
                <a:buClr>
                  <a:srgbClr val="C7D2E0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C7D2E0"/>
                  </a:solidFill>
                  <a:latin typeface="Microsoft YaHei"/>
                  <a:ea typeface="Microsoft YaHei"/>
                  <a:cs typeface="Microsoft YaHei"/>
                </a:rPr>
                <a:t>存量文档逆向入库（历史说明书 / 问题单 / 纪要）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843838" y="4722495"/>
              <a:ext cx="252984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7155" indent="-97155">
                <a:buClr>
                  <a:srgbClr val="C7D2E0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C7D2E0"/>
                  </a:solidFill>
                  <a:latin typeface="Microsoft YaHei"/>
                  <a:ea typeface="Microsoft YaHei"/>
                  <a:cs typeface="Microsoft YaHei"/>
                </a:rPr>
                <a:t>试点项目边跑边沉淀，新项目天然按新流程走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843838" y="4951095"/>
              <a:ext cx="28846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7155" indent="-97155">
                <a:buClr>
                  <a:srgbClr val="C7D2E0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C7D2E0"/>
                  </a:solidFill>
                  <a:latin typeface="Microsoft YaHei"/>
                  <a:ea typeface="Microsoft YaHei"/>
                  <a:cs typeface="Microsoft YaHei"/>
                </a:rPr>
                <a:t>资深 SE / 开发 / 测试访谈萃取，固化成技能红线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843838" y="5255895"/>
              <a:ext cx="179054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08A3C"/>
                  </a:solidFill>
                  <a:latin typeface="Microsoft YaHei"/>
                  <a:ea typeface="Microsoft YaHei"/>
                  <a:cs typeface="Microsoft YaHei"/>
                </a:rPr>
                <a:t>冷启动期，知识工程师要专职。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04838" y="6492716"/>
            <a:ext cx="10982324" cy="161925"/>
            <a:chOff x="604838" y="6492716"/>
            <a:chExt cx="10982324" cy="161925"/>
          </a:xfrm>
        </p:grpSpPr>
        <p:sp>
          <p:nvSpPr>
            <p:cNvPr id="56" name="TextBox 56"/>
            <p:cNvSpPr txBox="1"/>
            <p:nvPr/>
          </p:nvSpPr>
          <p:spPr>
            <a:xfrm>
              <a:off x="604838" y="6492716"/>
              <a:ext cx="2377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AI 辅助研发变革方案 · 从三段接力到人机共线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207836" y="6492716"/>
              <a:ext cx="37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12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8551" y="504349"/>
            <a:ext cx="3488731" cy="638746"/>
            <a:chOff x="598551" y="504349"/>
            <a:chExt cx="3488731" cy="638746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504349"/>
              <a:ext cx="10372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150" dirty="0">
                  <a:solidFill>
                    <a:srgbClr val="E8600A"/>
                  </a:solidFill>
                  <a:latin typeface="Microsoft YaHei"/>
                  <a:ea typeface="Microsoft YaHei"/>
                  <a:cs typeface="Microsoft YaHei"/>
                </a:rPr>
                <a:t>16 · 组织设计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8551" y="717709"/>
              <a:ext cx="3488731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围绕交付的 5–8 人小分队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066800"/>
              <a:ext cx="533400" cy="38100"/>
            </a:xfrm>
            <a:prstGeom prst="rect">
              <a:avLst/>
            </a:prstGeom>
            <a:solidFill>
              <a:srgbClr val="E8600A"/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609600" y="1428750"/>
            <a:ext cx="6858000" cy="2857500"/>
            <a:chOff x="609600" y="1428750"/>
            <a:chExt cx="6858000" cy="2857500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6858000" cy="2857500"/>
            </a:xfrm>
            <a:prstGeom prst="roundRect">
              <a:avLst>
                <a:gd name="adj" fmla="val 3333"/>
              </a:avLst>
            </a:prstGeom>
            <a:solidFill>
              <a:srgbClr val="16283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2104" y="1642110"/>
              <a:ext cx="39282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交付小分队 · 对一组 SR 从需求到验收端到端负责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38200" y="1962150"/>
              <a:ext cx="3143250" cy="723900"/>
            </a:xfrm>
            <a:prstGeom prst="roundRect">
              <a:avLst>
                <a:gd name="adj" fmla="val 10526"/>
              </a:avLst>
            </a:prstGeom>
            <a:solidFill>
              <a:srgbClr val="FFFFFF">
                <a:alpha val="8000"/>
              </a:srgb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04316" y="2115502"/>
              <a:ext cx="15200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交付负责人（DO）</a:t>
              </a:r>
              <a:r>
                <a:rPr lang="en-US" sz="1050" b="1" dirty="0">
                  <a:solidFill>
                    <a:srgbClr val="F08A3C"/>
                  </a:solidFill>
                  <a:latin typeface="Microsoft YaHei"/>
                  <a:ea typeface="Microsoft YaHei"/>
                  <a:cs typeface="Microsoft YaHei"/>
                </a:rPr>
                <a:t xml:space="preserve"> ×1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04888" y="2387441"/>
              <a:ext cx="17757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C7D2E0"/>
                  </a:solidFill>
                  <a:latin typeface="Microsoft YaHei"/>
                  <a:ea typeface="Microsoft YaHei"/>
                  <a:cs typeface="Microsoft YaHei"/>
                </a:rPr>
                <a:t>优先级、范围、验收拍板、例外升级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210050" y="1962150"/>
              <a:ext cx="3143250" cy="723900"/>
            </a:xfrm>
            <a:prstGeom prst="roundRect">
              <a:avLst>
                <a:gd name="adj" fmla="val 10526"/>
              </a:avLst>
            </a:prstGeom>
            <a:solidFill>
              <a:srgbClr val="FFFFFF">
                <a:alpha val="8000"/>
              </a:srgb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376166" y="2115502"/>
              <a:ext cx="14886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需求工程师（SE）</a:t>
              </a:r>
              <a:r>
                <a:rPr lang="en-US" sz="1050" b="1" dirty="0">
                  <a:solidFill>
                    <a:srgbClr val="F08A3C"/>
                  </a:solidFill>
                  <a:latin typeface="Microsoft YaHei"/>
                  <a:ea typeface="Microsoft YaHei"/>
                  <a:cs typeface="Microsoft YaHei"/>
                </a:rPr>
                <a:t xml:space="preserve"> ×1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76738" y="2387441"/>
              <a:ext cx="17065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C7D2E0"/>
                  </a:solidFill>
                  <a:latin typeface="Microsoft YaHei"/>
                  <a:ea typeface="Microsoft YaHei"/>
                  <a:cs typeface="Microsoft YaHei"/>
                </a:rPr>
                <a:t>分解裁决、AR 规格会签、AI 编排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38200" y="2800350"/>
              <a:ext cx="3143250" cy="723900"/>
            </a:xfrm>
            <a:prstGeom prst="roundRect">
              <a:avLst>
                <a:gd name="adj" fmla="val 10526"/>
              </a:avLst>
            </a:prstGeom>
            <a:solidFill>
              <a:srgbClr val="FFFFFF">
                <a:alpha val="8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04316" y="2953702"/>
              <a:ext cx="14206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全栈构建工程师</a:t>
              </a:r>
              <a:r>
                <a:rPr lang="en-US" sz="1050" b="1" dirty="0">
                  <a:solidFill>
                    <a:srgbClr val="F08A3C"/>
                  </a:solidFill>
                  <a:latin typeface="Microsoft YaHei"/>
                  <a:ea typeface="Microsoft YaHei"/>
                  <a:cs typeface="Microsoft YaHei"/>
                </a:rPr>
                <a:t xml:space="preserve"> ×2–3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04888" y="3225641"/>
              <a:ext cx="205808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C7D2E0"/>
                  </a:solidFill>
                  <a:latin typeface="Microsoft YaHei"/>
                  <a:ea typeface="Microsoft YaHei"/>
                  <a:cs typeface="Microsoft YaHei"/>
                </a:rPr>
                <a:t>规格化主导、AI 产出评审、findings 处置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210050" y="2800350"/>
              <a:ext cx="3143250" cy="723900"/>
            </a:xfrm>
            <a:prstGeom prst="roundRect">
              <a:avLst>
                <a:gd name="adj" fmla="val 10526"/>
              </a:avLst>
            </a:prstGeom>
            <a:solidFill>
              <a:srgbClr val="FFFFFF">
                <a:alpha val="8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376166" y="2953702"/>
              <a:ext cx="11238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质量工程师</a:t>
              </a:r>
              <a:r>
                <a:rPr lang="en-US" sz="1050" b="1" dirty="0">
                  <a:solidFill>
                    <a:srgbClr val="F08A3C"/>
                  </a:solidFill>
                  <a:latin typeface="Microsoft YaHei"/>
                  <a:ea typeface="Microsoft YaHei"/>
                  <a:cs typeface="Microsoft YaHei"/>
                </a:rPr>
                <a:t xml:space="preserve"> ×1–2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76738" y="3225641"/>
              <a:ext cx="15549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C7D2E0"/>
                  </a:solidFill>
                  <a:latin typeface="Microsoft YaHei"/>
                  <a:ea typeface="Microsoft YaHei"/>
                  <a:cs typeface="Microsoft YaHei"/>
                </a:rPr>
                <a:t>测试策略、用例评审、验收签认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38200" y="3638550"/>
              <a:ext cx="6515100" cy="495300"/>
            </a:xfrm>
            <a:prstGeom prst="roundRect">
              <a:avLst>
                <a:gd name="adj" fmla="val 15385"/>
              </a:avLst>
            </a:prstGeom>
            <a:solidFill>
              <a:srgbClr val="FFFFFF">
                <a:alpha val="8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04697" y="3742849"/>
              <a:ext cx="29293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知识 / AI 工程师</a:t>
              </a:r>
              <a:r>
                <a:rPr lang="en-US" sz="980" b="1" dirty="0">
                  <a:solidFill>
                    <a:srgbClr val="F08A3C"/>
                  </a:solidFill>
                  <a:latin typeface="Microsoft YaHei"/>
                  <a:ea typeface="Microsoft YaHei"/>
                  <a:cs typeface="Microsoft YaHei"/>
                </a:rPr>
                <a:t xml:space="preserve"> ×0.5–1</a:t>
              </a:r>
              <a:r>
                <a:rPr lang="zh-CN" sz="980" dirty="0">
                  <a:solidFill>
                    <a:srgbClr val="8FA1B8"/>
                  </a:solidFill>
                  <a:latin typeface="Microsoft YaHei"/>
                  <a:ea typeface="Microsoft YaHei"/>
                  <a:cs typeface="Microsoft YaHei"/>
                </a:rPr>
                <a:t>（可 2–3 个小队共享）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04888" y="3949541"/>
              <a:ext cx="13341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C7D2E0"/>
                  </a:solidFill>
                  <a:latin typeface="Microsoft YaHei"/>
                  <a:ea typeface="Microsoft YaHei"/>
                  <a:cs typeface="Microsoft YaHei"/>
                </a:rPr>
                <a:t>技能包、知识库、度量面板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696200" y="1428750"/>
            <a:ext cx="3886200" cy="1333500"/>
            <a:chOff x="7696200" y="1428750"/>
            <a:chExt cx="3886200" cy="1333500"/>
          </a:xfrm>
        </p:grpSpPr>
        <p:sp>
          <p:nvSpPr>
            <p:cNvPr id="24" name="Rectangle 24"/>
            <p:cNvSpPr/>
            <p:nvPr/>
          </p:nvSpPr>
          <p:spPr>
            <a:xfrm>
              <a:off x="7696200" y="1428750"/>
              <a:ext cx="3886200" cy="13335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7696200" y="1428750"/>
              <a:ext cx="47625" cy="13335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919085" y="1631156"/>
              <a:ext cx="1374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AI 平台组（共享）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20038" y="1903095"/>
              <a:ext cx="2084070" cy="3857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AI 网关、编排底座、可观测与成本治理、</a:t>
              </a:r>
              <a:br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评估基线。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20038" y="2379345"/>
              <a:ext cx="2190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484"/>
                  </a:solidFill>
                  <a:latin typeface="Microsoft YaHei"/>
                  <a:ea typeface="Microsoft YaHei"/>
                  <a:cs typeface="Microsoft YaHei"/>
                </a:rPr>
                <a:t>定位是生产工程加治理，不是研究部门。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696200" y="2952750"/>
            <a:ext cx="3886200" cy="1333500"/>
            <a:chOff x="7696200" y="2952750"/>
            <a:chExt cx="3886200" cy="1333500"/>
          </a:xfrm>
        </p:grpSpPr>
        <p:sp>
          <p:nvSpPr>
            <p:cNvPr id="30" name="Rectangle 30"/>
            <p:cNvSpPr/>
            <p:nvPr/>
          </p:nvSpPr>
          <p:spPr>
            <a:xfrm>
              <a:off x="7696200" y="2952750"/>
              <a:ext cx="3886200" cy="13335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7696200" y="2952750"/>
              <a:ext cx="47625" cy="1333500"/>
            </a:xfrm>
            <a:prstGeom prst="rect">
              <a:avLst/>
            </a:prstGeom>
            <a:solidFill>
              <a:srgbClr val="B3392E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919085" y="3155156"/>
              <a:ext cx="19111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架构与领域委员会（共享）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20038" y="3427095"/>
              <a:ext cx="17057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跨小队架构边界、整车级决策；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20038" y="3636645"/>
              <a:ext cx="19480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功能安全负责人在此收敛全部上抛项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20038" y="3846195"/>
              <a:ext cx="19553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484"/>
                  </a:solidFill>
                  <a:latin typeface="Microsoft YaHei"/>
                  <a:ea typeface="Microsoft YaHei"/>
                  <a:cs typeface="Microsoft YaHei"/>
                </a:rPr>
                <a:t>（ASIL / 安全状态 / DTC 策略）。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09600" y="4552950"/>
            <a:ext cx="10972800" cy="609600"/>
            <a:chOff x="609600" y="4552950"/>
            <a:chExt cx="10972800" cy="609600"/>
          </a:xfrm>
        </p:grpSpPr>
        <p:sp>
          <p:nvSpPr>
            <p:cNvPr id="37" name="Rectangle 37"/>
            <p:cNvSpPr/>
            <p:nvPr/>
          </p:nvSpPr>
          <p:spPr>
            <a:xfrm>
              <a:off x="609600" y="4552950"/>
              <a:ext cx="10972800" cy="609600"/>
            </a:xfrm>
            <a:prstGeom prst="roundRect">
              <a:avLst>
                <a:gd name="adj" fmla="val 15625"/>
              </a:avLst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585286" y="4801552"/>
              <a:ext cx="50214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决策权与开发权分离：开发权交给 AI，决策权（L3 清单）留在具名的人手里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09600" y="5314950"/>
            <a:ext cx="10972800" cy="609600"/>
            <a:chOff x="609600" y="5314950"/>
            <a:chExt cx="10972800" cy="609600"/>
          </a:xfrm>
        </p:grpSpPr>
        <p:sp>
          <p:nvSpPr>
            <p:cNvPr id="40" name="Rectangle 40"/>
            <p:cNvSpPr/>
            <p:nvPr/>
          </p:nvSpPr>
          <p:spPr>
            <a:xfrm>
              <a:off x="609600" y="5314950"/>
              <a:ext cx="10972800" cy="609600"/>
            </a:xfrm>
            <a:prstGeom prst="roundRect">
              <a:avLst>
                <a:gd name="adj" fmla="val 15625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441952" y="5457349"/>
              <a:ext cx="33080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职能线转型为能力线：专业标准、人才培养、职级评定；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771771" y="566689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跑稳两三个交付周期后，再考虑进一步扁平化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4838" y="6492716"/>
            <a:ext cx="10982324" cy="161925"/>
            <a:chOff x="604838" y="6492716"/>
            <a:chExt cx="10982324" cy="161925"/>
          </a:xfrm>
        </p:grpSpPr>
        <p:sp>
          <p:nvSpPr>
            <p:cNvPr id="44" name="TextBox 44"/>
            <p:cNvSpPr txBox="1"/>
            <p:nvPr/>
          </p:nvSpPr>
          <p:spPr>
            <a:xfrm>
              <a:off x="604838" y="6492716"/>
              <a:ext cx="2377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AI 辅助研发变革方案 · 从三段接力到人机共线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207836" y="6492716"/>
              <a:ext cx="37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17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8551" y="504349"/>
            <a:ext cx="4644276" cy="638746"/>
            <a:chOff x="598551" y="504349"/>
            <a:chExt cx="4644276" cy="638746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504349"/>
              <a:ext cx="10372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150" dirty="0">
                  <a:solidFill>
                    <a:srgbClr val="E8600A"/>
                  </a:solidFill>
                  <a:latin typeface="Microsoft YaHei"/>
                  <a:ea typeface="Microsoft YaHei"/>
                  <a:cs typeface="Microsoft YaHei"/>
                </a:rPr>
                <a:t>17 · 变化对照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8551" y="717709"/>
              <a:ext cx="4644276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流程与角色：日常会发生什么变化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066800"/>
              <a:ext cx="533400" cy="38100"/>
            </a:xfrm>
            <a:prstGeom prst="rect">
              <a:avLst/>
            </a:prstGeom>
            <a:solidFill>
              <a:srgbClr val="E8600A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95338" y="1530191"/>
            <a:ext cx="3906952" cy="161925"/>
            <a:chOff x="795338" y="1530191"/>
            <a:chExt cx="3906952" cy="161925"/>
          </a:xfrm>
        </p:grpSpPr>
        <p:sp>
          <p:nvSpPr>
            <p:cNvPr id="6" name="TextBox 6"/>
            <p:cNvSpPr txBox="1"/>
            <p:nvPr/>
          </p:nvSpPr>
          <p:spPr>
            <a:xfrm>
              <a:off x="795338" y="1530191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环节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414588" y="1530191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原来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71988" y="1530191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现在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09600" y="1771650"/>
            <a:ext cx="5486400" cy="609600"/>
            <a:chOff x="609600" y="1771650"/>
            <a:chExt cx="5486400" cy="609600"/>
          </a:xfrm>
        </p:grpSpPr>
        <p:sp>
          <p:nvSpPr>
            <p:cNvPr id="10" name="Rectangle 10"/>
            <p:cNvSpPr/>
            <p:nvPr/>
          </p:nvSpPr>
          <p:spPr>
            <a:xfrm>
              <a:off x="609600" y="1771650"/>
              <a:ext cx="5486400" cy="6096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95147" y="2009299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需求传递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14588" y="201739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串讲宣讲</a:t>
              </a:r>
            </a:p>
          </p:txBody>
        </p:sp>
        <p:sp>
          <p:nvSpPr>
            <p:cNvPr id="13" name="Polygon 13"/>
            <p:cNvSpPr/>
            <p:nvPr/>
          </p:nvSpPr>
          <p:spPr>
            <a:xfrm>
              <a:off x="4114800" y="20383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38100"/>
                  </a:moveTo>
                  <a:lnTo>
                    <a:pt x="0" y="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6B7484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471988" y="2017395"/>
              <a:ext cx="143050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AR 包 + AI 答疑，S1 兜底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2457450"/>
            <a:ext cx="5486400" cy="609600"/>
            <a:chOff x="609600" y="2457450"/>
            <a:chExt cx="5486400" cy="609600"/>
          </a:xfrm>
        </p:grpSpPr>
        <p:sp>
          <p:nvSpPr>
            <p:cNvPr id="16" name="Rectangle 16"/>
            <p:cNvSpPr/>
            <p:nvPr/>
          </p:nvSpPr>
          <p:spPr>
            <a:xfrm>
              <a:off x="609600" y="2457450"/>
              <a:ext cx="5486400" cy="6096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95147" y="2695099"/>
              <a:ext cx="7025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设计与代码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414588" y="2703195"/>
              <a:ext cx="1099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手写实现设计与代码</a:t>
              </a:r>
            </a:p>
          </p:txBody>
        </p:sp>
        <p:sp>
          <p:nvSpPr>
            <p:cNvPr id="19" name="Polygon 19"/>
            <p:cNvSpPr/>
            <p:nvPr/>
          </p:nvSpPr>
          <p:spPr>
            <a:xfrm>
              <a:off x="4114800" y="27241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38100"/>
                  </a:moveTo>
                  <a:lnTo>
                    <a:pt x="0" y="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6B7484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71988" y="2703195"/>
              <a:ext cx="11808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AI 起草生成，人修订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9600" y="3143250"/>
            <a:ext cx="5486400" cy="609600"/>
            <a:chOff x="609600" y="3143250"/>
            <a:chExt cx="5486400" cy="609600"/>
          </a:xfrm>
        </p:grpSpPr>
        <p:sp>
          <p:nvSpPr>
            <p:cNvPr id="22" name="Rectangle 22"/>
            <p:cNvSpPr/>
            <p:nvPr/>
          </p:nvSpPr>
          <p:spPr>
            <a:xfrm>
              <a:off x="609600" y="3143250"/>
              <a:ext cx="5486400" cy="6096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95147" y="3380899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代码审查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414588" y="338899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逐行人审</a:t>
              </a:r>
            </a:p>
          </p:txBody>
        </p:sp>
        <p:sp>
          <p:nvSpPr>
            <p:cNvPr id="25" name="Polygon 25"/>
            <p:cNvSpPr/>
            <p:nvPr/>
          </p:nvSpPr>
          <p:spPr>
            <a:xfrm>
              <a:off x="4114800" y="34099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38100"/>
                  </a:moveTo>
                  <a:lnTo>
                    <a:pt x="0" y="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6B748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471988" y="3388995"/>
              <a:ext cx="14186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AI 初审 + 人终审 findings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9600" y="3829050"/>
            <a:ext cx="5486400" cy="609600"/>
            <a:chOff x="609600" y="3829050"/>
            <a:chExt cx="5486400" cy="609600"/>
          </a:xfrm>
        </p:grpSpPr>
        <p:sp>
          <p:nvSpPr>
            <p:cNvPr id="28" name="Rectangle 28"/>
            <p:cNvSpPr/>
            <p:nvPr/>
          </p:nvSpPr>
          <p:spPr>
            <a:xfrm>
              <a:off x="609600" y="3829050"/>
              <a:ext cx="5486400" cy="6096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95147" y="4066699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合入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414588" y="4074795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审查通过即合入</a:t>
              </a:r>
            </a:p>
          </p:txBody>
        </p:sp>
        <p:sp>
          <p:nvSpPr>
            <p:cNvPr id="31" name="Polygon 31"/>
            <p:cNvSpPr/>
            <p:nvPr/>
          </p:nvSpPr>
          <p:spPr>
            <a:xfrm>
              <a:off x="4114800" y="40957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38100"/>
                  </a:moveTo>
                  <a:lnTo>
                    <a:pt x="0" y="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6B7484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471988" y="4074795"/>
              <a:ext cx="7576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DoD 机器门禁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400800" y="1428750"/>
            <a:ext cx="5181600" cy="952500"/>
            <a:chOff x="6400800" y="1428750"/>
            <a:chExt cx="5181600" cy="952500"/>
          </a:xfrm>
        </p:grpSpPr>
        <p:sp>
          <p:nvSpPr>
            <p:cNvPr id="34" name="Rectangle 34"/>
            <p:cNvSpPr/>
            <p:nvPr/>
          </p:nvSpPr>
          <p:spPr>
            <a:xfrm>
              <a:off x="6400800" y="1428750"/>
              <a:ext cx="5181600" cy="9525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85966" y="1582102"/>
              <a:ext cx="11476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SE → 需求工程师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86538" y="1807845"/>
              <a:ext cx="22562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E7D6B"/>
                  </a:solidFill>
                  <a:latin typeface="Microsoft YaHei"/>
                  <a:ea typeface="Microsoft YaHei"/>
                  <a:cs typeface="Microsoft YaHei"/>
                </a:rPr>
                <a:t>+ 分解裁决 · AR 规格会签 · 模式库运营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86538" y="1998345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− 写长文档 · 组织串讲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86538" y="2188845"/>
              <a:ext cx="16289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4E79"/>
                  </a:solidFill>
                  <a:latin typeface="Microsoft YaHei"/>
                  <a:ea typeface="Microsoft YaHei"/>
                  <a:cs typeface="Microsoft YaHei"/>
                </a:rPr>
                <a:t>不变：R1 / R2 需求质量签字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400800" y="2495550"/>
            <a:ext cx="5181600" cy="952500"/>
            <a:chOff x="6400800" y="2495550"/>
            <a:chExt cx="5181600" cy="952500"/>
          </a:xfrm>
        </p:grpSpPr>
        <p:sp>
          <p:nvSpPr>
            <p:cNvPr id="40" name="Rectangle 40"/>
            <p:cNvSpPr/>
            <p:nvPr/>
          </p:nvSpPr>
          <p:spPr>
            <a:xfrm>
              <a:off x="6400800" y="2495550"/>
              <a:ext cx="5181600" cy="9525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85966" y="2648902"/>
              <a:ext cx="15171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开发 → 全栈构建工程师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86538" y="2874645"/>
              <a:ext cx="218442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E7D6B"/>
                  </a:solidFill>
                  <a:latin typeface="Microsoft YaHei"/>
                  <a:ea typeface="Microsoft YaHei"/>
                  <a:cs typeface="Microsoft YaHei"/>
                </a:rPr>
                <a:t>+ AR 规格化主导 · findings 处置 · 跨栈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86538" y="3065145"/>
              <a:ext cx="11936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− 逐行手写代码与 UT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86538" y="3255645"/>
              <a:ext cx="192336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4E79"/>
                  </a:solidFill>
                  <a:latin typeface="Microsoft YaHei"/>
                  <a:ea typeface="Microsoft YaHei"/>
                  <a:cs typeface="Microsoft YaHei"/>
                </a:rPr>
                <a:t>不变：R3 设计签字 · R4 代码终审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400800" y="3562350"/>
            <a:ext cx="5181600" cy="952500"/>
            <a:chOff x="6400800" y="3562350"/>
            <a:chExt cx="5181600" cy="952500"/>
          </a:xfrm>
        </p:grpSpPr>
        <p:sp>
          <p:nvSpPr>
            <p:cNvPr id="46" name="Rectangle 46"/>
            <p:cNvSpPr/>
            <p:nvPr/>
          </p:nvSpPr>
          <p:spPr>
            <a:xfrm>
              <a:off x="6400800" y="3562350"/>
              <a:ext cx="5181600" cy="9525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85966" y="3715702"/>
              <a:ext cx="1220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测试 → 质量工程师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86538" y="3941445"/>
              <a:ext cx="209618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E7D6B"/>
                  </a:solidFill>
                  <a:latin typeface="Microsoft YaHei"/>
                  <a:ea typeface="Microsoft YaHei"/>
                  <a:cs typeface="Microsoft YaHei"/>
                </a:rPr>
                <a:t>+ 测试策略 · AI 用例评审 · 缺陷标注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86538" y="4131945"/>
              <a:ext cx="17057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− 手工执行回归 · 手写用例脚本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86538" y="4322445"/>
              <a:ext cx="10848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4E79"/>
                  </a:solidFill>
                  <a:latin typeface="Microsoft YaHei"/>
                  <a:ea typeface="Microsoft YaHei"/>
                  <a:cs typeface="Microsoft YaHei"/>
                </a:rPr>
                <a:t>不变：G7 验收签认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09600" y="5143500"/>
            <a:ext cx="10972800" cy="647700"/>
            <a:chOff x="609600" y="5143500"/>
            <a:chExt cx="10972800" cy="647700"/>
          </a:xfrm>
        </p:grpSpPr>
        <p:sp>
          <p:nvSpPr>
            <p:cNvPr id="52" name="Rectangle 52"/>
            <p:cNvSpPr/>
            <p:nvPr/>
          </p:nvSpPr>
          <p:spPr>
            <a:xfrm>
              <a:off x="609600" y="5143500"/>
              <a:ext cx="10972800" cy="647700"/>
            </a:xfrm>
            <a:prstGeom prst="roundRect">
              <a:avLst>
                <a:gd name="adj" fmla="val 14706"/>
              </a:avLst>
            </a:prstGeom>
            <a:solidFill>
              <a:srgbClr val="16283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977527" y="5296852"/>
              <a:ext cx="22369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评审能力成为所有角色的核心技能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956571" y="5541645"/>
              <a:ext cx="42788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7D2E0"/>
                  </a:solidFill>
                  <a:latin typeface="Microsoft YaHei"/>
                  <a:ea typeface="Microsoft YaHei"/>
                  <a:cs typeface="Microsoft YaHei"/>
                </a:rPr>
                <a:t>签字人核对的对象从"人写的"变成"AI 写的"；这也是初级人员培养的主战场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04838" y="6492716"/>
            <a:ext cx="10982324" cy="161925"/>
            <a:chOff x="604838" y="6492716"/>
            <a:chExt cx="10982324" cy="161925"/>
          </a:xfrm>
        </p:grpSpPr>
        <p:sp>
          <p:nvSpPr>
            <p:cNvPr id="56" name="TextBox 56"/>
            <p:cNvSpPr txBox="1"/>
            <p:nvPr/>
          </p:nvSpPr>
          <p:spPr>
            <a:xfrm>
              <a:off x="604838" y="6492716"/>
              <a:ext cx="2377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AI 辅助研发变革方案 · 从三段接力到人机共线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207836" y="6492716"/>
              <a:ext cx="37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18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8551" y="504349"/>
            <a:ext cx="4336131" cy="638746"/>
            <a:chOff x="598551" y="504349"/>
            <a:chExt cx="4336131" cy="638746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504349"/>
              <a:ext cx="10372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150" dirty="0">
                  <a:solidFill>
                    <a:srgbClr val="E8600A"/>
                  </a:solidFill>
                  <a:latin typeface="Microsoft YaHei"/>
                  <a:ea typeface="Microsoft YaHei"/>
                  <a:cs typeface="Microsoft YaHei"/>
                </a:rPr>
                <a:t>18 · 实施路线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8551" y="717709"/>
              <a:ext cx="4336131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条件驱动，不排日历：三个阶段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066800"/>
              <a:ext cx="533400" cy="38100"/>
            </a:xfrm>
            <a:prstGeom prst="rect">
              <a:avLst/>
            </a:prstGeom>
            <a:solidFill>
              <a:srgbClr val="E8600A"/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609600" y="1428750"/>
            <a:ext cx="3505200" cy="3619500"/>
            <a:chOff x="609600" y="1428750"/>
            <a:chExt cx="3505200" cy="3619500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3505200" cy="3619500"/>
            </a:xfrm>
            <a:prstGeom prst="roundRect">
              <a:avLst>
                <a:gd name="adj" fmla="val 2717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428750"/>
              <a:ext cx="3505200" cy="438150"/>
            </a:xfrm>
            <a:prstGeom prst="roundRect">
              <a:avLst>
                <a:gd name="adj" fmla="val 21739"/>
              </a:avLst>
            </a:prstGeom>
            <a:solidFill>
              <a:srgbClr val="E8EEF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4385" y="1583531"/>
              <a:ext cx="1459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4E79"/>
                  </a:solidFill>
                  <a:latin typeface="Microsoft YaHei"/>
                  <a:ea typeface="Microsoft YaHei"/>
                  <a:cs typeface="Microsoft YaHei"/>
                </a:rPr>
                <a:t>阶段一 · 单链路试点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5338" y="2055495"/>
              <a:ext cx="3911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做什么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5338" y="2265045"/>
              <a:ext cx="171328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7155" indent="-97155">
                <a:buClr>
                  <a:srgbClr val="3D4759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选 1 个无安全项的中等 SR，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9638" y="2446020"/>
              <a:ext cx="16481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小分队雏形（SE 1 + 开发 2 +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9638" y="2626995"/>
              <a:ext cx="18268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测试 1 + 知识工程师兼职）跑全程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5338" y="2807970"/>
              <a:ext cx="19240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7155" indent="-97155">
                <a:buClr>
                  <a:srgbClr val="3D4759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同步建最小知识库、门禁轻量版、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9638" y="298894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追溯自动化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800100" y="3143250"/>
              <a:ext cx="3124200" cy="9525"/>
            </a:xfrm>
            <a:custGeom>
              <a:avLst/>
              <a:gdLst/>
              <a:ahLst/>
              <a:cxnLst/>
              <a:rect l="l" t="t" r="r" b="b"/>
              <a:pathLst>
                <a:path w="3124200" h="9525">
                  <a:moveTo>
                    <a:pt x="0" y="0"/>
                  </a:moveTo>
                  <a:lnTo>
                    <a:pt x="3124200" y="0"/>
                  </a:lnTo>
                </a:path>
              </a:pathLst>
            </a:custGeom>
            <a:noFill/>
            <a:ln w="9525">
              <a:solidFill>
                <a:srgbClr val="EDEFF3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95338" y="3312795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准出条件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5338" y="3522345"/>
              <a:ext cx="1935480" cy="719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7155" indent="-97155">
                <a:lnSpc>
                  <a:spcPts val="1425"/>
                </a:lnSpc>
                <a:buClr>
                  <a:srgbClr val="3D4759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AI 参与率 ≥ 70%，追溯零断链</a:t>
              </a:r>
            </a:p>
            <a:p>
              <a:pPr algn="l" marL="97155" indent="-97155">
                <a:lnSpc>
                  <a:spcPts val="1425"/>
                </a:lnSpc>
                <a:buClr>
                  <a:srgbClr val="3D4759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AI 代码占比 ≥ 60% 且 critical 闭环</a:t>
              </a:r>
            </a:p>
            <a:p>
              <a:pPr algn="l" marL="97155" indent="-97155">
                <a:lnSpc>
                  <a:spcPts val="1425"/>
                </a:lnSpc>
                <a:buClr>
                  <a:srgbClr val="3D4759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缺陷密度不劣于历史基线</a:t>
              </a:r>
            </a:p>
            <a:p>
              <a:pPr algn="l" marL="97155" indent="-97155">
                <a:lnSpc>
                  <a:spcPts val="1425"/>
                </a:lnSpc>
                <a:buClr>
                  <a:srgbClr val="3D4759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产出偏差清单（哪些设计落不了地）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343400" y="1428750"/>
            <a:ext cx="3505200" cy="3619500"/>
            <a:chOff x="4343400" y="1428750"/>
            <a:chExt cx="3505200" cy="3619500"/>
          </a:xfrm>
        </p:grpSpPr>
        <p:sp>
          <p:nvSpPr>
            <p:cNvPr id="19" name="Rectangle 19"/>
            <p:cNvSpPr/>
            <p:nvPr/>
          </p:nvSpPr>
          <p:spPr>
            <a:xfrm>
              <a:off x="4343400" y="1428750"/>
              <a:ext cx="3505200" cy="3619500"/>
            </a:xfrm>
            <a:prstGeom prst="roundRect">
              <a:avLst>
                <a:gd name="adj" fmla="val 2717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343400" y="1428750"/>
              <a:ext cx="3505200" cy="438150"/>
            </a:xfrm>
            <a:prstGeom prst="roundRect">
              <a:avLst>
                <a:gd name="adj" fmla="val 21739"/>
              </a:avLst>
            </a:prstGeom>
            <a:solidFill>
              <a:srgbClr val="FDEDE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528185" y="1583531"/>
              <a:ext cx="1459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E8600A"/>
                  </a:solidFill>
                  <a:latin typeface="Microsoft YaHei"/>
                  <a:ea typeface="Microsoft YaHei"/>
                  <a:cs typeface="Microsoft YaHei"/>
                </a:rPr>
                <a:t>阶段二 · 小分队闭环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29138" y="2055495"/>
              <a:ext cx="3911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做什么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29138" y="2265045"/>
              <a:ext cx="19603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7155" indent="-97155">
                <a:buClr>
                  <a:srgbClr val="3D4759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1–2 个 squad 常态化承接连续需求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29138" y="2446020"/>
              <a:ext cx="16817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7155" indent="-97155">
                <a:buClr>
                  <a:srgbClr val="3D4759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门禁全量上线，度量面板运转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29138" y="2626995"/>
              <a:ext cx="13182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7155" indent="-97155">
                <a:buClr>
                  <a:srgbClr val="3D4759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知识飞轮五环跑起来，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43438" y="2807970"/>
              <a:ext cx="1099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产出首批萃取模式卡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533900" y="3143250"/>
              <a:ext cx="3124200" cy="9525"/>
            </a:xfrm>
            <a:custGeom>
              <a:avLst/>
              <a:gdLst/>
              <a:ahLst/>
              <a:cxnLst/>
              <a:rect l="l" t="t" r="r" b="b"/>
              <a:pathLst>
                <a:path w="3124200" h="9525">
                  <a:moveTo>
                    <a:pt x="0" y="0"/>
                  </a:moveTo>
                  <a:lnTo>
                    <a:pt x="3124200" y="0"/>
                  </a:lnTo>
                </a:path>
              </a:pathLst>
            </a:custGeom>
            <a:noFill/>
            <a:ln w="9525">
              <a:solidFill>
                <a:srgbClr val="EDEFF3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529138" y="3312795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准出条件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29138" y="3522345"/>
              <a:ext cx="1855470" cy="719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7155" indent="-97155">
                <a:lnSpc>
                  <a:spcPts val="1425"/>
                </a:lnSpc>
                <a:buClr>
                  <a:srgbClr val="3D4759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交付周期降 ≥ 30% 或吞吐升 ≥ 50%</a:t>
              </a:r>
            </a:p>
            <a:p>
              <a:pPr algn="l" marL="97155" indent="-97155">
                <a:lnSpc>
                  <a:spcPts val="1425"/>
                </a:lnSpc>
                <a:buClr>
                  <a:srgbClr val="3D4759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逃逸缺陷率不升</a:t>
              </a:r>
            </a:p>
            <a:p>
              <a:pPr algn="l" marL="97155" indent="-97155">
                <a:lnSpc>
                  <a:spcPts val="1425"/>
                </a:lnSpc>
                <a:buClr>
                  <a:srgbClr val="3D4759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知识月增 ≥ 10 条且命中率 ≥ 40%</a:t>
              </a:r>
            </a:p>
            <a:p>
              <a:pPr algn="l" marL="97155" indent="-97155">
                <a:lnSpc>
                  <a:spcPts val="1425"/>
                </a:lnSpc>
                <a:buClr>
                  <a:srgbClr val="3D4759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角色转型评估达标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077200" y="1428750"/>
            <a:ext cx="3505200" cy="3619500"/>
            <a:chOff x="8077200" y="1428750"/>
            <a:chExt cx="3505200" cy="3619500"/>
          </a:xfrm>
        </p:grpSpPr>
        <p:sp>
          <p:nvSpPr>
            <p:cNvPr id="31" name="Rectangle 31"/>
            <p:cNvSpPr/>
            <p:nvPr/>
          </p:nvSpPr>
          <p:spPr>
            <a:xfrm>
              <a:off x="8077200" y="1428750"/>
              <a:ext cx="3505200" cy="3619500"/>
            </a:xfrm>
            <a:prstGeom prst="roundRect">
              <a:avLst>
                <a:gd name="adj" fmla="val 2717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8077200" y="1428750"/>
              <a:ext cx="3505200" cy="438150"/>
            </a:xfrm>
            <a:prstGeom prst="roundRect">
              <a:avLst>
                <a:gd name="adj" fmla="val 21739"/>
              </a:avLst>
            </a:prstGeom>
            <a:solidFill>
              <a:srgbClr val="E4F0E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261985" y="1583531"/>
              <a:ext cx="16183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E7D6B"/>
                  </a:solidFill>
                  <a:latin typeface="Microsoft YaHei"/>
                  <a:ea typeface="Microsoft YaHei"/>
                  <a:cs typeface="Microsoft YaHei"/>
                </a:rPr>
                <a:t>阶段三 · 规模化平台化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62938" y="2055495"/>
              <a:ext cx="3911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做什么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62938" y="2265045"/>
              <a:ext cx="9608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7155" indent="-97155">
                <a:buClr>
                  <a:srgbClr val="3D4759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squad 数量扩展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62938" y="2446020"/>
              <a:ext cx="17900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7155" indent="-97155">
                <a:buClr>
                  <a:srgbClr val="3D4759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AI 平台组成立，网关 / 编排 /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77238" y="2626995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评估收归平台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62938" y="2807970"/>
              <a:ext cx="176448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7155" indent="-97155">
                <a:buClr>
                  <a:srgbClr val="3D4759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职能线转能力线，与 IPD / TR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77238" y="2988945"/>
              <a:ext cx="17057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正式并轨（流程文件修订发布）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8267700" y="3143250"/>
              <a:ext cx="3124200" cy="9525"/>
            </a:xfrm>
            <a:custGeom>
              <a:avLst/>
              <a:gdLst/>
              <a:ahLst/>
              <a:cxnLst/>
              <a:rect l="l" t="t" r="r" b="b"/>
              <a:pathLst>
                <a:path w="3124200" h="9525">
                  <a:moveTo>
                    <a:pt x="0" y="0"/>
                  </a:moveTo>
                  <a:lnTo>
                    <a:pt x="3124200" y="0"/>
                  </a:lnTo>
                </a:path>
              </a:pathLst>
            </a:custGeom>
            <a:noFill/>
            <a:ln w="9525">
              <a:solidFill>
                <a:srgbClr val="EDEFF3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262938" y="3312795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准出条件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62938" y="3522345"/>
              <a:ext cx="143941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7155" indent="-97155">
                <a:buClr>
                  <a:srgbClr val="3D4759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新项目默认按新流程立项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62938" y="3703320"/>
              <a:ext cx="168767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7155" indent="-97155">
                <a:buClr>
                  <a:srgbClr val="3D4759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ASPICE 审核以新证据链通过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62938" y="3884295"/>
              <a:ext cx="160298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7155" indent="-97155">
                <a:buClr>
                  <a:srgbClr val="3D4759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知识库成为新人与 agent 的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77238" y="4065270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默认上手路径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09600" y="5334000"/>
            <a:ext cx="10972800" cy="533400"/>
            <a:chOff x="609600" y="5334000"/>
            <a:chExt cx="10972800" cy="533400"/>
          </a:xfrm>
        </p:grpSpPr>
        <p:sp>
          <p:nvSpPr>
            <p:cNvPr id="47" name="Rectangle 47"/>
            <p:cNvSpPr/>
            <p:nvPr/>
          </p:nvSpPr>
          <p:spPr>
            <a:xfrm>
              <a:off x="609600" y="5334000"/>
              <a:ext cx="10972800" cy="533400"/>
            </a:xfrm>
            <a:prstGeom prst="roundRect">
              <a:avLst>
                <a:gd name="adj" fmla="val 17857"/>
              </a:avLst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284849" y="5544502"/>
              <a:ext cx="56223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每个阶段结束做正式复盘，偏差清单回流修订本方案 —— 方案本身也是知识资产，要版本化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04838" y="6492716"/>
            <a:ext cx="10982324" cy="161925"/>
            <a:chOff x="604838" y="6492716"/>
            <a:chExt cx="10982324" cy="161925"/>
          </a:xfrm>
        </p:grpSpPr>
        <p:sp>
          <p:nvSpPr>
            <p:cNvPr id="50" name="TextBox 50"/>
            <p:cNvSpPr txBox="1"/>
            <p:nvPr/>
          </p:nvSpPr>
          <p:spPr>
            <a:xfrm>
              <a:off x="604838" y="6492716"/>
              <a:ext cx="2377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AI 辅助研发变革方案 · 从三段接力到人机共线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207836" y="6492716"/>
              <a:ext cx="37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19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8551" y="504349"/>
            <a:ext cx="4027985" cy="638746"/>
            <a:chOff x="598551" y="504349"/>
            <a:chExt cx="4027985" cy="638746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504349"/>
              <a:ext cx="11959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150" dirty="0">
                  <a:solidFill>
                    <a:srgbClr val="E8600A"/>
                  </a:solidFill>
                  <a:latin typeface="Microsoft YaHei"/>
                  <a:ea typeface="Microsoft YaHei"/>
                  <a:cs typeface="Microsoft YaHei"/>
                </a:rPr>
                <a:t>19 · 度量与风险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8551" y="717709"/>
              <a:ext cx="4027985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度量自动采集，风险前置管理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066800"/>
              <a:ext cx="533400" cy="38100"/>
            </a:xfrm>
            <a:prstGeom prst="rect">
              <a:avLst/>
            </a:prstGeom>
            <a:solidFill>
              <a:srgbClr val="E8600A"/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609600" y="1428750"/>
            <a:ext cx="5410200" cy="3333750"/>
            <a:chOff x="609600" y="1428750"/>
            <a:chExt cx="5410200" cy="3333750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5410200" cy="3333750"/>
            </a:xfrm>
            <a:prstGeom prst="roundRect">
              <a:avLst>
                <a:gd name="adj" fmla="val 2857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2485" y="163115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五维度量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33438" y="1873091"/>
              <a:ext cx="15549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产线留痕自动采集，不让人填报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3247" y="2237899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4E79"/>
                  </a:solidFill>
                  <a:latin typeface="Microsoft YaHei"/>
                  <a:ea typeface="Microsoft YaHei"/>
                  <a:cs typeface="Microsoft YaHei"/>
                </a:rPr>
                <a:t>效率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9738" y="2245995"/>
              <a:ext cx="22882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SR / AR 交付周期 · 回归测试周期（降）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3247" y="2714149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4E79"/>
                  </a:solidFill>
                  <a:latin typeface="Microsoft YaHei"/>
                  <a:ea typeface="Microsoft YaHei"/>
                  <a:cs typeface="Microsoft YaHei"/>
                </a:rPr>
                <a:t>质量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9738" y="2722245"/>
              <a:ext cx="22933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逃逸缺陷率（降）· 验收一次通过率（升）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3247" y="3190399"/>
              <a:ext cx="4709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4E79"/>
                  </a:solidFill>
                  <a:latin typeface="Microsoft YaHei"/>
                  <a:ea typeface="Microsoft YaHei"/>
                  <a:cs typeface="Microsoft YaHei"/>
                </a:rPr>
                <a:t>AI 效能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09738" y="3198495"/>
              <a:ext cx="210555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产出一次通过率 · 生成占比 · 人修订率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3247" y="3666649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4E79"/>
                  </a:solidFill>
                  <a:latin typeface="Microsoft YaHei"/>
                  <a:ea typeface="Microsoft YaHei"/>
                  <a:cs typeface="Microsoft YaHei"/>
                </a:rPr>
                <a:t>知识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09738" y="3674745"/>
              <a:ext cx="210555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模式卡新增 · 检索命中率 · 缺陷预防数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3247" y="4142899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4E79"/>
                  </a:solidFill>
                  <a:latin typeface="Microsoft YaHei"/>
                  <a:ea typeface="Microsoft YaHei"/>
                  <a:cs typeface="Microsoft YaHei"/>
                </a:rPr>
                <a:t>组织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09738" y="4150995"/>
              <a:ext cx="23138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转型达标率 · 人均管理 SR 数 · 串讲时长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38200" y="44196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rgbClr val="EDEFF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3438" y="4531995"/>
              <a:ext cx="24266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8600A"/>
                  </a:solidFill>
                  <a:latin typeface="Microsoft YaHei"/>
                  <a:ea typeface="Microsoft YaHei"/>
                  <a:cs typeface="Microsoft YaHei"/>
                </a:rPr>
                <a:t>质量与效率成对看，单指标突升触发审查。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324600" y="1428750"/>
            <a:ext cx="5257800" cy="3333750"/>
            <a:chOff x="6324600" y="1428750"/>
            <a:chExt cx="5257800" cy="3333750"/>
          </a:xfrm>
        </p:grpSpPr>
        <p:sp>
          <p:nvSpPr>
            <p:cNvPr id="22" name="Rectangle 22"/>
            <p:cNvSpPr/>
            <p:nvPr/>
          </p:nvSpPr>
          <p:spPr>
            <a:xfrm>
              <a:off x="6324600" y="1428750"/>
              <a:ext cx="5257800" cy="3333750"/>
            </a:xfrm>
            <a:prstGeom prst="roundRect">
              <a:avLst>
                <a:gd name="adj" fmla="val 2857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47485" y="1631156"/>
              <a:ext cx="961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2233"/>
                  </a:solidFill>
                  <a:latin typeface="Microsoft YaHei"/>
                  <a:ea typeface="Microsoft YaHei"/>
                  <a:cs typeface="Microsoft YaHei"/>
                </a:rPr>
                <a:t>四个主要风险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48247" y="2009299"/>
              <a:ext cx="12566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B3392E"/>
                  </a:solidFill>
                  <a:latin typeface="Microsoft YaHei"/>
                  <a:ea typeface="Microsoft YaHei"/>
                  <a:cs typeface="Microsoft YaHei"/>
                </a:rPr>
                <a:t>批量正确、个别离谱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48438" y="2226945"/>
              <a:ext cx="295366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逐件签字 + 评估基线阻断 + 抽审已放行件并回溯签字人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48247" y="2714149"/>
              <a:ext cx="7025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B3392E"/>
                  </a:solidFill>
                  <a:latin typeface="Microsoft YaHei"/>
                  <a:ea typeface="Microsoft YaHei"/>
                  <a:cs typeface="Microsoft YaHei"/>
                </a:rPr>
                <a:t>能力空心化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48438" y="2931795"/>
              <a:ext cx="328079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评审强制写修订意见；保留人专属的探索性测试与安全决策区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48247" y="3418999"/>
              <a:ext cx="8410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B3392E"/>
                  </a:solidFill>
                  <a:latin typeface="Microsoft YaHei"/>
                  <a:ea typeface="Microsoft YaHei"/>
                  <a:cs typeface="Microsoft YaHei"/>
                </a:rPr>
                <a:t>安全合规事件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48438" y="3636645"/>
              <a:ext cx="31331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领域红线机器强制执行；L3 上抛不可降级；证据链迎审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48247" y="4123849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B3392E"/>
                  </a:solidFill>
                  <a:latin typeface="Microsoft YaHei"/>
                  <a:ea typeface="Microsoft YaHei"/>
                  <a:cs typeface="Microsoft YaHei"/>
                </a:rPr>
                <a:t>组织反弹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48438" y="4341495"/>
              <a:ext cx="340194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职能线先转能力线不撤销；考核与激励同步切换，先转者不吃亏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9600" y="5048250"/>
            <a:ext cx="10972800" cy="666750"/>
            <a:chOff x="609600" y="5048250"/>
            <a:chExt cx="10972800" cy="666750"/>
          </a:xfrm>
        </p:grpSpPr>
        <p:sp>
          <p:nvSpPr>
            <p:cNvPr id="33" name="Rectangle 33"/>
            <p:cNvSpPr/>
            <p:nvPr/>
          </p:nvSpPr>
          <p:spPr>
            <a:xfrm>
              <a:off x="609600" y="5048250"/>
              <a:ext cx="10972800" cy="666750"/>
            </a:xfrm>
            <a:prstGeom prst="roundRect">
              <a:avLst>
                <a:gd name="adj" fmla="val 14286"/>
              </a:avLst>
            </a:prstGeom>
            <a:solidFill>
              <a:srgbClr val="FDEDE1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09600" y="5048250"/>
              <a:ext cx="47625" cy="666750"/>
            </a:xfrm>
            <a:prstGeom prst="rect">
              <a:avLst/>
            </a:prstGeom>
            <a:solidFill>
              <a:srgbClr val="E8600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70966" y="5220652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8600A"/>
                  </a:solidFill>
                  <a:latin typeface="Microsoft YaHei"/>
                  <a:ea typeface="Microsoft YaHei"/>
                  <a:cs typeface="Microsoft YaHei"/>
                </a:rPr>
                <a:t>明确不考核：代码行数、文档页数、用例条数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71347" y="5457349"/>
              <a:ext cx="38084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D4759"/>
                  </a:solidFill>
                  <a:latin typeface="Microsoft YaHei"/>
                  <a:ea typeface="Microsoft YaHei"/>
                  <a:cs typeface="Microsoft YaHei"/>
                </a:rPr>
                <a:t>AI 最擅长制造这些"量"；旧指标不改，新流程会被拉回老路。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4838" y="6492716"/>
            <a:ext cx="10982324" cy="161925"/>
            <a:chOff x="604838" y="6492716"/>
            <a:chExt cx="10982324" cy="161925"/>
          </a:xfrm>
        </p:grpSpPr>
        <p:sp>
          <p:nvSpPr>
            <p:cNvPr id="38" name="TextBox 38"/>
            <p:cNvSpPr txBox="1"/>
            <p:nvPr/>
          </p:nvSpPr>
          <p:spPr>
            <a:xfrm>
              <a:off x="604838" y="6492716"/>
              <a:ext cx="2377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AI 辅助研发变革方案 · 从三段接力到人机共线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207836" y="6492716"/>
              <a:ext cx="37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8A93A3"/>
                  </a:solidFill>
                  <a:latin typeface="Microsoft YaHei"/>
                  <a:ea typeface="Microsoft YaHei"/>
                  <a:cs typeface="Microsoft YaHei"/>
                </a:rPr>
                <a:t>20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8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382000" y="0"/>
            <a:ext cx="3810000" cy="6858000"/>
          </a:xfrm>
          <a:custGeom>
            <a:avLst/>
            <a:gdLst/>
            <a:ahLst/>
            <a:cxnLst/>
            <a:rect l="l" t="t" r="r" b="b"/>
            <a:pathLst>
              <a:path w="3810000" h="6858000">
                <a:moveTo>
                  <a:pt x="0" y="0"/>
                </a:moveTo>
                <a:lnTo>
                  <a:pt x="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0" y="1143000"/>
                </a:moveTo>
                <a:lnTo>
                  <a:pt x="3810000" y="1143000"/>
                </a:lnTo>
                <a:moveTo>
                  <a:pt x="0" y="2286000"/>
                </a:moveTo>
                <a:lnTo>
                  <a:pt x="3810000" y="2286000"/>
                </a:lnTo>
                <a:moveTo>
                  <a:pt x="0" y="3429000"/>
                </a:moveTo>
                <a:lnTo>
                  <a:pt x="3810000" y="3429000"/>
                </a:lnTo>
                <a:moveTo>
                  <a:pt x="0" y="4572000"/>
                </a:moveTo>
                <a:lnTo>
                  <a:pt x="3810000" y="4572000"/>
                </a:lnTo>
                <a:moveTo>
                  <a:pt x="0" y="5715000"/>
                </a:moveTo>
                <a:lnTo>
                  <a:pt x="3810000" y="5715000"/>
                </a:lnTo>
              </a:path>
            </a:pathLst>
          </a:custGeom>
          <a:noFill/>
          <a:ln w="9525">
            <a:solidFill>
              <a:srgbClr val="FFFFFF">
                <a:alpha val="5000"/>
              </a:srgbClr>
            </a:solidFill>
          </a:ln>
        </p:spPr>
      </p:sp>
      <p:sp>
        <p:nvSpPr>
          <p:cNvPr id="3" name="Ellipse 3"/>
          <p:cNvSpPr/>
          <p:nvPr/>
        </p:nvSpPr>
        <p:spPr>
          <a:xfrm>
            <a:off x="9429750" y="381000"/>
            <a:ext cx="2095500" cy="2095500"/>
          </a:xfrm>
          <a:prstGeom prst="ellipse">
            <a:avLst/>
          </a:prstGeom>
          <a:noFill/>
          <a:ln w="14288">
            <a:solidFill>
              <a:srgbClr val="E8600A">
                <a:alpha val="35000"/>
              </a:srgbClr>
            </a:solidFill>
            <a:custDash>
              <a:ds d="400000" sp="400000"/>
            </a:custDash>
          </a:ln>
        </p:spPr>
      </p:sp>
      <p:grpSp>
        <p:nvGrpSpPr>
          <p:cNvPr id="6" name="Group 6"/>
          <p:cNvGrpSpPr/>
          <p:nvPr/>
        </p:nvGrpSpPr>
        <p:grpSpPr>
          <a:xfrm>
            <a:off x="1126236" y="1848802"/>
            <a:ext cx="4321424" cy="954977"/>
            <a:chOff x="1126236" y="1848802"/>
            <a:chExt cx="4321424" cy="954977"/>
          </a:xfrm>
        </p:grpSpPr>
        <p:sp>
          <p:nvSpPr>
            <p:cNvPr id="4" name="TextBox 4"/>
            <p:cNvSpPr txBox="1"/>
            <p:nvPr/>
          </p:nvSpPr>
          <p:spPr>
            <a:xfrm>
              <a:off x="1137666" y="1848802"/>
              <a:ext cx="5165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225" dirty="0">
                  <a:solidFill>
                    <a:srgbClr val="F08A3C"/>
                  </a:solidFill>
                  <a:latin typeface="Microsoft YaHei"/>
                  <a:ea typeface="Microsoft YaHei"/>
                  <a:cs typeface="Microsoft YaHei"/>
                </a:rPr>
                <a:t>下一步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26236" y="2158365"/>
              <a:ext cx="432142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从一条 SR 链路开始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43000" y="3143250"/>
            <a:ext cx="3352800" cy="1238250"/>
            <a:chOff x="1143000" y="3143250"/>
            <a:chExt cx="3352800" cy="1238250"/>
          </a:xfrm>
        </p:grpSpPr>
        <p:sp>
          <p:nvSpPr>
            <p:cNvPr id="7" name="Rectangle 7"/>
            <p:cNvSpPr/>
            <p:nvPr/>
          </p:nvSpPr>
          <p:spPr>
            <a:xfrm>
              <a:off x="1143000" y="3143250"/>
              <a:ext cx="3352800" cy="1238250"/>
            </a:xfrm>
            <a:prstGeom prst="roundRect">
              <a:avLst>
                <a:gd name="adj" fmla="val 7692"/>
              </a:avLst>
            </a:prstGeom>
            <a:solidFill>
              <a:srgbClr val="FFFFFF">
                <a:alpha val="8000"/>
              </a:srgbClr>
            </a:solidFill>
            <a:ln w="9525">
              <a:solidFill>
                <a:srgbClr val="FFFFFF">
                  <a:alpha val="25000"/>
                </a:srgbClr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63980" y="33242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08A3C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65504" y="36423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选定试点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66838" y="3941445"/>
              <a:ext cx="1038225" cy="3476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00" dirty="0">
                  <a:solidFill>
                    <a:srgbClr val="C7D2E0"/>
                  </a:solidFill>
                  <a:latin typeface="Microsoft YaHei"/>
                  <a:ea typeface="Microsoft YaHei"/>
                  <a:cs typeface="Microsoft YaHei"/>
                </a:rPr>
                <a:t>挑一个中等复杂度、</a:t>
              </a:r>
              <a:br/>
              <a:r>
                <a:rPr lang="zh-CN" sz="900" dirty="0">
                  <a:solidFill>
                    <a:srgbClr val="C7D2E0"/>
                  </a:solidFill>
                  <a:latin typeface="Microsoft YaHei"/>
                  <a:ea typeface="Microsoft YaHei"/>
                  <a:cs typeface="Microsoft YaHei"/>
                </a:rPr>
                <a:t>无安全相关项的 SR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724400" y="3143250"/>
            <a:ext cx="3352800" cy="1238250"/>
            <a:chOff x="4724400" y="3143250"/>
            <a:chExt cx="3352800" cy="1238250"/>
          </a:xfrm>
        </p:grpSpPr>
        <p:sp>
          <p:nvSpPr>
            <p:cNvPr id="12" name="Rectangle 12"/>
            <p:cNvSpPr/>
            <p:nvPr/>
          </p:nvSpPr>
          <p:spPr>
            <a:xfrm>
              <a:off x="4724400" y="3143250"/>
              <a:ext cx="3352800" cy="1238250"/>
            </a:xfrm>
            <a:prstGeom prst="roundRect">
              <a:avLst>
                <a:gd name="adj" fmla="val 7692"/>
              </a:avLst>
            </a:prstGeom>
            <a:solidFill>
              <a:srgbClr val="FFFFFF">
                <a:alpha val="8000"/>
              </a:srgbClr>
            </a:solidFill>
            <a:ln w="9525">
              <a:solidFill>
                <a:srgbClr val="FFFFFF">
                  <a:alpha val="25000"/>
                </a:srgbClr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945380" y="33242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08A3C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946904" y="364236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组建小分队雏形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948238" y="3941445"/>
              <a:ext cx="1146810" cy="3476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00" dirty="0">
                  <a:solidFill>
                    <a:srgbClr val="C7D2E0"/>
                  </a:solidFill>
                  <a:latin typeface="Microsoft YaHei"/>
                  <a:ea typeface="Microsoft YaHei"/>
                  <a:cs typeface="Microsoft YaHei"/>
                </a:rPr>
                <a:t>SE 1 + 开发 2 + 测试 1</a:t>
              </a:r>
              <a:br/>
              <a:r>
                <a:rPr lang="zh-CN" sz="900" dirty="0">
                  <a:solidFill>
                    <a:srgbClr val="C7D2E0"/>
                  </a:solidFill>
                  <a:latin typeface="Microsoft YaHei"/>
                  <a:ea typeface="Microsoft YaHei"/>
                  <a:cs typeface="Microsoft YaHei"/>
                </a:rPr>
                <a:t>+ 知识工程师兼职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305800" y="3143250"/>
            <a:ext cx="3352800" cy="1238250"/>
            <a:chOff x="8305800" y="3143250"/>
            <a:chExt cx="3352800" cy="1238250"/>
          </a:xfrm>
        </p:grpSpPr>
        <p:sp>
          <p:nvSpPr>
            <p:cNvPr id="17" name="Rectangle 17"/>
            <p:cNvSpPr/>
            <p:nvPr/>
          </p:nvSpPr>
          <p:spPr>
            <a:xfrm>
              <a:off x="8305800" y="3143250"/>
              <a:ext cx="3352800" cy="1238250"/>
            </a:xfrm>
            <a:prstGeom prst="roundRect">
              <a:avLst>
                <a:gd name="adj" fmla="val 7692"/>
              </a:avLst>
            </a:prstGeom>
            <a:solidFill>
              <a:srgbClr val="FFFFFF">
                <a:alpha val="8000"/>
              </a:srgbClr>
            </a:solidFill>
            <a:ln w="9525">
              <a:solidFill>
                <a:srgbClr val="FFFFFF">
                  <a:alpha val="25000"/>
                </a:srgbClr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26780" y="33242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08A3C"/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528304" y="364236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建设最小底座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529638" y="3941445"/>
              <a:ext cx="1152525" cy="3476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00" dirty="0">
                  <a:solidFill>
                    <a:srgbClr val="C7D2E0"/>
                  </a:solidFill>
                  <a:latin typeface="Microsoft YaHei"/>
                  <a:ea typeface="Microsoft YaHei"/>
                  <a:cs typeface="Microsoft YaHei"/>
                </a:rPr>
                <a:t>知识库、门禁轻量版、</a:t>
              </a:r>
              <a:br/>
              <a:r>
                <a:rPr lang="zh-CN" sz="900" dirty="0">
                  <a:solidFill>
                    <a:srgbClr val="C7D2E0"/>
                  </a:solidFill>
                  <a:latin typeface="Microsoft YaHei"/>
                  <a:ea typeface="Microsoft YaHei"/>
                  <a:cs typeface="Microsoft YaHei"/>
                </a:rPr>
                <a:t>追溯自动化（速赢点）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38047" y="5114449"/>
            <a:ext cx="2847594" cy="419291"/>
            <a:chOff x="1138047" y="5114449"/>
            <a:chExt cx="2847594" cy="419291"/>
          </a:xfrm>
        </p:grpSpPr>
        <p:sp>
          <p:nvSpPr>
            <p:cNvPr id="22" name="TextBox 22"/>
            <p:cNvSpPr txBox="1"/>
            <p:nvPr/>
          </p:nvSpPr>
          <p:spPr>
            <a:xfrm>
              <a:off x="1138047" y="5114449"/>
              <a:ext cx="2847594" cy="4192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980" dirty="0">
                  <a:solidFill>
                    <a:srgbClr val="8FA1B8"/>
                  </a:solidFill>
                  <a:latin typeface="Microsoft YaHei"/>
                  <a:ea typeface="Microsoft YaHei"/>
                  <a:cs typeface="Microsoft YaHei"/>
                </a:rPr>
                <a:t>方案全文：docs/ai-rd-transformation-plan.md</a:t>
              </a:r>
              <a:br/>
              <a:r>
                <a:rPr lang="zh-CN" sz="980" dirty="0">
                  <a:solidFill>
                    <a:srgbClr val="8FA1B8"/>
                  </a:solidFill>
                  <a:latin typeface="Microsoft YaHei"/>
                  <a:ea typeface="Microsoft YaHei"/>
                  <a:cs typeface="Microsoft YaHei"/>
                </a:rPr>
                <a:t>DevFlow 技能包是现成载体，欢迎评审与共创。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89026" y="523399"/>
            <a:ext cx="5969300" cy="619696"/>
            <a:chOff x="589026" y="523399"/>
            <a:chExt cx="5969300" cy="619696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23399"/>
              <a:ext cx="10372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12 · 三位一体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89026" y="717709"/>
              <a:ext cx="5969300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产线 × 知识 × 技能：消费与回流的一体闭环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066800"/>
              <a:ext cx="5334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609600" y="1257300"/>
            <a:ext cx="8724900" cy="1028700"/>
            <a:chOff x="609600" y="1257300"/>
            <a:chExt cx="8724900" cy="1028700"/>
          </a:xfrm>
        </p:grpSpPr>
        <p:sp>
          <p:nvSpPr>
            <p:cNvPr id="6" name="Rectangle 6"/>
            <p:cNvSpPr/>
            <p:nvPr/>
          </p:nvSpPr>
          <p:spPr>
            <a:xfrm>
              <a:off x="609600" y="1257300"/>
              <a:ext cx="8724900" cy="1028700"/>
            </a:xfrm>
            <a:prstGeom prst="roundRect">
              <a:avLst>
                <a:gd name="adj" fmla="val 9259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2485" y="1383506"/>
              <a:ext cx="14496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Skills 工程 · 技能包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20870" y="1415891"/>
              <a:ext cx="108029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8A93A3"/>
                  </a:solidFill>
                  <a:latin typeface="+mn-lt"/>
                  <a:ea typeface="+mn-ea"/>
                  <a:cs typeface="+mn-cs"/>
                </a:rPr>
                <a:t>本仓库 skills/ 即载体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00100" y="1619250"/>
              <a:ext cx="2647950" cy="533400"/>
            </a:xfrm>
            <a:prstGeom prst="roundRect">
              <a:avLst>
                <a:gd name="adj" fmla="val 14286"/>
              </a:avLst>
            </a:prstGeom>
            <a:solidFill>
              <a:schemeClr val="lt1"/>
            </a:solidFill>
            <a:ln w="9525">
              <a:solidFill>
                <a:srgbClr val="D9DEE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28688" y="1731645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流程技能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28688" y="1909762"/>
              <a:ext cx="1100138" cy="2714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975"/>
                </a:lnSpc>
              </a:pPr>
              <a:r>
                <a:rPr lang="zh-CN" sz="750" dirty="0">
                  <a:solidFill>
                    <a:srgbClr val="6B7484"/>
                  </a:solidFill>
                  <a:latin typeface="+mn-lt"/>
                  <a:ea typeface="+mn-ea"/>
                  <a:cs typeface="+mn-cs"/>
                </a:rPr>
                <a:t>specify · design · tdd ·</a:t>
              </a:r>
              <a:br/>
              <a:r>
                <a:rPr lang="zh-CN" sz="750" dirty="0">
                  <a:solidFill>
                    <a:srgbClr val="6B7484"/>
                  </a:solidFill>
                  <a:latin typeface="+mn-lt"/>
                  <a:ea typeface="+mn-ea"/>
                  <a:cs typeface="+mn-cs"/>
                </a:rPr>
                <a:t>review · ship · fix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600450" y="1619250"/>
              <a:ext cx="2647950" cy="533400"/>
            </a:xfrm>
            <a:prstGeom prst="roundRect">
              <a:avLst>
                <a:gd name="adj" fmla="val 14286"/>
              </a:avLst>
            </a:prstGeom>
            <a:solidFill>
              <a:schemeClr val="lt1"/>
            </a:solidFill>
            <a:ln w="9525">
              <a:solidFill>
                <a:srgbClr val="D9DEE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729038" y="1731645"/>
              <a:ext cx="7728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质量叠加技能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29038" y="1909762"/>
              <a:ext cx="1300162" cy="2714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975"/>
                </a:lnSpc>
              </a:pPr>
              <a:r>
                <a:rPr lang="zh-CN" sz="750" dirty="0">
                  <a:solidFill>
                    <a:srgbClr val="6B7484"/>
                  </a:solidFill>
                  <a:latin typeface="+mn-lt"/>
                  <a:ea typeface="+mn-ea"/>
                  <a:cs typeface="+mn-cs"/>
                </a:rPr>
                <a:t>clean-code 语言无关整洁标准</a:t>
              </a:r>
              <a:br/>
              <a:r>
                <a:rPr lang="zh-CN" sz="750" dirty="0">
                  <a:solidFill>
                    <a:srgbClr val="6B7484"/>
                  </a:solidFill>
                  <a:latin typeface="+mn-lt"/>
                  <a:ea typeface="+mn-ea"/>
                  <a:cs typeface="+mn-cs"/>
                </a:rPr>
                <a:t>+ 各语言编码规范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400800" y="1619250"/>
              <a:ext cx="2647950" cy="533400"/>
            </a:xfrm>
            <a:prstGeom prst="roundRect">
              <a:avLst>
                <a:gd name="adj" fmla="val 14286"/>
              </a:avLst>
            </a:prstGeom>
            <a:solidFill>
              <a:schemeClr val="lt1"/>
            </a:solidFill>
            <a:ln w="9525">
              <a:solidFill>
                <a:srgbClr val="D9DEE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29388" y="1731645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领域技能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29388" y="1909762"/>
              <a:ext cx="1276350" cy="2714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975"/>
                </a:lnSpc>
              </a:pPr>
              <a:r>
                <a:rPr lang="zh-CN" sz="750" dirty="0">
                  <a:solidFill>
                    <a:srgbClr val="6B7484"/>
                  </a:solidFill>
                  <a:latin typeface="+mn-lt"/>
                  <a:ea typeface="+mn-ea"/>
                  <a:cs typeface="+mn-cs"/>
                </a:rPr>
                <a:t>automotive-development 等</a:t>
              </a:r>
              <a:br/>
              <a:r>
                <a:rPr lang="zh-CN" sz="750" dirty="0">
                  <a:solidFill>
                    <a:srgbClr val="6B7484"/>
                  </a:solidFill>
                  <a:latin typeface="+mn-lt"/>
                  <a:ea typeface="+mn-ea"/>
                  <a:cs typeface="+mn-cs"/>
                </a:rPr>
                <a:t>安全红线机器强制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076450" y="2343150"/>
            <a:ext cx="5695950" cy="285750"/>
            <a:chOff x="2076450" y="2343150"/>
            <a:chExt cx="5695950" cy="285750"/>
          </a:xfrm>
        </p:grpSpPr>
        <p:sp>
          <p:nvSpPr>
            <p:cNvPr id="19" name="Line 19"/>
            <p:cNvSpPr/>
            <p:nvPr/>
          </p:nvSpPr>
          <p:spPr>
            <a:xfrm>
              <a:off x="2124075" y="234315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076450" y="2552700"/>
              <a:ext cx="95250" cy="76200"/>
            </a:xfrm>
            <a:custGeom>
              <a:avLst/>
              <a:gdLst/>
              <a:ahLst/>
              <a:cxnLst/>
              <a:rect l="l" t="t" r="r" b="b"/>
              <a:pathLst>
                <a:path w="95250" h="76200">
                  <a:moveTo>
                    <a:pt x="0" y="0"/>
                  </a:moveTo>
                  <a:lnTo>
                    <a:pt x="95250" y="0"/>
                  </a:lnTo>
                  <a:lnTo>
                    <a:pt x="47625" y="762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1" name="Line 21"/>
            <p:cNvSpPr/>
            <p:nvPr/>
          </p:nvSpPr>
          <p:spPr>
            <a:xfrm>
              <a:off x="7724775" y="234315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7677150" y="2552700"/>
              <a:ext cx="95250" cy="76200"/>
            </a:xfrm>
            <a:custGeom>
              <a:avLst/>
              <a:gdLst/>
              <a:ahLst/>
              <a:cxnLst/>
              <a:rect l="l" t="t" r="r" b="b"/>
              <a:pathLst>
                <a:path w="95250" h="76200">
                  <a:moveTo>
                    <a:pt x="0" y="0"/>
                  </a:moveTo>
                  <a:lnTo>
                    <a:pt x="95250" y="0"/>
                  </a:lnTo>
                  <a:lnTo>
                    <a:pt x="47625" y="762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025641" y="2444591"/>
              <a:ext cx="17975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操作规程注入 · 告诉 AI 怎么干活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04838" y="2692241"/>
            <a:ext cx="8734425" cy="806768"/>
            <a:chOff x="604838" y="2692241"/>
            <a:chExt cx="8734425" cy="806768"/>
          </a:xfrm>
        </p:grpSpPr>
        <p:sp>
          <p:nvSpPr>
            <p:cNvPr id="25" name="TextBox 25"/>
            <p:cNvSpPr txBox="1"/>
            <p:nvPr/>
          </p:nvSpPr>
          <p:spPr>
            <a:xfrm>
              <a:off x="604838" y="2692241"/>
              <a:ext cx="127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产线 · 全流程工作流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14298" y="2700338"/>
              <a:ext cx="162496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rgbClr val="8A93A3"/>
                  </a:solidFill>
                  <a:latin typeface="+mn-lt"/>
                  <a:ea typeface="+mn-ea"/>
                  <a:cs typeface="+mn-cs"/>
                </a:rPr>
                <a:t>九道门禁：前序不收敛，后续不启动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09600" y="2876550"/>
              <a:ext cx="93345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17440" y="3016091"/>
              <a:ext cx="51777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IR 结构化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1600200" y="30289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76200" y="381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8A93A3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1724025" y="2876550"/>
              <a:ext cx="93345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892063" y="3016091"/>
              <a:ext cx="5973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IR→SR 分析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2714625" y="30289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76200" y="381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8A93A3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2838450" y="2876550"/>
              <a:ext cx="93345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991179" y="3016091"/>
              <a:ext cx="62799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SR→AR 设计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3829050" y="30289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76200" y="381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8A93A3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952875" y="2876550"/>
              <a:ext cx="93345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145406" y="3016091"/>
              <a:ext cx="54838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AR 规格化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4943475" y="30289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76200" y="381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8A93A3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057775" y="2876550"/>
              <a:ext cx="93345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287922" y="3016091"/>
              <a:ext cx="4731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实现设计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6048375" y="30289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76200" y="381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8A93A3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172200" y="2876550"/>
              <a:ext cx="93345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410657" y="3016091"/>
              <a:ext cx="4565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编码+UT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7162800" y="30289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76200" y="381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8A93A3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286625" y="2876550"/>
              <a:ext cx="93345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516772" y="3016091"/>
              <a:ext cx="4731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测试执行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8277225" y="30289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76200" y="381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8A93A3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8401050" y="2876550"/>
              <a:ext cx="93345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654816" y="3016091"/>
              <a:ext cx="42591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SR 验收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66775" y="3333750"/>
              <a:ext cx="419100" cy="152400"/>
            </a:xfrm>
            <a:prstGeom prst="roundRect">
              <a:avLst>
                <a:gd name="adj" fmla="val 25000"/>
              </a:avLst>
            </a:prstGeom>
            <a:solidFill>
              <a:srgbClr val="EDEFF3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018365" y="3365659"/>
              <a:ext cx="11592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dirty="0">
                  <a:solidFill>
                    <a:srgbClr val="6B7484"/>
                  </a:solidFill>
                  <a:latin typeface="+mn-lt"/>
                  <a:ea typeface="+mn-ea"/>
                  <a:cs typeface="+mn-cs"/>
                </a:rPr>
                <a:t>G0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981200" y="3333750"/>
              <a:ext cx="419100" cy="152400"/>
            </a:xfrm>
            <a:prstGeom prst="roundRect">
              <a:avLst>
                <a:gd name="adj" fmla="val 25000"/>
              </a:avLst>
            </a:prstGeom>
            <a:solidFill>
              <a:srgbClr val="EDEFF3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2132790" y="3365659"/>
              <a:ext cx="11592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dirty="0">
                  <a:solidFill>
                    <a:srgbClr val="6B7484"/>
                  </a:solidFill>
                  <a:latin typeface="+mn-lt"/>
                  <a:ea typeface="+mn-ea"/>
                  <a:cs typeface="+mn-cs"/>
                </a:rPr>
                <a:t>R1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3095625" y="3333750"/>
              <a:ext cx="419100" cy="152400"/>
            </a:xfrm>
            <a:prstGeom prst="roundRect">
              <a:avLst>
                <a:gd name="adj" fmla="val 25000"/>
              </a:avLst>
            </a:prstGeom>
            <a:solidFill>
              <a:srgbClr val="EDEFF3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3247215" y="3365659"/>
              <a:ext cx="11592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dirty="0">
                  <a:solidFill>
                    <a:srgbClr val="6B7484"/>
                  </a:solidFill>
                  <a:latin typeface="+mn-lt"/>
                  <a:ea typeface="+mn-ea"/>
                  <a:cs typeface="+mn-cs"/>
                </a:rPr>
                <a:t>R2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4210050" y="3333750"/>
              <a:ext cx="419100" cy="152400"/>
            </a:xfrm>
            <a:prstGeom prst="roundRect">
              <a:avLst>
                <a:gd name="adj" fmla="val 25000"/>
              </a:avLst>
            </a:prstGeom>
            <a:solidFill>
              <a:srgbClr val="EDEFF3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361640" y="3365659"/>
              <a:ext cx="11592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dirty="0">
                  <a:solidFill>
                    <a:srgbClr val="6B7484"/>
                  </a:solidFill>
                  <a:latin typeface="+mn-lt"/>
                  <a:ea typeface="+mn-ea"/>
                  <a:cs typeface="+mn-cs"/>
                </a:rPr>
                <a:t>S1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314950" y="3333750"/>
              <a:ext cx="419100" cy="152400"/>
            </a:xfrm>
            <a:prstGeom prst="roundRect">
              <a:avLst>
                <a:gd name="adj" fmla="val 25000"/>
              </a:avLst>
            </a:prstGeom>
            <a:solidFill>
              <a:srgbClr val="EDEFF3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466540" y="3365659"/>
              <a:ext cx="11592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dirty="0">
                  <a:solidFill>
                    <a:srgbClr val="6B7484"/>
                  </a:solidFill>
                  <a:latin typeface="+mn-lt"/>
                  <a:ea typeface="+mn-ea"/>
                  <a:cs typeface="+mn-cs"/>
                </a:rPr>
                <a:t>R3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429375" y="3333750"/>
              <a:ext cx="419100" cy="152400"/>
            </a:xfrm>
            <a:prstGeom prst="roundRect">
              <a:avLst>
                <a:gd name="adj" fmla="val 25000"/>
              </a:avLst>
            </a:prstGeom>
            <a:solidFill>
              <a:srgbClr val="EDEFF3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580965" y="3365659"/>
              <a:ext cx="11592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dirty="0">
                  <a:solidFill>
                    <a:srgbClr val="6B7484"/>
                  </a:solidFill>
                  <a:latin typeface="+mn-lt"/>
                  <a:ea typeface="+mn-ea"/>
                  <a:cs typeface="+mn-cs"/>
                </a:rPr>
                <a:t>R4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543800" y="3333750"/>
              <a:ext cx="419100" cy="152400"/>
            </a:xfrm>
            <a:prstGeom prst="roundRect">
              <a:avLst>
                <a:gd name="adj" fmla="val 25000"/>
              </a:avLst>
            </a:prstGeom>
            <a:solidFill>
              <a:srgbClr val="EDEFF3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615593" y="3365659"/>
              <a:ext cx="27551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dirty="0">
                  <a:solidFill>
                    <a:srgbClr val="6B7484"/>
                  </a:solidFill>
                  <a:latin typeface="+mn-lt"/>
                  <a:ea typeface="+mn-ea"/>
                  <a:cs typeface="+mn-cs"/>
                </a:rPr>
                <a:t>T1·T2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8658225" y="3333750"/>
              <a:ext cx="419100" cy="152400"/>
            </a:xfrm>
            <a:prstGeom prst="roundRect">
              <a:avLst>
                <a:gd name="adj" fmla="val 25000"/>
              </a:avLst>
            </a:prstGeom>
            <a:solidFill>
              <a:srgbClr val="EDEFF3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809815" y="3365659"/>
              <a:ext cx="11592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dirty="0">
                  <a:solidFill>
                    <a:srgbClr val="6B7484"/>
                  </a:solidFill>
                  <a:latin typeface="+mn-lt"/>
                  <a:ea typeface="+mn-ea"/>
                  <a:cs typeface="+mn-cs"/>
                </a:rPr>
                <a:t>G7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285875" y="3562350"/>
            <a:ext cx="7905750" cy="304800"/>
            <a:chOff x="1285875" y="3562350"/>
            <a:chExt cx="7905750" cy="304800"/>
          </a:xfrm>
        </p:grpSpPr>
        <p:sp>
          <p:nvSpPr>
            <p:cNvPr id="67" name="Line 67"/>
            <p:cNvSpPr/>
            <p:nvPr/>
          </p:nvSpPr>
          <p:spPr>
            <a:xfrm>
              <a:off x="1333500" y="35814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1285875" y="3790950"/>
              <a:ext cx="95250" cy="76200"/>
            </a:xfrm>
            <a:custGeom>
              <a:avLst/>
              <a:gdLst/>
              <a:ahLst/>
              <a:cxnLst/>
              <a:rect l="l" t="t" r="r" b="b"/>
              <a:pathLst>
                <a:path w="95250" h="76200">
                  <a:moveTo>
                    <a:pt x="0" y="0"/>
                  </a:moveTo>
                  <a:lnTo>
                    <a:pt x="95250" y="0"/>
                  </a:lnTo>
                  <a:lnTo>
                    <a:pt x="47625" y="762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69" name="Line 69"/>
            <p:cNvSpPr/>
            <p:nvPr/>
          </p:nvSpPr>
          <p:spPr>
            <a:xfrm>
              <a:off x="2190750" y="35814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2143125" y="3790950"/>
              <a:ext cx="95250" cy="76200"/>
            </a:xfrm>
            <a:custGeom>
              <a:avLst/>
              <a:gdLst/>
              <a:ahLst/>
              <a:cxnLst/>
              <a:rect l="l" t="t" r="r" b="b"/>
              <a:pathLst>
                <a:path w="95250" h="76200">
                  <a:moveTo>
                    <a:pt x="0" y="0"/>
                  </a:moveTo>
                  <a:lnTo>
                    <a:pt x="95250" y="0"/>
                  </a:lnTo>
                  <a:lnTo>
                    <a:pt x="47625" y="762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2452688" y="3682841"/>
              <a:ext cx="237984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经验回流：评审意见 · 根因 · 问答 · 上抛决策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091238" y="3682841"/>
              <a:ext cx="208536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上下文供给（RAG）· 告诉 AI 知道什么</a:t>
              </a:r>
            </a:p>
          </p:txBody>
        </p:sp>
        <p:sp>
          <p:nvSpPr>
            <p:cNvPr id="73" name="Line 73"/>
            <p:cNvSpPr/>
            <p:nvPr/>
          </p:nvSpPr>
          <p:spPr>
            <a:xfrm>
              <a:off x="8477250" y="363855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2095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74" name="Freeform 74"/>
            <p:cNvSpPr/>
            <p:nvPr/>
          </p:nvSpPr>
          <p:spPr>
            <a:xfrm>
              <a:off x="8429625" y="3562350"/>
              <a:ext cx="95250" cy="76200"/>
            </a:xfrm>
            <a:custGeom>
              <a:avLst/>
              <a:gdLst/>
              <a:ahLst/>
              <a:cxnLst/>
              <a:rect l="l" t="t" r="r" b="b"/>
              <a:pathLst>
                <a:path w="95250" h="76200">
                  <a:moveTo>
                    <a:pt x="0" y="76200"/>
                  </a:moveTo>
                  <a:lnTo>
                    <a:pt x="95250" y="76200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75" name="Line 75"/>
            <p:cNvSpPr/>
            <p:nvPr/>
          </p:nvSpPr>
          <p:spPr>
            <a:xfrm>
              <a:off x="9144000" y="363855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2095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76" name="Freeform 76"/>
            <p:cNvSpPr/>
            <p:nvPr/>
          </p:nvSpPr>
          <p:spPr>
            <a:xfrm>
              <a:off x="9096375" y="3562350"/>
              <a:ext cx="95250" cy="76200"/>
            </a:xfrm>
            <a:custGeom>
              <a:avLst/>
              <a:gdLst/>
              <a:ahLst/>
              <a:cxnLst/>
              <a:rect l="l" t="t" r="r" b="b"/>
              <a:pathLst>
                <a:path w="95250" h="76200">
                  <a:moveTo>
                    <a:pt x="0" y="76200"/>
                  </a:moveTo>
                  <a:lnTo>
                    <a:pt x="95250" y="76200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93" name="Group 93"/>
          <p:cNvGrpSpPr/>
          <p:nvPr/>
        </p:nvGrpSpPr>
        <p:grpSpPr>
          <a:xfrm>
            <a:off x="609600" y="3924300"/>
            <a:ext cx="8724900" cy="1028700"/>
            <a:chOff x="609600" y="3924300"/>
            <a:chExt cx="8724900" cy="1028700"/>
          </a:xfrm>
        </p:grpSpPr>
        <p:sp>
          <p:nvSpPr>
            <p:cNvPr id="78" name="Rectangle 78"/>
            <p:cNvSpPr/>
            <p:nvPr/>
          </p:nvSpPr>
          <p:spPr>
            <a:xfrm>
              <a:off x="609600" y="3924300"/>
              <a:ext cx="8724900" cy="1028700"/>
            </a:xfrm>
            <a:prstGeom prst="roundRect">
              <a:avLst>
                <a:gd name="adj" fmla="val 9259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832485" y="4050506"/>
              <a:ext cx="1301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知识工程 · 知识库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113606" y="4082891"/>
              <a:ext cx="118755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8A93A3"/>
                  </a:solidFill>
                  <a:latin typeface="+mn-lt"/>
                  <a:ea typeface="+mn-ea"/>
                  <a:cs typeface="+mn-cs"/>
                </a:rPr>
                <a:t>RAG 检索 · 模式卡形态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800100" y="4286250"/>
              <a:ext cx="2000250" cy="533400"/>
            </a:xfrm>
            <a:prstGeom prst="roundRect">
              <a:avLst>
                <a:gd name="adj" fmla="val 14286"/>
              </a:avLst>
            </a:prstGeom>
            <a:solidFill>
              <a:schemeClr val="lt1"/>
            </a:solidFill>
            <a:ln w="9525">
              <a:solidFill>
                <a:srgbClr val="D9DEE6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928688" y="4398645"/>
              <a:ext cx="6456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需求模式库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28688" y="4595812"/>
              <a:ext cx="79895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B7484"/>
                  </a:solidFill>
                  <a:latin typeface="+mn-lt"/>
                  <a:ea typeface="+mn-ea"/>
                  <a:cs typeface="+mn-cs"/>
                </a:rPr>
                <a:t>IR · SR 写法范式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2933700" y="4286250"/>
              <a:ext cx="2000250" cy="533400"/>
            </a:xfrm>
            <a:prstGeom prst="roundRect">
              <a:avLst>
                <a:gd name="adj" fmla="val 14286"/>
              </a:avLst>
            </a:prstGeom>
            <a:solidFill>
              <a:schemeClr val="lt1"/>
            </a:solidFill>
            <a:ln w="9525">
              <a:solidFill>
                <a:srgbClr val="D9DEE6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3062288" y="4398645"/>
              <a:ext cx="6456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分解范例库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3062288" y="4595812"/>
              <a:ext cx="81724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B7484"/>
                  </a:solidFill>
                  <a:latin typeface="+mn-lt"/>
                  <a:ea typeface="+mn-ea"/>
                  <a:cs typeface="+mn-cs"/>
                </a:rPr>
                <a:t>历史分解方案参照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5067300" y="4286250"/>
              <a:ext cx="2000250" cy="533400"/>
            </a:xfrm>
            <a:prstGeom prst="roundRect">
              <a:avLst>
                <a:gd name="adj" fmla="val 14286"/>
              </a:avLst>
            </a:prstGeom>
            <a:solidFill>
              <a:schemeClr val="lt1"/>
            </a:solidFill>
            <a:ln w="9525">
              <a:solidFill>
                <a:srgbClr val="D9DEE6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5195888" y="4398645"/>
              <a:ext cx="6456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缺陷模式库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5195888" y="4595812"/>
              <a:ext cx="83239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B7484"/>
                  </a:solidFill>
                  <a:latin typeface="+mn-lt"/>
                  <a:ea typeface="+mn-ea"/>
                  <a:cs typeface="+mn-cs"/>
                </a:rPr>
                <a:t>根因分类 · 反模式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7200900" y="4286250"/>
              <a:ext cx="2000250" cy="533400"/>
            </a:xfrm>
            <a:prstGeom prst="roundRect">
              <a:avLst>
                <a:gd name="adj" fmla="val 14286"/>
              </a:avLst>
            </a:prstGeom>
            <a:solidFill>
              <a:schemeClr val="lt1"/>
            </a:solidFill>
            <a:ln w="9525">
              <a:solidFill>
                <a:srgbClr val="D9DEE6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7329488" y="4398645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风险地图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329488" y="4595812"/>
              <a:ext cx="81724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B7484"/>
                  </a:solidFill>
                  <a:latin typeface="+mn-lt"/>
                  <a:ea typeface="+mn-ea"/>
                  <a:cs typeface="+mn-cs"/>
                </a:rPr>
                <a:t>缺陷高发模块标注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9563100" y="1257300"/>
            <a:ext cx="2019300" cy="1028700"/>
            <a:chOff x="9563100" y="1257300"/>
            <a:chExt cx="2019300" cy="1028700"/>
          </a:xfrm>
        </p:grpSpPr>
        <p:sp>
          <p:nvSpPr>
            <p:cNvPr id="94" name="Rectangle 94"/>
            <p:cNvSpPr/>
            <p:nvPr/>
          </p:nvSpPr>
          <p:spPr>
            <a:xfrm>
              <a:off x="9563100" y="1257300"/>
              <a:ext cx="2019300" cy="1028700"/>
            </a:xfrm>
            <a:prstGeom prst="roundRect">
              <a:avLst>
                <a:gd name="adj" fmla="val 9259"/>
              </a:avLst>
            </a:prstGeom>
            <a:solidFill>
              <a:srgbClr val="FFFFFF"/>
            </a:solidFill>
            <a:ln w="19050">
              <a:solidFill>
                <a:schemeClr val="accent2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9710547" y="1380649"/>
              <a:ext cx="7025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技能自进化</a:t>
              </a:r>
            </a:p>
          </p:txBody>
        </p:sp>
        <p:sp>
          <p:nvSpPr>
            <p:cNvPr id="96" name="Ellipse 96"/>
            <p:cNvSpPr/>
            <p:nvPr/>
          </p:nvSpPr>
          <p:spPr>
            <a:xfrm>
              <a:off x="9925050" y="1676400"/>
              <a:ext cx="381000" cy="381000"/>
            </a:xfrm>
            <a:prstGeom prst="ellipse">
              <a:avLst/>
            </a:prstGeom>
            <a:noFill/>
            <a:ln w="14288">
              <a:solidFill>
                <a:schemeClr val="accent1"/>
              </a:solidFill>
              <a:custDash>
                <a:ds d="266667" sp="200000"/>
              </a:custDash>
            </a:ln>
          </p:spPr>
        </p:sp>
        <p:sp>
          <p:nvSpPr>
            <p:cNvPr id="97" name="Freeform 97"/>
            <p:cNvSpPr/>
            <p:nvPr/>
          </p:nvSpPr>
          <p:spPr>
            <a:xfrm>
              <a:off x="10229850" y="1714500"/>
              <a:ext cx="95250" cy="85725"/>
            </a:xfrm>
            <a:custGeom>
              <a:avLst/>
              <a:gdLst/>
              <a:ahLst/>
              <a:cxnLst/>
              <a:rect l="l" t="t" r="r" b="b"/>
              <a:pathLst>
                <a:path w="95250" h="85725">
                  <a:moveTo>
                    <a:pt x="28575" y="0"/>
                  </a:moveTo>
                  <a:lnTo>
                    <a:pt x="95250" y="7620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10396538" y="1747838"/>
              <a:ext cx="52949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评测 → 改写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0396538" y="1900238"/>
              <a:ext cx="49920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→ 回归合入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9710738" y="2113836"/>
              <a:ext cx="1176956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10" dirty="0">
                  <a:solidFill>
                    <a:srgbClr val="8A93A3"/>
                  </a:solidFill>
                  <a:latin typeface="+mn-lt"/>
                  <a:ea typeface="+mn-ea"/>
                  <a:cs typeface="+mn-cs"/>
                </a:rPr>
                <a:t>机制见「15 · Skills 评测」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9563100" y="2667000"/>
            <a:ext cx="2019300" cy="876300"/>
            <a:chOff x="9563100" y="2667000"/>
            <a:chExt cx="2019300" cy="876300"/>
          </a:xfrm>
        </p:grpSpPr>
        <p:sp>
          <p:nvSpPr>
            <p:cNvPr id="102" name="Rectangle 102"/>
            <p:cNvSpPr/>
            <p:nvPr/>
          </p:nvSpPr>
          <p:spPr>
            <a:xfrm>
              <a:off x="9563100" y="2667000"/>
              <a:ext cx="2019300" cy="87630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9710547" y="2790349"/>
              <a:ext cx="7025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知识双形态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9710738" y="3024188"/>
              <a:ext cx="923925" cy="4714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zh-CN" sz="750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模式卡 → 供人阅读</a:t>
              </a:r>
            </a:p>
            <a:p>
              <a:pPr algn="l">
                <a:lnSpc>
                  <a:spcPts val="1200"/>
                </a:lnSpc>
                <a:spcBef>
                  <a:spcPts val="150"/>
                </a:spcBef>
              </a:pPr>
              <a:r>
                <a:rPr lang="zh-CN" sz="750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技能红线 → 供 AI 强制</a:t>
              </a:r>
              <a:br/>
              <a:r>
                <a:rPr lang="zh-CN" sz="750" dirty="0">
                  <a:solidFill>
                    <a:srgbClr val="6B7484"/>
                  </a:solidFill>
                  <a:latin typeface="+mn-lt"/>
                  <a:ea typeface="+mn-ea"/>
                  <a:cs typeface="+mn-cs"/>
                </a:rPr>
                <a:t>重要知识两种都要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9563100" y="3924300"/>
            <a:ext cx="2019300" cy="1028700"/>
            <a:chOff x="9563100" y="3924300"/>
            <a:chExt cx="2019300" cy="1028700"/>
          </a:xfrm>
        </p:grpSpPr>
        <p:sp>
          <p:nvSpPr>
            <p:cNvPr id="106" name="Rectangle 106"/>
            <p:cNvSpPr/>
            <p:nvPr/>
          </p:nvSpPr>
          <p:spPr>
            <a:xfrm>
              <a:off x="9563100" y="3924300"/>
              <a:ext cx="2019300" cy="1028700"/>
            </a:xfrm>
            <a:prstGeom prst="roundRect">
              <a:avLst>
                <a:gd name="adj" fmla="val 9259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9710547" y="4047649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知识治理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9710738" y="4281488"/>
              <a:ext cx="962025" cy="6048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zh-CN" sz="750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每条知识有 owner 和</a:t>
              </a:r>
              <a:br/>
              <a:r>
                <a:rPr lang="zh-CN" sz="750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适用期；规范改版触发</a:t>
              </a:r>
              <a:br/>
              <a:r>
                <a:rPr lang="zh-CN" sz="750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复审；零命中条目定期</a:t>
              </a:r>
              <a:br/>
              <a:r>
                <a:rPr lang="zh-CN" sz="750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淘汰</a:t>
              </a:r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609600" y="5143500"/>
            <a:ext cx="10972800" cy="838200"/>
            <a:chOff x="609600" y="5143500"/>
            <a:chExt cx="10972800" cy="838200"/>
          </a:xfrm>
        </p:grpSpPr>
        <p:sp>
          <p:nvSpPr>
            <p:cNvPr id="110" name="Rectangle 110"/>
            <p:cNvSpPr/>
            <p:nvPr/>
          </p:nvSpPr>
          <p:spPr>
            <a:xfrm>
              <a:off x="609600" y="5143500"/>
              <a:ext cx="10972800" cy="838200"/>
            </a:xfrm>
            <a:prstGeom prst="roundRect">
              <a:avLst>
                <a:gd name="adj" fmla="val 1136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876300" y="5410200"/>
              <a:ext cx="990600" cy="3048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1158861" y="5504974"/>
              <a:ext cx="4254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2051685" y="5517356"/>
              <a:ext cx="60751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产线每跑一轮，知识和技能就被「用一遍、喂一遍」——经验不流失，AI 越用越聪明</a:t>
              </a: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600075" y="6492716"/>
            <a:ext cx="10991850" cy="161925"/>
            <a:chOff x="600075" y="6492716"/>
            <a:chExt cx="10991850" cy="161925"/>
          </a:xfrm>
        </p:grpSpPr>
        <p:sp>
          <p:nvSpPr>
            <p:cNvPr id="115" name="TextBox 115"/>
            <p:cNvSpPr txBox="1"/>
            <p:nvPr/>
          </p:nvSpPr>
          <p:spPr>
            <a:xfrm>
              <a:off x="600075" y="6492716"/>
              <a:ext cx="2377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+mn-lt"/>
                  <a:ea typeface="+mn-ea"/>
                  <a:cs typeface="+mn-cs"/>
                </a:rPr>
                <a:t>AI 辅助研发变革方案 · 从三段接力到人机共线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11212599" y="6492716"/>
              <a:ext cx="37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8A93A3"/>
                  </a:solidFill>
                  <a:latin typeface="+mn-lt"/>
                  <a:ea typeface="+mn-ea"/>
                  <a:cs typeface="+mn-cs"/>
                </a:rPr>
                <a:t>13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89026" y="523399"/>
            <a:ext cx="4889629" cy="619696"/>
            <a:chOff x="589026" y="523399"/>
            <a:chExt cx="4889629" cy="619696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23399"/>
              <a:ext cx="135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13 · 知识工程落地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89026" y="717709"/>
              <a:ext cx="4889629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KCS 双循环方法论与三层管理结构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066800"/>
              <a:ext cx="5334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609600" y="1257300"/>
            <a:ext cx="5372100" cy="4076700"/>
            <a:chOff x="609600" y="1257300"/>
            <a:chExt cx="5372100" cy="4076700"/>
          </a:xfrm>
        </p:grpSpPr>
        <p:sp>
          <p:nvSpPr>
            <p:cNvPr id="6" name="Rectangle 6"/>
            <p:cNvSpPr/>
            <p:nvPr/>
          </p:nvSpPr>
          <p:spPr>
            <a:xfrm>
              <a:off x="609600" y="1257300"/>
              <a:ext cx="5372100" cy="4076700"/>
            </a:xfrm>
            <a:prstGeom prst="roundRect">
              <a:avLst>
                <a:gd name="adj" fmla="val 2336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2485" y="1402556"/>
              <a:ext cx="15085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方法论：KCS 双循环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33438" y="1663541"/>
              <a:ext cx="2160016" cy="619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zh-CN" sz="820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KCS（Knowledge-Centered Success）是业界</a:t>
              </a:r>
              <a:br/>
              <a:r>
                <a:rPr lang="zh-CN" sz="820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公认的知识运营方法论，2026 年更名并明确：</a:t>
              </a:r>
              <a:br/>
              <a:r>
                <a:rPr lang="zh-CN" sz="820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结构化、可信的知识是 AI 成功的前提——</a:t>
              </a:r>
              <a:br/>
              <a:r>
                <a:rPr lang="zh-CN" sz="820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agent 的上限，就是它读到的知识的上限。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1524000" y="2590800"/>
              <a:ext cx="1104900" cy="1104900"/>
            </a:xfrm>
            <a:prstGeom prst="ellipse">
              <a:avLst/>
            </a:prstGeom>
            <a:noFill/>
            <a:ln w="19050">
              <a:solidFill>
                <a:schemeClr val="accent1">
                  <a:alpha val="40000"/>
                </a:schemeClr>
              </a:solidFill>
              <a:custDash>
                <a:ds d="300000" sp="200000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2457450" y="26384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28575" y="0"/>
                  </a:moveTo>
                  <a:lnTo>
                    <a:pt x="95250" y="7620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720831" y="2999899"/>
              <a:ext cx="7112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Solve Loop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80527" y="3199686"/>
              <a:ext cx="391846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dirty="0">
                  <a:solidFill>
                    <a:srgbClr val="8A93A3"/>
                  </a:solidFill>
                  <a:latin typeface="+mn-lt"/>
                  <a:ea typeface="+mn-ea"/>
                  <a:cs typeface="+mn-cs"/>
                </a:rPr>
                <a:t>日常工作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70722" y="2395538"/>
              <a:ext cx="21145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复用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700338" y="3100388"/>
              <a:ext cx="21145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改进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70722" y="3748088"/>
              <a:ext cx="21145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捕捉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40142" y="3100388"/>
              <a:ext cx="31242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结构化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3848100" y="2590800"/>
              <a:ext cx="1104900" cy="1104900"/>
            </a:xfrm>
            <a:prstGeom prst="ellipse">
              <a:avLst/>
            </a:prstGeom>
            <a:noFill/>
            <a:ln w="19050">
              <a:solidFill>
                <a:schemeClr val="accent2">
                  <a:alpha val="50000"/>
                </a:schemeClr>
              </a:solidFill>
              <a:custDash>
                <a:ds d="300000" sp="200000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4781550" y="26384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28575" y="0"/>
                  </a:moveTo>
                  <a:lnTo>
                    <a:pt x="95250" y="7620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006841" y="2999899"/>
              <a:ext cx="7874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Evolve Loop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04627" y="3199686"/>
              <a:ext cx="391846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dirty="0">
                  <a:solidFill>
                    <a:srgbClr val="8A93A3"/>
                  </a:solidFill>
                  <a:latin typeface="+mn-lt"/>
                  <a:ea typeface="+mn-ea"/>
                  <a:cs typeface="+mn-cs"/>
                </a:rPr>
                <a:t>迭代运营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193858" y="2395538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内容健康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24438" y="3100388"/>
              <a:ext cx="31242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域分析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193858" y="3748088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萃取优化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363278" y="3100388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度量复盘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2686050" y="3143250"/>
              <a:ext cx="1066800" cy="9525"/>
            </a:xfrm>
            <a:custGeom>
              <a:avLst/>
              <a:gdLst/>
              <a:ahLst/>
              <a:cxnLst/>
              <a:rect l="l" t="t" r="r" b="b"/>
              <a:pathLst>
                <a:path w="1066800" h="9525">
                  <a:moveTo>
                    <a:pt x="0" y="0"/>
                  </a:moveTo>
                  <a:lnTo>
                    <a:pt x="1066800" y="0"/>
                  </a:lnTo>
                </a:path>
              </a:pathLst>
            </a:custGeom>
            <a:noFill/>
            <a:ln w="14288">
              <a:solidFill>
                <a:srgbClr val="8A93A3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3752850" y="31051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76200" y="381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8A93A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443180" y="3995738"/>
              <a:ext cx="1266539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B7484"/>
                  </a:solidFill>
                  <a:latin typeface="+mn-lt"/>
                  <a:ea typeface="+mn-ea"/>
                  <a:cs typeface="+mn-cs"/>
                </a:rPr>
                <a:t>复用 → 改进 → 捕捉 → 结构化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774853" y="3995738"/>
              <a:ext cx="125139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B7484"/>
                  </a:solidFill>
                  <a:latin typeface="+mn-lt"/>
                  <a:ea typeface="+mn-ea"/>
                  <a:cs typeface="+mn-cs"/>
                </a:rPr>
                <a:t>健康度 · 域分析 → 萃取优化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38200" y="4267200"/>
              <a:ext cx="1581150" cy="266700"/>
            </a:xfrm>
            <a:prstGeom prst="roundRect">
              <a:avLst>
                <a:gd name="adj" fmla="val 21429"/>
              </a:avLst>
            </a:prstGeom>
            <a:solidFill>
              <a:schemeClr val="lt1"/>
            </a:solidFill>
            <a:ln w="9525">
              <a:solidFill>
                <a:srgbClr val="D9DEE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344844" y="4353639"/>
              <a:ext cx="567861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b="1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复用即评审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533650" y="4267200"/>
              <a:ext cx="1581150" cy="266700"/>
            </a:xfrm>
            <a:prstGeom prst="roundRect">
              <a:avLst>
                <a:gd name="adj" fmla="val 21429"/>
              </a:avLst>
            </a:prstGeom>
            <a:solidFill>
              <a:schemeClr val="lt1"/>
            </a:solidFill>
            <a:ln w="9525">
              <a:solidFill>
                <a:srgbClr val="D9DEE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040294" y="4353639"/>
              <a:ext cx="567861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b="1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标记或修复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229100" y="4267200"/>
              <a:ext cx="1581150" cy="266700"/>
            </a:xfrm>
            <a:prstGeom prst="roundRect">
              <a:avLst>
                <a:gd name="adj" fmla="val 21429"/>
              </a:avLst>
            </a:prstGeom>
            <a:solidFill>
              <a:schemeClr val="lt1"/>
            </a:solidFill>
            <a:ln w="9525">
              <a:solidFill>
                <a:srgbClr val="D9DEE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735744" y="4353639"/>
              <a:ext cx="567861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b="1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集体所有制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3438" y="4673441"/>
              <a:ext cx="31888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映射本方案飞轮：沉淀 · 消费 = Solve，萃取 · 度量 = Evolve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838200" y="4895850"/>
              <a:ext cx="4914900" cy="9525"/>
            </a:xfrm>
            <a:custGeom>
              <a:avLst/>
              <a:gdLst/>
              <a:ahLst/>
              <a:cxnLst/>
              <a:rect l="l" t="t" r="r" b="b"/>
              <a:pathLst>
                <a:path w="4914900" h="9525">
                  <a:moveTo>
                    <a:pt x="0" y="0"/>
                  </a:moveTo>
                  <a:lnTo>
                    <a:pt x="4914900" y="0"/>
                  </a:lnTo>
                </a:path>
              </a:pathLst>
            </a:custGeom>
            <a:noFill/>
            <a:ln w="9525">
              <a:solidFill>
                <a:srgbClr val="EDEFF3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33438" y="5005388"/>
              <a:ext cx="303390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B7484"/>
                  </a:solidFill>
                  <a:latin typeface="+mn-lt"/>
                  <a:ea typeface="+mn-ea"/>
                  <a:cs typeface="+mn-cs"/>
                </a:rPr>
                <a:t>理论底座 SECI（隐性 → 显性）；治理对标 ISO 30401（可审计）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3438" y="5157788"/>
              <a:ext cx="286683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8A93A3"/>
                  </a:solidFill>
                  <a:latin typeface="+mn-lt"/>
                  <a:ea typeface="+mn-ea"/>
                  <a:cs typeface="+mn-cs"/>
                </a:rPr>
                <a:t>冷启动三来源：存量逆向入库 · 试点边跑边沉淀 · 专家访谈萃取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210300" y="1257300"/>
            <a:ext cx="5372100" cy="1943100"/>
            <a:chOff x="6210300" y="1257300"/>
            <a:chExt cx="5372100" cy="1943100"/>
          </a:xfrm>
        </p:grpSpPr>
        <p:sp>
          <p:nvSpPr>
            <p:cNvPr id="40" name="Rectangle 40"/>
            <p:cNvSpPr/>
            <p:nvPr/>
          </p:nvSpPr>
          <p:spPr>
            <a:xfrm>
              <a:off x="6210300" y="1257300"/>
              <a:ext cx="5372100" cy="1943100"/>
            </a:xfrm>
            <a:prstGeom prst="roundRect">
              <a:avLst>
                <a:gd name="adj" fmla="val 4902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433185" y="1402556"/>
              <a:ext cx="961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三层管理结构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38900" y="1695450"/>
              <a:ext cx="1600200" cy="381000"/>
            </a:xfrm>
            <a:prstGeom prst="roundRect">
              <a:avLst>
                <a:gd name="adj" fmla="val 2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88982" y="1836420"/>
              <a:ext cx="9000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知识治理委员会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24838" y="1768316"/>
              <a:ext cx="189882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失效下架 · 规范改版复审 · 指标复盘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224838" y="1928812"/>
              <a:ext cx="85258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8A93A3"/>
                  </a:solidFill>
                  <a:latin typeface="+mn-lt"/>
                  <a:ea typeface="+mn-ea"/>
                  <a:cs typeface="+mn-cs"/>
                </a:rPr>
                <a:t>跨 squad 集中决策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38900" y="2190750"/>
              <a:ext cx="1600200" cy="381000"/>
            </a:xfrm>
            <a:prstGeom prst="roundRect">
              <a:avLst>
                <a:gd name="adj" fmla="val 2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67139" y="2331720"/>
              <a:ext cx="94372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知识域专家 KDE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24838" y="2263616"/>
              <a:ext cx="118598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萃取裁决 · 模式卡签发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24838" y="2424112"/>
              <a:ext cx="125768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8A93A3"/>
                  </a:solidFill>
                  <a:latin typeface="+mn-lt"/>
                  <a:ea typeface="+mn-ea"/>
                  <a:cs typeface="+mn-cs"/>
                </a:rPr>
                <a:t>资深 SE / 开发 / 测试兼任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438900" y="2686050"/>
              <a:ext cx="1600200" cy="381000"/>
            </a:xfrm>
            <a:prstGeom prst="roundRect">
              <a:avLst>
                <a:gd name="adj" fmla="val 2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916198" y="2827020"/>
              <a:ext cx="6456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知识工程师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24838" y="2758916"/>
              <a:ext cx="156487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库运营 · 技能 PR · 度量面板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224838" y="2919412"/>
              <a:ext cx="1357408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8A93A3"/>
                  </a:solidFill>
                  <a:latin typeface="+mn-lt"/>
                  <a:ea typeface="+mn-ea"/>
                  <a:cs typeface="+mn-cs"/>
                </a:rPr>
                <a:t>0.5–1 人，2–3 个 squad 共享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6210300" y="3352800"/>
            <a:ext cx="5372100" cy="1981200"/>
            <a:chOff x="6210300" y="3352800"/>
            <a:chExt cx="5372100" cy="1981200"/>
          </a:xfrm>
        </p:grpSpPr>
        <p:sp>
          <p:nvSpPr>
            <p:cNvPr id="55" name="Rectangle 55"/>
            <p:cNvSpPr/>
            <p:nvPr/>
          </p:nvSpPr>
          <p:spPr>
            <a:xfrm>
              <a:off x="6210300" y="3352800"/>
              <a:ext cx="5372100" cy="1981200"/>
            </a:xfrm>
            <a:prstGeom prst="roundRect">
              <a:avLst>
                <a:gd name="adj" fmla="val 4808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433185" y="3498056"/>
              <a:ext cx="19349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条目元数据标准 + 双环节奏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438900" y="3790950"/>
              <a:ext cx="933450" cy="266700"/>
            </a:xfrm>
            <a:prstGeom prst="roundRect">
              <a:avLst>
                <a:gd name="adj" fmla="val 21429"/>
              </a:avLst>
            </a:prstGeom>
            <a:solidFill>
              <a:schemeClr val="lt1"/>
            </a:solidFill>
            <a:ln w="9525">
              <a:solidFill>
                <a:srgbClr val="D9DEE6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743997" y="3877389"/>
              <a:ext cx="323257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owner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458075" y="3790950"/>
              <a:ext cx="933450" cy="266700"/>
            </a:xfrm>
            <a:prstGeom prst="roundRect">
              <a:avLst>
                <a:gd name="adj" fmla="val 21429"/>
              </a:avLst>
            </a:prstGeom>
            <a:solidFill>
              <a:schemeClr val="lt1"/>
            </a:solidFill>
            <a:ln w="9525">
              <a:solidFill>
                <a:srgbClr val="D9DEE6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760513" y="3877389"/>
              <a:ext cx="328574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适用期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477250" y="3790950"/>
              <a:ext cx="933450" cy="266700"/>
            </a:xfrm>
            <a:prstGeom prst="roundRect">
              <a:avLst>
                <a:gd name="adj" fmla="val 21429"/>
              </a:avLst>
            </a:prstGeom>
            <a:solidFill>
              <a:schemeClr val="lt1"/>
            </a:solidFill>
            <a:ln w="9525">
              <a:solidFill>
                <a:srgbClr val="D9DEE6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779688" y="3877389"/>
              <a:ext cx="328574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置信度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9496425" y="3790950"/>
              <a:ext cx="933450" cy="266700"/>
            </a:xfrm>
            <a:prstGeom prst="roundRect">
              <a:avLst>
                <a:gd name="adj" fmla="val 21429"/>
              </a:avLst>
            </a:prstGeom>
            <a:solidFill>
              <a:schemeClr val="lt1"/>
            </a:solidFill>
            <a:ln w="9525">
              <a:solidFill>
                <a:srgbClr val="D9DEE6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745688" y="3877389"/>
              <a:ext cx="434924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适用范围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10515600" y="3790950"/>
              <a:ext cx="933450" cy="266700"/>
            </a:xfrm>
            <a:prstGeom prst="roundRect">
              <a:avLst>
                <a:gd name="adj" fmla="val 21429"/>
              </a:avLst>
            </a:prstGeom>
            <a:solidFill>
              <a:schemeClr val="lt1"/>
            </a:solidFill>
            <a:ln w="9525">
              <a:solidFill>
                <a:srgbClr val="D9DEE6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0818038" y="3877389"/>
              <a:ext cx="328574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正反例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434138" y="4167188"/>
              <a:ext cx="276082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B7484"/>
                  </a:solidFill>
                  <a:latin typeface="+mn-lt"/>
                  <a:ea typeface="+mn-ea"/>
                  <a:cs typeface="+mn-cs"/>
                </a:rPr>
                <a:t>五项元数据带齐才敢进库；owner 对这条知识的质量负责到底</a:t>
              </a:r>
            </a:p>
          </p:txBody>
        </p:sp>
        <p:sp>
          <p:nvSpPr>
            <p:cNvPr id="68" name="Line 68"/>
            <p:cNvSpPr/>
            <p:nvPr/>
          </p:nvSpPr>
          <p:spPr>
            <a:xfrm>
              <a:off x="6438900" y="4381500"/>
              <a:ext cx="5010150" cy="9525"/>
            </a:xfrm>
            <a:custGeom>
              <a:avLst/>
              <a:gdLst/>
              <a:ahLst/>
              <a:cxnLst/>
              <a:rect l="l" t="t" r="r" b="b"/>
              <a:pathLst>
                <a:path w="5010150" h="9525">
                  <a:moveTo>
                    <a:pt x="0" y="0"/>
                  </a:moveTo>
                  <a:lnTo>
                    <a:pt x="5010150" y="0"/>
                  </a:lnTo>
                </a:path>
              </a:pathLst>
            </a:custGeom>
            <a:noFill/>
            <a:ln w="9525">
              <a:solidFill>
                <a:srgbClr val="EDEFF3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438900" y="4514850"/>
              <a:ext cx="1123950" cy="323850"/>
            </a:xfrm>
            <a:prstGeom prst="roundRect">
              <a:avLst>
                <a:gd name="adj" fmla="val 17647"/>
              </a:avLst>
            </a:prstGeom>
            <a:solidFill>
              <a:schemeClr val="lt1"/>
            </a:solidFill>
            <a:ln w="9525">
              <a:solidFill>
                <a:srgbClr val="D9DEE6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677081" y="4629864"/>
              <a:ext cx="647588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b="1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日常 · Solve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729538" y="4629864"/>
              <a:ext cx="2242871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生产即沉淀：评审意见、根因、问答按模板落盘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438900" y="4914900"/>
              <a:ext cx="1123950" cy="323850"/>
            </a:xfrm>
            <a:prstGeom prst="roundRect">
              <a:avLst>
                <a:gd name="adj" fmla="val 17647"/>
              </a:avLst>
            </a:prstGeom>
            <a:solidFill>
              <a:schemeClr val="lt1"/>
            </a:solidFill>
            <a:ln w="9525">
              <a:solidFill>
                <a:srgbClr val="D9DEE6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646678" y="5029914"/>
              <a:ext cx="708394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b="1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迭代 · Evolve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729538" y="5029914"/>
              <a:ext cx="2365173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聚类萃取 → 评审入库；失效条目清理；度量定方向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604838" y="5557838"/>
            <a:ext cx="7551029" cy="147638"/>
            <a:chOff x="604838" y="5557838"/>
            <a:chExt cx="7551029" cy="147638"/>
          </a:xfrm>
        </p:grpSpPr>
        <p:sp>
          <p:nvSpPr>
            <p:cNvPr id="76" name="TextBox 76"/>
            <p:cNvSpPr txBox="1"/>
            <p:nvPr/>
          </p:nvSpPr>
          <p:spPr>
            <a:xfrm>
              <a:off x="604838" y="5557838"/>
              <a:ext cx="7551029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8A93A3"/>
                  </a:solidFill>
                  <a:latin typeface="+mn-lt"/>
                  <a:ea typeface="+mn-ea"/>
                  <a:cs typeface="+mn-cs"/>
                </a:rPr>
                <a:t>方法论来源：KCS Practices Guide（Consortium for Service Innovation，2026 更名 Knowledge-Centered Success）· SECI（Nonaka）· ISO 30401 知识管理体系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600075" y="6492716"/>
            <a:ext cx="10991850" cy="161925"/>
            <a:chOff x="600075" y="6492716"/>
            <a:chExt cx="10991850" cy="161925"/>
          </a:xfrm>
        </p:grpSpPr>
        <p:sp>
          <p:nvSpPr>
            <p:cNvPr id="78" name="TextBox 78"/>
            <p:cNvSpPr txBox="1"/>
            <p:nvPr/>
          </p:nvSpPr>
          <p:spPr>
            <a:xfrm>
              <a:off x="600075" y="6492716"/>
              <a:ext cx="2377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+mn-lt"/>
                  <a:ea typeface="+mn-ea"/>
                  <a:cs typeface="+mn-cs"/>
                </a:rPr>
                <a:t>AI 辅助研发变革方案 · 从三段接力到人机共线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212599" y="6492716"/>
              <a:ext cx="37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8A93A3"/>
                  </a:solidFill>
                  <a:latin typeface="+mn-lt"/>
                  <a:ea typeface="+mn-ea"/>
                  <a:cs typeface="+mn-cs"/>
                </a:rPr>
                <a:t>14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89026" y="523399"/>
            <a:ext cx="6185002" cy="619696"/>
            <a:chOff x="589026" y="523399"/>
            <a:chExt cx="6185002" cy="619696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23399"/>
              <a:ext cx="15881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14 · Skills 分层管理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89026" y="717709"/>
              <a:ext cx="6185002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技能资产四层归属：谁建设，谁评审，谁负责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066800"/>
              <a:ext cx="5334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09600" y="1257300"/>
            <a:ext cx="7543800" cy="800100"/>
            <a:chOff x="609600" y="1257300"/>
            <a:chExt cx="7543800" cy="800100"/>
          </a:xfrm>
        </p:grpSpPr>
        <p:sp>
          <p:nvSpPr>
            <p:cNvPr id="6" name="Rectangle 6"/>
            <p:cNvSpPr/>
            <p:nvPr/>
          </p:nvSpPr>
          <p:spPr>
            <a:xfrm>
              <a:off x="609600" y="1257300"/>
              <a:ext cx="7543800" cy="800100"/>
            </a:xfrm>
            <a:prstGeom prst="roundRect">
              <a:avLst>
                <a:gd name="adj" fmla="val 11905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428750"/>
              <a:ext cx="838200" cy="4572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76432" y="159448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47266" y="1448752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平台通用层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47838" y="1705689"/>
              <a:ext cx="3056447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6B7484"/>
                  </a:solidFill>
                  <a:latin typeface="+mn-lt"/>
                  <a:ea typeface="+mn-ea"/>
                  <a:cs typeface="+mn-cs"/>
                </a:rPr>
                <a:t>全流程阶段技能：specify · design · tdd · review · ship · fix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5943600" y="1409700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0"/>
                  </a:moveTo>
                  <a:lnTo>
                    <a:pt x="0" y="495300"/>
                  </a:lnTo>
                </a:path>
              </a:pathLst>
            </a:custGeom>
            <a:noFill/>
            <a:ln w="9525">
              <a:solidFill>
                <a:srgbClr val="EDEFF3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091238" y="1481138"/>
              <a:ext cx="47438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平台组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91238" y="1709738"/>
              <a:ext cx="123625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8A93A3"/>
                  </a:solidFill>
                  <a:latin typeface="+mn-lt"/>
                  <a:ea typeface="+mn-ea"/>
                  <a:cs typeface="+mn-cs"/>
                </a:rPr>
                <a:t>准入：评测门禁 + 架构评审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9600" y="2152650"/>
            <a:ext cx="7543800" cy="800100"/>
            <a:chOff x="609600" y="2152650"/>
            <a:chExt cx="7543800" cy="800100"/>
          </a:xfrm>
        </p:grpSpPr>
        <p:sp>
          <p:nvSpPr>
            <p:cNvPr id="15" name="Rectangle 15"/>
            <p:cNvSpPr/>
            <p:nvPr/>
          </p:nvSpPr>
          <p:spPr>
            <a:xfrm>
              <a:off x="609600" y="2152650"/>
              <a:ext cx="7543800" cy="800100"/>
            </a:xfrm>
            <a:prstGeom prst="roundRect">
              <a:avLst>
                <a:gd name="adj" fmla="val 11905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2000" y="2324100"/>
              <a:ext cx="838200" cy="4572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76432" y="248983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47266" y="2344102"/>
              <a:ext cx="455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领域层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47838" y="2601039"/>
              <a:ext cx="2912875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6B7484"/>
                  </a:solidFill>
                  <a:latin typeface="+mn-lt"/>
                  <a:ea typeface="+mn-ea"/>
                  <a:cs typeface="+mn-cs"/>
                </a:rPr>
                <a:t>领域技能：automotive-development 等，安全红线机器强制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5943600" y="2305050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0"/>
                  </a:moveTo>
                  <a:lnTo>
                    <a:pt x="0" y="495300"/>
                  </a:lnTo>
                </a:path>
              </a:pathLst>
            </a:custGeom>
            <a:noFill/>
            <a:ln w="9525">
              <a:solidFill>
                <a:srgbClr val="EDEFF3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91238" y="2376488"/>
              <a:ext cx="85763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架构与领域委员会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91238" y="2605088"/>
              <a:ext cx="122110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8A93A3"/>
                  </a:solidFill>
                  <a:latin typeface="+mn-lt"/>
                  <a:ea typeface="+mn-ea"/>
                  <a:cs typeface="+mn-cs"/>
                </a:rPr>
                <a:t>准入：功能安全负责人会签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9600" y="3048000"/>
            <a:ext cx="7543800" cy="800100"/>
            <a:chOff x="609600" y="3048000"/>
            <a:chExt cx="7543800" cy="800100"/>
          </a:xfrm>
        </p:grpSpPr>
        <p:sp>
          <p:nvSpPr>
            <p:cNvPr id="24" name="Rectangle 24"/>
            <p:cNvSpPr/>
            <p:nvPr/>
          </p:nvSpPr>
          <p:spPr>
            <a:xfrm>
              <a:off x="609600" y="3048000"/>
              <a:ext cx="7543800" cy="800100"/>
            </a:xfrm>
            <a:prstGeom prst="roundRect">
              <a:avLst>
                <a:gd name="adj" fmla="val 11905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762000" y="3219450"/>
              <a:ext cx="838200" cy="4572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76432" y="338518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7266" y="3239452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语言规范层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747838" y="3496389"/>
              <a:ext cx="2838430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6B7484"/>
                  </a:solidFill>
                  <a:latin typeface="+mn-lt"/>
                  <a:ea typeface="+mn-ea"/>
                  <a:cs typeface="+mn-cs"/>
                </a:rPr>
                <a:t>规范技能：clean-code + java / c / cpp / python 编码规范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5943600" y="3200400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0"/>
                  </a:moveTo>
                  <a:lnTo>
                    <a:pt x="0" y="495300"/>
                  </a:lnTo>
                </a:path>
              </a:pathLst>
            </a:custGeom>
            <a:noFill/>
            <a:ln w="9525">
              <a:solidFill>
                <a:srgbClr val="EDEFF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091238" y="3271838"/>
              <a:ext cx="96364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能力线（原职能线）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91238" y="3500438"/>
              <a:ext cx="69227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8A93A3"/>
                  </a:solidFill>
                  <a:latin typeface="+mn-lt"/>
                  <a:ea typeface="+mn-ea"/>
                  <a:cs typeface="+mn-cs"/>
                </a:rPr>
                <a:t>准入：PR 评审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9600" y="3943350"/>
            <a:ext cx="7543800" cy="800100"/>
            <a:chOff x="609600" y="3943350"/>
            <a:chExt cx="7543800" cy="800100"/>
          </a:xfrm>
        </p:grpSpPr>
        <p:sp>
          <p:nvSpPr>
            <p:cNvPr id="33" name="Rectangle 33"/>
            <p:cNvSpPr/>
            <p:nvPr/>
          </p:nvSpPr>
          <p:spPr>
            <a:xfrm>
              <a:off x="609600" y="3943350"/>
              <a:ext cx="7543800" cy="800100"/>
            </a:xfrm>
            <a:prstGeom prst="roundRect">
              <a:avLst>
                <a:gd name="adj" fmla="val 11905"/>
              </a:avLst>
            </a:prstGeom>
            <a:solidFill>
              <a:srgbClr val="FFFFFF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62000" y="4114800"/>
              <a:ext cx="838200" cy="457200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76432" y="428053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747266" y="4134802"/>
              <a:ext cx="9234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团队 / 项目层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747838" y="4391739"/>
              <a:ext cx="2263022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6B7484"/>
                  </a:solidFill>
                  <a:latin typeface="+mn-lt"/>
                  <a:ea typeface="+mn-ea"/>
                  <a:cs typeface="+mn-cs"/>
                </a:rPr>
                <a:t>squad 自有技能 + AGENTS.md 项目级覆盖约束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5943600" y="4095750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0"/>
                  </a:moveTo>
                  <a:lnTo>
                    <a:pt x="0" y="495300"/>
                  </a:lnTo>
                </a:path>
              </a:pathLst>
            </a:custGeom>
            <a:noFill/>
            <a:ln w="9525">
              <a:solidFill>
                <a:srgbClr val="EDEFF3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091238" y="4167188"/>
              <a:ext cx="53959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交付小分队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091238" y="4395788"/>
              <a:ext cx="91821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8A93A3"/>
                  </a:solidFill>
                  <a:latin typeface="+mn-lt"/>
                  <a:ea typeface="+mn-ea"/>
                  <a:cs typeface="+mn-cs"/>
                </a:rPr>
                <a:t>向上沉淀须升级评审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382000" y="1257300"/>
            <a:ext cx="3200400" cy="1914526"/>
            <a:chOff x="8382000" y="1257300"/>
            <a:chExt cx="3200400" cy="1914526"/>
          </a:xfrm>
        </p:grpSpPr>
        <p:sp>
          <p:nvSpPr>
            <p:cNvPr id="42" name="Rectangle 42"/>
            <p:cNvSpPr/>
            <p:nvPr/>
          </p:nvSpPr>
          <p:spPr>
            <a:xfrm>
              <a:off x="8382000" y="1257300"/>
              <a:ext cx="3200400" cy="1885950"/>
            </a:xfrm>
            <a:prstGeom prst="roundRect">
              <a:avLst>
                <a:gd name="adj" fmla="val 5051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604885" y="1402556"/>
              <a:ext cx="15945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生命周期：升级拿证据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610600" y="1695450"/>
              <a:ext cx="2743200" cy="323850"/>
            </a:xfrm>
            <a:prstGeom prst="roundRect">
              <a:avLst>
                <a:gd name="adj" fmla="val 17647"/>
              </a:avLst>
            </a:prstGeom>
            <a:solidFill>
              <a:schemeClr val="lt1"/>
            </a:solidFill>
            <a:ln w="9525">
              <a:solidFill>
                <a:srgbClr val="D9DEE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319661" y="1815941"/>
              <a:ext cx="1325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① 草稿 · 试点 squad 试用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9982200" y="2019300"/>
              <a:ext cx="9525" cy="95250"/>
            </a:xfrm>
            <a:custGeom>
              <a:avLst/>
              <a:gdLst/>
              <a:ahLst/>
              <a:cxnLst/>
              <a:rect l="l" t="t" r="r" b="b"/>
              <a:pathLst>
                <a:path w="9525" h="95250">
                  <a:moveTo>
                    <a:pt x="0" y="0"/>
                  </a:moveTo>
                  <a:lnTo>
                    <a:pt x="0" y="95250"/>
                  </a:lnTo>
                </a:path>
              </a:pathLst>
            </a:custGeom>
            <a:noFill/>
            <a:ln w="14288">
              <a:solidFill>
                <a:srgbClr val="8A93A3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9944100" y="2114550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76200" h="57150">
                  <a:moveTo>
                    <a:pt x="0" y="0"/>
                  </a:moveTo>
                  <a:lnTo>
                    <a:pt x="76200" y="0"/>
                  </a:lnTo>
                  <a:lnTo>
                    <a:pt x="38100" y="57150"/>
                  </a:lnTo>
                  <a:close/>
                </a:path>
              </a:pathLst>
            </a:custGeom>
            <a:solidFill>
              <a:srgbClr val="8A93A3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8610600" y="2171700"/>
              <a:ext cx="2743200" cy="323850"/>
            </a:xfrm>
            <a:prstGeom prst="roundRect">
              <a:avLst>
                <a:gd name="adj" fmla="val 17647"/>
              </a:avLst>
            </a:prstGeom>
            <a:solidFill>
              <a:schemeClr val="lt1"/>
            </a:solidFill>
            <a:ln w="9525">
              <a:solidFill>
                <a:srgbClr val="D9DEE6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339944" y="2292191"/>
              <a:ext cx="128451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② 评审入库 · 团队级可用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9982200" y="2495550"/>
              <a:ext cx="9525" cy="95250"/>
            </a:xfrm>
            <a:custGeom>
              <a:avLst/>
              <a:gdLst/>
              <a:ahLst/>
              <a:cxnLst/>
              <a:rect l="l" t="t" r="r" b="b"/>
              <a:pathLst>
                <a:path w="9525" h="95250">
                  <a:moveTo>
                    <a:pt x="0" y="0"/>
                  </a:moveTo>
                  <a:lnTo>
                    <a:pt x="0" y="95250"/>
                  </a:lnTo>
                </a:path>
              </a:pathLst>
            </a:custGeom>
            <a:noFill/>
            <a:ln w="14288">
              <a:solidFill>
                <a:srgbClr val="8A93A3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9944100" y="2590800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76200" h="57150">
                  <a:moveTo>
                    <a:pt x="0" y="0"/>
                  </a:moveTo>
                  <a:lnTo>
                    <a:pt x="76200" y="0"/>
                  </a:lnTo>
                  <a:lnTo>
                    <a:pt x="38100" y="57150"/>
                  </a:lnTo>
                  <a:close/>
                </a:path>
              </a:pathLst>
            </a:custGeom>
            <a:solidFill>
              <a:srgbClr val="8A93A3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610600" y="2647950"/>
              <a:ext cx="2743200" cy="323850"/>
            </a:xfrm>
            <a:prstGeom prst="roundRect">
              <a:avLst>
                <a:gd name="adj" fmla="val 1764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281991" y="2768441"/>
              <a:ext cx="140041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③ 生产 · 组织级挂评测门禁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05838" y="3024188"/>
              <a:ext cx="142303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8A93A3"/>
                  </a:solidFill>
                  <a:latin typeface="+mn-lt"/>
                  <a:ea typeface="+mn-ea"/>
                  <a:cs typeface="+mn-cs"/>
                </a:rPr>
                <a:t>每次晋升须附该技能的评测报告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8382000" y="3295650"/>
            <a:ext cx="3200400" cy="1752600"/>
            <a:chOff x="8382000" y="3295650"/>
            <a:chExt cx="3200400" cy="1752600"/>
          </a:xfrm>
        </p:grpSpPr>
        <p:sp>
          <p:nvSpPr>
            <p:cNvPr id="56" name="Rectangle 56"/>
            <p:cNvSpPr/>
            <p:nvPr/>
          </p:nvSpPr>
          <p:spPr>
            <a:xfrm>
              <a:off x="8382000" y="3295650"/>
              <a:ext cx="3200400" cy="1752600"/>
            </a:xfrm>
            <a:prstGeom prst="roundRect">
              <a:avLst>
                <a:gd name="adj" fmla="val 5435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604885" y="344090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治理纪律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605838" y="3724989"/>
              <a:ext cx="1488189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5280" indent="-85280">
                <a:buClr>
                  <a:srgbClr val="3D4759"/>
                </a:buClr>
                <a:buSzTx/>
                <a:buFontTx/>
                <a:buChar char="•"/>
              </a:pPr>
              <a:r>
                <a:rPr lang="zh-CN" sz="790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变更一律走 PR，当成代码管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605838" y="3972639"/>
              <a:ext cx="1812355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5280" indent="-85280">
                <a:buClr>
                  <a:srgbClr val="3D4759"/>
                </a:buClr>
                <a:buSzTx/>
                <a:buFontTx/>
                <a:buChar char="•"/>
              </a:pPr>
              <a:r>
                <a:rPr lang="zh-CN" sz="790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按命名约定与 description 发现触发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605838" y="4220289"/>
              <a:ext cx="1812355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5280" indent="-85280">
                <a:buClr>
                  <a:srgbClr val="3D4759"/>
                </a:buClr>
                <a:buSzTx/>
                <a:buFontTx/>
                <a:buChar char="•"/>
              </a:pPr>
              <a:r>
                <a:rPr lang="zh-CN" sz="790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重要知识双形态：模式卡 + 技能红线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605838" y="4467939"/>
              <a:ext cx="2019737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5280" indent="-85280">
                <a:buClr>
                  <a:srgbClr val="3D4759"/>
                </a:buClr>
                <a:buSzTx/>
                <a:buFontTx/>
                <a:buChar char="•"/>
              </a:pPr>
              <a:r>
                <a:rPr lang="zh-CN" sz="790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启用数量有上限，按 skill pack 分组启用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605838" y="4715589"/>
              <a:ext cx="1477353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5280" indent="-85280">
                <a:buClr>
                  <a:srgbClr val="3D4759"/>
                </a:buClr>
                <a:buSzTx/>
                <a:buFontTx/>
                <a:buChar char="•"/>
              </a:pPr>
              <a:r>
                <a:rPr lang="zh-CN" sz="790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失效技能下架，不留僵尸资产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04838" y="5557838"/>
            <a:ext cx="6210837" cy="147638"/>
            <a:chOff x="604838" y="5557838"/>
            <a:chExt cx="6210837" cy="147638"/>
          </a:xfrm>
        </p:grpSpPr>
        <p:sp>
          <p:nvSpPr>
            <p:cNvPr id="64" name="TextBox 64"/>
            <p:cNvSpPr txBox="1"/>
            <p:nvPr/>
          </p:nvSpPr>
          <p:spPr>
            <a:xfrm>
              <a:off x="604838" y="5557838"/>
              <a:ext cx="621083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8A93A3"/>
                  </a:solidFill>
                  <a:latin typeface="+mn-lt"/>
                  <a:ea typeface="+mn-ea"/>
                  <a:cs typeface="+mn-cs"/>
                </a:rPr>
                <a:t>参照：Anthropic Agent Skills 工程实践（progressive disclosure · skill packs · 选择性启用）；四层映射本仓库 DevFlow skills/ 现状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00075" y="6492716"/>
            <a:ext cx="10991850" cy="161925"/>
            <a:chOff x="600075" y="6492716"/>
            <a:chExt cx="10991850" cy="161925"/>
          </a:xfrm>
        </p:grpSpPr>
        <p:sp>
          <p:nvSpPr>
            <p:cNvPr id="66" name="TextBox 66"/>
            <p:cNvSpPr txBox="1"/>
            <p:nvPr/>
          </p:nvSpPr>
          <p:spPr>
            <a:xfrm>
              <a:off x="600075" y="6492716"/>
              <a:ext cx="2377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+mn-lt"/>
                  <a:ea typeface="+mn-ea"/>
                  <a:cs typeface="+mn-cs"/>
                </a:rPr>
                <a:t>AI 辅助研发变革方案 · 从三段接力到人机共线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212599" y="6492716"/>
              <a:ext cx="37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8A93A3"/>
                  </a:solidFill>
                  <a:latin typeface="+mn-lt"/>
                  <a:ea typeface="+mn-ea"/>
                  <a:cs typeface="+mn-cs"/>
                </a:rPr>
                <a:t>15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89026" y="523399"/>
            <a:ext cx="5260566" cy="619696"/>
            <a:chOff x="589026" y="523399"/>
            <a:chExt cx="5260566" cy="619696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23399"/>
              <a:ext cx="12676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15 · Skills 评测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89026" y="717709"/>
              <a:ext cx="5260566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评测驱动开发：让技能用数据证明自己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066800"/>
              <a:ext cx="5334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609600" y="1257300"/>
            <a:ext cx="10744200" cy="1114426"/>
            <a:chOff x="609600" y="1257300"/>
            <a:chExt cx="10744200" cy="1114426"/>
          </a:xfrm>
        </p:grpSpPr>
        <p:sp>
          <p:nvSpPr>
            <p:cNvPr id="6" name="Rectangle 6"/>
            <p:cNvSpPr/>
            <p:nvPr/>
          </p:nvSpPr>
          <p:spPr>
            <a:xfrm>
              <a:off x="609600" y="1257300"/>
              <a:ext cx="1695450" cy="914400"/>
            </a:xfrm>
            <a:prstGeom prst="roundRect">
              <a:avLst>
                <a:gd name="adj" fmla="val 10417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04850" y="135255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3463" y="1396841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66788" y="1398270"/>
              <a:ext cx="3911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评测集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8188" y="1656636"/>
              <a:ext cx="821055" cy="2928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zh-CN" sz="710" dirty="0">
                  <a:solidFill>
                    <a:srgbClr val="6B7484"/>
                  </a:solidFill>
                  <a:latin typeface="+mn-lt"/>
                  <a:ea typeface="+mn-ea"/>
                  <a:cs typeface="+mn-cs"/>
                </a:rPr>
                <a:t>evals.json：任务</a:t>
              </a:r>
              <a:br/>
              <a:r>
                <a:rPr lang="zh-CN" sz="710" dirty="0">
                  <a:solidFill>
                    <a:srgbClr val="6B7484"/>
                  </a:solidFill>
                  <a:latin typeface="+mn-lt"/>
                  <a:ea typeface="+mn-ea"/>
                  <a:cs typeface="+mn-cs"/>
                </a:rPr>
                <a:t>+ 期望 + 可验证断言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2333625" y="1638300"/>
              <a:ext cx="57150" cy="152400"/>
            </a:xfrm>
            <a:custGeom>
              <a:avLst/>
              <a:gdLst/>
              <a:ahLst/>
              <a:cxnLst/>
              <a:rect l="l" t="t" r="r" b="b"/>
              <a:pathLst>
                <a:path w="57150" h="152400">
                  <a:moveTo>
                    <a:pt x="0" y="0"/>
                  </a:moveTo>
                  <a:lnTo>
                    <a:pt x="57150" y="76200"/>
                  </a:lnTo>
                  <a:lnTo>
                    <a:pt x="0" y="152400"/>
                  </a:lnTo>
                </a:path>
              </a:pathLst>
            </a:custGeom>
            <a:noFill/>
            <a:ln w="14288">
              <a:solidFill>
                <a:srgbClr val="8A93A3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419350" y="1257300"/>
              <a:ext cx="1695450" cy="914400"/>
            </a:xfrm>
            <a:prstGeom prst="roundRect">
              <a:avLst>
                <a:gd name="adj" fmla="val 10417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2514600" y="135255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573213" y="1396841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776538" y="139827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双跑对比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547938" y="1656636"/>
              <a:ext cx="834580" cy="2928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zh-CN" sz="710" dirty="0">
                  <a:solidFill>
                    <a:srgbClr val="6B7484"/>
                  </a:solidFill>
                  <a:latin typeface="+mn-lt"/>
                  <a:ea typeface="+mn-ea"/>
                  <a:cs typeface="+mn-cs"/>
                </a:rPr>
                <a:t>带技能 vs 基线</a:t>
              </a:r>
              <a:br/>
              <a:r>
                <a:rPr lang="zh-CN" sz="710" dirty="0">
                  <a:solidFill>
                    <a:srgbClr val="6B7484"/>
                  </a:solidFill>
                  <a:latin typeface="+mn-lt"/>
                  <a:ea typeface="+mn-ea"/>
                  <a:cs typeface="+mn-cs"/>
                </a:rPr>
                <a:t>（无技能 / 旧版本）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4143375" y="1638300"/>
              <a:ext cx="57150" cy="152400"/>
            </a:xfrm>
            <a:custGeom>
              <a:avLst/>
              <a:gdLst/>
              <a:ahLst/>
              <a:cxnLst/>
              <a:rect l="l" t="t" r="r" b="b"/>
              <a:pathLst>
                <a:path w="57150" h="152400">
                  <a:moveTo>
                    <a:pt x="0" y="0"/>
                  </a:moveTo>
                  <a:lnTo>
                    <a:pt x="57150" y="76200"/>
                  </a:lnTo>
                  <a:lnTo>
                    <a:pt x="0" y="152400"/>
                  </a:lnTo>
                </a:path>
              </a:pathLst>
            </a:custGeom>
            <a:noFill/>
            <a:ln w="14288">
              <a:solidFill>
                <a:srgbClr val="8A93A3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229100" y="1257300"/>
              <a:ext cx="1695450" cy="914400"/>
            </a:xfrm>
            <a:prstGeom prst="roundRect">
              <a:avLst>
                <a:gd name="adj" fmla="val 10417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4324350" y="135255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382963" y="1396841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86288" y="139827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盲评打分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57688" y="1656636"/>
              <a:ext cx="1087056" cy="2928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zh-CN" sz="710" dirty="0">
                  <a:solidFill>
                    <a:srgbClr val="6B7484"/>
                  </a:solidFill>
                  <a:latin typeface="+mn-lt"/>
                  <a:ea typeface="+mn-ea"/>
                  <a:cs typeface="+mn-cs"/>
                </a:rPr>
                <a:t>grader 逐条断言附证据</a:t>
              </a:r>
              <a:br/>
              <a:r>
                <a:rPr lang="zh-CN" sz="710" dirty="0">
                  <a:solidFill>
                    <a:srgbClr val="6B7484"/>
                  </a:solidFill>
                  <a:latin typeface="+mn-lt"/>
                  <a:ea typeface="+mn-ea"/>
                  <a:cs typeface="+mn-cs"/>
                </a:rPr>
                <a:t>A/B 对比不知哪边是技能版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5953125" y="1638300"/>
              <a:ext cx="57150" cy="152400"/>
            </a:xfrm>
            <a:custGeom>
              <a:avLst/>
              <a:gdLst/>
              <a:ahLst/>
              <a:cxnLst/>
              <a:rect l="l" t="t" r="r" b="b"/>
              <a:pathLst>
                <a:path w="57150" h="152400">
                  <a:moveTo>
                    <a:pt x="0" y="0"/>
                  </a:moveTo>
                  <a:lnTo>
                    <a:pt x="57150" y="76200"/>
                  </a:lnTo>
                  <a:lnTo>
                    <a:pt x="0" y="152400"/>
                  </a:lnTo>
                </a:path>
              </a:pathLst>
            </a:custGeom>
            <a:noFill/>
            <a:ln w="14288">
              <a:solidFill>
                <a:srgbClr val="8A93A3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038850" y="1257300"/>
              <a:ext cx="1695450" cy="914400"/>
            </a:xfrm>
            <a:prstGeom prst="roundRect">
              <a:avLst>
                <a:gd name="adj" fmla="val 10417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6134100" y="135255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192713" y="1396841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96038" y="1398270"/>
              <a:ext cx="3911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出基准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167438" y="1656636"/>
              <a:ext cx="1028446" cy="2928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zh-CN" sz="710" dirty="0">
                  <a:solidFill>
                    <a:srgbClr val="6B7484"/>
                  </a:solidFill>
                  <a:latin typeface="+mn-lt"/>
                  <a:ea typeface="+mn-ea"/>
                  <a:cs typeface="+mn-cs"/>
                </a:rPr>
                <a:t>通过率 / 耗时 / token</a:t>
              </a:r>
              <a:br/>
              <a:r>
                <a:rPr lang="zh-CN" sz="710" dirty="0">
                  <a:solidFill>
                    <a:srgbClr val="6B7484"/>
                  </a:solidFill>
                  <a:latin typeface="+mn-lt"/>
                  <a:ea typeface="+mn-ea"/>
                  <a:cs typeface="+mn-cs"/>
                </a:rPr>
                <a:t>benchmark：均值 ± 方差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7762875" y="1638300"/>
              <a:ext cx="57150" cy="152400"/>
            </a:xfrm>
            <a:custGeom>
              <a:avLst/>
              <a:gdLst/>
              <a:ahLst/>
              <a:cxnLst/>
              <a:rect l="l" t="t" r="r" b="b"/>
              <a:pathLst>
                <a:path w="57150" h="152400">
                  <a:moveTo>
                    <a:pt x="0" y="0"/>
                  </a:moveTo>
                  <a:lnTo>
                    <a:pt x="57150" y="76200"/>
                  </a:lnTo>
                  <a:lnTo>
                    <a:pt x="0" y="152400"/>
                  </a:lnTo>
                </a:path>
              </a:pathLst>
            </a:custGeom>
            <a:noFill/>
            <a:ln w="14288">
              <a:solidFill>
                <a:srgbClr val="8A93A3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7848600" y="1257300"/>
              <a:ext cx="1695450" cy="914400"/>
            </a:xfrm>
            <a:prstGeom prst="roundRect">
              <a:avLst>
                <a:gd name="adj" fmla="val 10417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7943850" y="135255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02463" y="1396841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05788" y="139827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诊断改写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77188" y="1656636"/>
              <a:ext cx="730885" cy="2928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zh-CN" sz="710" dirty="0">
                  <a:solidFill>
                    <a:srgbClr val="6B7484"/>
                  </a:solidFill>
                  <a:latin typeface="+mn-lt"/>
                  <a:ea typeface="+mn-ea"/>
                  <a:cs typeface="+mn-cs"/>
                </a:rPr>
                <a:t>analyzer 找模式</a:t>
              </a:r>
              <a:br/>
              <a:r>
                <a:rPr lang="zh-CN" sz="710" dirty="0">
                  <a:solidFill>
                    <a:srgbClr val="6B7484"/>
                  </a:solidFill>
                  <a:latin typeface="+mn-lt"/>
                  <a:ea typeface="+mn-ea"/>
                  <a:cs typeface="+mn-cs"/>
                </a:rPr>
                <a:t>改技能，或改断言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9572625" y="1638300"/>
              <a:ext cx="57150" cy="152400"/>
            </a:xfrm>
            <a:custGeom>
              <a:avLst/>
              <a:gdLst/>
              <a:ahLst/>
              <a:cxnLst/>
              <a:rect l="l" t="t" r="r" b="b"/>
              <a:pathLst>
                <a:path w="57150" h="152400">
                  <a:moveTo>
                    <a:pt x="0" y="0"/>
                  </a:moveTo>
                  <a:lnTo>
                    <a:pt x="57150" y="76200"/>
                  </a:lnTo>
                  <a:lnTo>
                    <a:pt x="0" y="152400"/>
                  </a:lnTo>
                </a:path>
              </a:pathLst>
            </a:custGeom>
            <a:noFill/>
            <a:ln w="14288">
              <a:solidFill>
                <a:srgbClr val="8A93A3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9658350" y="1257300"/>
              <a:ext cx="1695450" cy="914400"/>
            </a:xfrm>
            <a:prstGeom prst="roundRect">
              <a:avLst>
                <a:gd name="adj" fmla="val 10417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9753600" y="135255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812213" y="1396841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015538" y="139827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回归放行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786938" y="1656636"/>
              <a:ext cx="640715" cy="2928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zh-CN" sz="710" dirty="0">
                  <a:solidFill>
                    <a:srgbClr val="6B7484"/>
                  </a:solidFill>
                  <a:latin typeface="+mn-lt"/>
                  <a:ea typeface="+mn-ea"/>
                  <a:cs typeface="+mn-cs"/>
                </a:rPr>
                <a:t>达标才允许合入</a:t>
              </a:r>
              <a:br/>
              <a:r>
                <a:rPr lang="zh-CN" sz="710" dirty="0">
                  <a:solidFill>
                    <a:srgbClr val="6B7484"/>
                  </a:solidFill>
                  <a:latin typeface="+mn-lt"/>
                  <a:ea typeface="+mn-ea"/>
                  <a:cs typeface="+mn-cs"/>
                </a:rPr>
                <a:t>版本锚定可追溯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10506075" y="217170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4288">
              <a:solidFill>
                <a:schemeClr val="accent2"/>
              </a:solidFill>
              <a:custDash>
                <a:ds d="333333" sp="200000"/>
              </a:custDash>
            </a:ln>
          </p:spPr>
        </p:sp>
        <p:sp>
          <p:nvSpPr>
            <p:cNvPr id="42" name="Line 42"/>
            <p:cNvSpPr/>
            <p:nvPr/>
          </p:nvSpPr>
          <p:spPr>
            <a:xfrm>
              <a:off x="1457325" y="2343150"/>
              <a:ext cx="9048750" cy="9525"/>
            </a:xfrm>
            <a:custGeom>
              <a:avLst/>
              <a:gdLst/>
              <a:ahLst/>
              <a:cxnLst/>
              <a:rect l="l" t="t" r="r" b="b"/>
              <a:pathLst>
                <a:path w="9048750" h="9525">
                  <a:moveTo>
                    <a:pt x="9048750" y="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  <a:custDash>
                <a:ds d="333333" sp="200000"/>
              </a:custDash>
            </a:ln>
          </p:spPr>
        </p:sp>
        <p:sp>
          <p:nvSpPr>
            <p:cNvPr id="43" name="Line 43"/>
            <p:cNvSpPr/>
            <p:nvPr/>
          </p:nvSpPr>
          <p:spPr>
            <a:xfrm>
              <a:off x="1457325" y="222885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11430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  <a:custDash>
                <a:ds d="333333" sp="200000"/>
              </a:custDash>
            </a:ln>
          </p:spPr>
        </p:sp>
        <p:sp>
          <p:nvSpPr>
            <p:cNvPr id="44" name="Freeform 44"/>
            <p:cNvSpPr/>
            <p:nvPr/>
          </p:nvSpPr>
          <p:spPr>
            <a:xfrm>
              <a:off x="1409700" y="2171700"/>
              <a:ext cx="95250" cy="76200"/>
            </a:xfrm>
            <a:custGeom>
              <a:avLst/>
              <a:gdLst/>
              <a:ahLst/>
              <a:cxnLst/>
              <a:rect l="l" t="t" r="r" b="b"/>
              <a:pathLst>
                <a:path w="95250" h="76200">
                  <a:moveTo>
                    <a:pt x="0" y="76200"/>
                  </a:moveTo>
                  <a:lnTo>
                    <a:pt x="95250" y="76200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393865" y="2224088"/>
              <a:ext cx="117567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迭代，直到没有实质提升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09600" y="2552700"/>
            <a:ext cx="5943600" cy="1816180"/>
            <a:chOff x="609600" y="2552700"/>
            <a:chExt cx="5943600" cy="1816180"/>
          </a:xfrm>
        </p:grpSpPr>
        <p:sp>
          <p:nvSpPr>
            <p:cNvPr id="47" name="Rectangle 47"/>
            <p:cNvSpPr/>
            <p:nvPr/>
          </p:nvSpPr>
          <p:spPr>
            <a:xfrm>
              <a:off x="609600" y="2552700"/>
              <a:ext cx="5943600" cy="1809750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32485" y="269795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三道关卡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38200" y="2990850"/>
              <a:ext cx="838200" cy="304800"/>
            </a:xfrm>
            <a:prstGeom prst="roundRect">
              <a:avLst>
                <a:gd name="adj" fmla="val 1875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78676" y="3101816"/>
              <a:ext cx="35724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入库关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824038" y="3105864"/>
              <a:ext cx="2136521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新技能必带评测集与基线对比，无评测不入库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38200" y="3448050"/>
              <a:ext cx="838200" cy="304800"/>
            </a:xfrm>
            <a:prstGeom prst="roundRect">
              <a:avLst>
                <a:gd name="adj" fmla="val 1875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78676" y="3559016"/>
              <a:ext cx="35724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变更关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824038" y="3563064"/>
              <a:ext cx="2223206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技能 PR 触发回归评测：通过率不降级才合入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38200" y="3905250"/>
              <a:ext cx="838200" cy="304800"/>
            </a:xfrm>
            <a:prstGeom prst="roundRect">
              <a:avLst>
                <a:gd name="adj" fmla="val 1875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078676" y="4016216"/>
              <a:ext cx="35724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生产关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824038" y="4020264"/>
              <a:ext cx="2168426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一次通过率 / 命中率低于基线 → 自动阻断告警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33438" y="4228386"/>
              <a:ext cx="4119834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10" dirty="0">
                  <a:solidFill>
                    <a:srgbClr val="8A93A3"/>
                  </a:solidFill>
                  <a:latin typeface="+mn-lt"/>
                  <a:ea typeface="+mn-ea"/>
                  <a:cs typeface="+mn-cs"/>
                </a:rPr>
                <a:t>生产关接入平台「评估与度量层」（见 09 · 平台支撑）；评测结果随版本锚定，CI 自动执行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781800" y="2552700"/>
            <a:ext cx="4800600" cy="1809750"/>
            <a:chOff x="6781800" y="2552700"/>
            <a:chExt cx="4800600" cy="1809750"/>
          </a:xfrm>
        </p:grpSpPr>
        <p:sp>
          <p:nvSpPr>
            <p:cNvPr id="60" name="Rectangle 60"/>
            <p:cNvSpPr/>
            <p:nvPr/>
          </p:nvSpPr>
          <p:spPr>
            <a:xfrm>
              <a:off x="6781800" y="2552700"/>
              <a:ext cx="4800600" cy="1809750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004685" y="2697956"/>
              <a:ext cx="961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评测设计原则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005638" y="2982039"/>
              <a:ext cx="2540851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5280" indent="-85280">
                <a:buClr>
                  <a:srgbClr val="3D4759"/>
                </a:buClr>
                <a:buSzTx/>
                <a:buFontTx/>
                <a:buChar char="•"/>
              </a:pPr>
              <a:r>
                <a:rPr lang="zh-CN" sz="790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断言从首轮输出反推：先跑，才知道「好」长什么样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005638" y="3229689"/>
              <a:ext cx="1797205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5280" indent="-85280">
                <a:buClr>
                  <a:srgbClr val="3D4759"/>
                </a:buClr>
                <a:buSzTx/>
                <a:buFontTx/>
                <a:buChar char="•"/>
              </a:pPr>
              <a:r>
                <a:rPr lang="zh-CN" sz="790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机械检查用脚本，主观判断用 LLM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005638" y="3477339"/>
              <a:ext cx="1881482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5280" indent="-85280">
                <a:buClr>
                  <a:srgbClr val="3D4759"/>
                </a:buClr>
                <a:buSzTx/>
                <a:buFontTx/>
                <a:buChar char="•"/>
              </a:pPr>
              <a:r>
                <a:rPr lang="zh-CN" sz="790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60 / 40 train / test 划分，防过拟合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005638" y="3724989"/>
              <a:ext cx="1796402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5280" indent="-85280">
                <a:buClr>
                  <a:srgbClr val="3D4759"/>
                </a:buClr>
                <a:buSzTx/>
                <a:buFontTx/>
                <a:buChar char="•"/>
              </a:pPr>
              <a:r>
                <a:rPr lang="zh-CN" sz="790" dirty="0">
                  <a:solidFill>
                    <a:srgbClr val="3D4759"/>
                  </a:solidFill>
                  <a:latin typeface="+mn-lt"/>
                  <a:ea typeface="+mn-ea"/>
                  <a:cs typeface="+mn-cs"/>
                </a:rPr>
                <a:t>高方差用例必须修，否则基准不可信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005638" y="4056936"/>
              <a:ext cx="2112289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10" dirty="0">
                  <a:solidFill>
                    <a:srgbClr val="8A93A3"/>
                  </a:solidFill>
                  <a:latin typeface="+mn-lt"/>
                  <a:ea typeface="+mn-ea"/>
                  <a:cs typeface="+mn-cs"/>
                </a:rPr>
                <a:t>断言要有区分度：基线也能轻松通过的断言要换掉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609600" y="4552950"/>
            <a:ext cx="9658350" cy="533400"/>
            <a:chOff x="609600" y="4552950"/>
            <a:chExt cx="9658350" cy="533400"/>
          </a:xfrm>
        </p:grpSpPr>
        <p:sp>
          <p:nvSpPr>
            <p:cNvPr id="68" name="Rectangle 68"/>
            <p:cNvSpPr/>
            <p:nvPr/>
          </p:nvSpPr>
          <p:spPr>
            <a:xfrm>
              <a:off x="609600" y="4552950"/>
              <a:ext cx="2286000" cy="533400"/>
            </a:xfrm>
            <a:prstGeom prst="roundRect">
              <a:avLst>
                <a:gd name="adj" fmla="val 17857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57238" y="4673441"/>
              <a:ext cx="58906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触发准确率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57238" y="4876086"/>
              <a:ext cx="1046570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10" dirty="0">
                  <a:solidFill>
                    <a:srgbClr val="8A93A3"/>
                  </a:solidFill>
                  <a:latin typeface="+mn-lt"/>
                  <a:ea typeface="+mn-ea"/>
                  <a:cs typeface="+mn-cs"/>
                </a:rPr>
                <a:t>description 匹配准不准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3067050" y="4552950"/>
              <a:ext cx="2286000" cy="533400"/>
            </a:xfrm>
            <a:prstGeom prst="roundRect">
              <a:avLst>
                <a:gd name="adj" fmla="val 17857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3214688" y="4673441"/>
              <a:ext cx="58906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任务通过率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3214688" y="4876086"/>
              <a:ext cx="1332499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10" dirty="0">
                  <a:solidFill>
                    <a:srgbClr val="8A93A3"/>
                  </a:solidFill>
                  <a:latin typeface="+mn-lt"/>
                  <a:ea typeface="+mn-ea"/>
                  <a:cs typeface="+mn-cs"/>
                </a:rPr>
                <a:t>断言 PASS 比例 · 均值 ± 方差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5524500" y="4552950"/>
              <a:ext cx="2286000" cy="533400"/>
            </a:xfrm>
            <a:prstGeom prst="roundRect">
              <a:avLst>
                <a:gd name="adj" fmla="val 17857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5672138" y="4673441"/>
              <a:ext cx="58906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一次通过率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5672138" y="4876086"/>
              <a:ext cx="862894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10" dirty="0">
                  <a:solidFill>
                    <a:srgbClr val="8A93A3"/>
                  </a:solidFill>
                  <a:latin typeface="+mn-lt"/>
                  <a:ea typeface="+mn-ea"/>
                  <a:cs typeface="+mn-cs"/>
                </a:rPr>
                <a:t>生产端 AI 产出质量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7981950" y="4552950"/>
              <a:ext cx="2286000" cy="533400"/>
            </a:xfrm>
            <a:prstGeom prst="roundRect">
              <a:avLst>
                <a:gd name="adj" fmla="val 17857"/>
              </a:avLst>
            </a:prstGeom>
            <a:solidFill>
              <a:srgbClr val="FFFFFF"/>
            </a:solidFill>
            <a:ln w="9525">
              <a:solidFill>
                <a:srgbClr val="D9DEE6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129588" y="4673441"/>
              <a:ext cx="4731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成本守卫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129588" y="4876086"/>
              <a:ext cx="955769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10" dirty="0">
                  <a:solidFill>
                    <a:srgbClr val="8A93A3"/>
                  </a:solidFill>
                  <a:latin typeface="+mn-lt"/>
                  <a:ea typeface="+mn-ea"/>
                  <a:cs typeface="+mn-cs"/>
                </a:rPr>
                <a:t>token · 时延，防膨胀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604838" y="5557838"/>
            <a:ext cx="5503787" cy="147638"/>
            <a:chOff x="604838" y="5557838"/>
            <a:chExt cx="5503787" cy="147638"/>
          </a:xfrm>
        </p:grpSpPr>
        <p:sp>
          <p:nvSpPr>
            <p:cNvPr id="81" name="TextBox 81"/>
            <p:cNvSpPr txBox="1"/>
            <p:nvPr/>
          </p:nvSpPr>
          <p:spPr>
            <a:xfrm>
              <a:off x="604838" y="5557838"/>
              <a:ext cx="550378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8A93A3"/>
                  </a:solidFill>
                  <a:latin typeface="+mn-lt"/>
                  <a:ea typeface="+mn-ea"/>
                  <a:cs typeface="+mn-cs"/>
                </a:rPr>
                <a:t>参照：Anthropic skill-creator 评测框架：executor / grader / comparator / analyzer 四子代理协作，盲测 A/B 对比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600075" y="6492716"/>
            <a:ext cx="10991850" cy="161925"/>
            <a:chOff x="600075" y="6492716"/>
            <a:chExt cx="10991850" cy="161925"/>
          </a:xfrm>
        </p:grpSpPr>
        <p:sp>
          <p:nvSpPr>
            <p:cNvPr id="83" name="TextBox 83"/>
            <p:cNvSpPr txBox="1"/>
            <p:nvPr/>
          </p:nvSpPr>
          <p:spPr>
            <a:xfrm>
              <a:off x="600075" y="6492716"/>
              <a:ext cx="2377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3A3"/>
                  </a:solidFill>
                  <a:latin typeface="+mn-lt"/>
                  <a:ea typeface="+mn-ea"/>
                  <a:cs typeface="+mn-cs"/>
                </a:rPr>
                <a:t>AI 辅助研发变革方案 · 从三段接力到人机共线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212599" y="6492716"/>
              <a:ext cx="37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8A93A3"/>
                  </a:solidFill>
                  <a:latin typeface="+mn-lt"/>
                  <a:ea typeface="+mn-ea"/>
                  <a:cs typeface="+mn-cs"/>
                </a:rPr>
                <a:t>16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i-rd-plan">
  <a:themeElements>
    <a:clrScheme name="ai-rd-pla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i-rd-plan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-rd-pla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2026-08-04T10:47:48Z</dcterms:created>
  <dcterms:modified xsi:type="dcterms:W3CDTF">2026-08-04T10:47:48Z</dcterms:modified>
  <cp:category/>
  <cp:contentStatus/>
</cp:coreProperties>
</file>